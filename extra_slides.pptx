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D4AF37"/>
                </a:solidFill>
              </a:defRPr>
            </a:pPr>
            <a:r>
              <a:t>E N G I N E E R I N G   D E P T H   ·   P I L L A R  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000">
                <a:solidFill>
                  <a:srgbClr val="102A43"/>
                </a:solidFill>
                <a:latin typeface="Georgia"/>
              </a:defRPr>
            </a:pPr>
            <a:r>
              <a:t>Sub-second velocity over 100k events.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486581"/>
                </a:solidFill>
              </a:defRPr>
            </a:pPr>
            <a:r>
              <a:t>Why we offloaded incremental stream processing to Rust.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5120640" cy="3840480"/>
          </a:xfrm>
          <a:prstGeom prst="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102A43"/>
                </a:solidFill>
                <a:latin typeface="Georgia"/>
              </a:defRPr>
            </a:pPr>
            <a:r>
              <a:t>The Python Bottleneck</a:t>
            </a:r>
          </a:p>
          <a:p>
            <a:br/>
            <a:pPr>
              <a:defRPr sz="1800">
                <a:solidFill>
                  <a:srgbClr val="334E68"/>
                </a:solidFill>
              </a:defRPr>
            </a:pPr>
            <a:r>
              <a:t>Catching "velocity bursts" (e.g., 50 micro-deposits in 5 minutes) requires sliding-window analytics over live streams.</a:t>
            </a:r>
          </a:p>
          <a:p>
            <a:br/>
            <a:pPr>
              <a:defRPr sz="1800">
                <a:solidFill>
                  <a:srgbClr val="334E68"/>
                </a:solidFill>
              </a:defRPr>
            </a:pPr>
            <a:r>
              <a:t>Doing this in pure Python over a live Kafka feed is CPU-heavy and creates a massive bottleneck under true PSB transaction loads.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560320"/>
            <a:ext cx="5120640" cy="3840480"/>
          </a:xfrm>
          <a:prstGeom prst="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7432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102A43"/>
                </a:solidFill>
                <a:latin typeface="Georgia"/>
              </a:defRPr>
            </a:pPr>
            <a:r>
              <a:t>The Pathway (Rust) Engine</a:t>
            </a:r>
          </a:p>
          <a:p>
            <a:br/>
            <a:pPr>
              <a:defRPr sz="1800">
                <a:solidFill>
                  <a:srgbClr val="334E68"/>
                </a:solidFill>
              </a:defRPr>
            </a:pPr>
            <a:r>
              <a:t>We offloaded this specific computation to Pathway, a Rust-backed incremental streaming engine.</a:t>
            </a:r>
          </a:p>
          <a:p>
            <a:br/>
            <a:pPr>
              <a:defRPr sz="1800">
                <a:solidFill>
                  <a:srgbClr val="334E68"/>
                </a:solidFill>
              </a:defRPr>
            </a:pPr>
            <a:r>
              <a:t>This allows us to keep our core logic in Python while leveraging Rust's bare-metal speed for the heavy incremental math.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5303520"/>
            <a:ext cx="4754880" cy="914400"/>
          </a:xfrm>
          <a:prstGeom prst="rect">
            <a:avLst/>
          </a:prstGeom>
          <a:solidFill>
            <a:srgbClr val="102A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54864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i="1" sz="1600">
                <a:solidFill>
                  <a:srgbClr val="FFFFFF"/>
                </a:solidFill>
              </a:defRPr>
            </a:pPr>
            <a:r>
              <a:t>Result: End-to-end detection latency held under 0.80 ms at scale.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D4AF37"/>
                </a:solidFill>
              </a:defRPr>
            </a:pPr>
            <a:r>
              <a:t>C O M P L I A N C E   &amp;   I N N O V A T I O N   ·   P I L L A R   2   &amp;  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000">
                <a:solidFill>
                  <a:srgbClr val="102A43"/>
                </a:solidFill>
                <a:latin typeface="Georgia"/>
              </a:defRPr>
            </a:pPr>
            <a:r>
              <a:t>Zero LLM hallucinations in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486581"/>
                </a:solidFill>
              </a:defRPr>
            </a:pPr>
            <a:r>
              <a:t>Graceful degradation and deterministic NLG templates.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5120640" cy="3840480"/>
          </a:xfrm>
          <a:prstGeom prst="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102A43"/>
                </a:solidFill>
                <a:latin typeface="Georgia"/>
              </a:defRPr>
            </a:pPr>
            <a:r>
              <a:t>The LLM Hallucination Risk</a:t>
            </a:r>
          </a:p>
          <a:p>
            <a:br/>
            <a:pPr>
              <a:defRPr sz="1800">
                <a:solidFill>
                  <a:srgbClr val="334E68"/>
                </a:solidFill>
              </a:defRPr>
            </a:pPr>
            <a:r>
              <a:t>Using public LLMs to write Suspicious Activity Reports (SARs) risks exposing PII (Data Privacy breach) and hallucinating facts (Legal liability).</a:t>
            </a:r>
          </a:p>
          <a:p>
            <a:br/>
            <a:pPr>
              <a:defRPr sz="1800">
                <a:solidFill>
                  <a:srgbClr val="334E68"/>
                </a:solidFill>
              </a:defRPr>
            </a:pPr>
            <a:r>
              <a:t>Banks cannot afford "black box" compliance documents that invent details about customers.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560320"/>
            <a:ext cx="5120640" cy="3840480"/>
          </a:xfrm>
          <a:prstGeom prst="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7432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102A43"/>
                </a:solidFill>
                <a:latin typeface="Georgia"/>
              </a:defRPr>
            </a:pPr>
            <a:r>
              <a:t>Deterministic XAI Generation</a:t>
            </a:r>
          </a:p>
          <a:p>
            <a:br/>
            <a:pPr>
              <a:defRPr sz="1800">
                <a:solidFill>
                  <a:srgbClr val="334E68"/>
                </a:solidFill>
              </a:defRPr>
            </a:pPr>
            <a:r>
              <a:t>We engineered a Deterministic NLG Template Engine. It maps exact SHAP mathematical outputs directly to English sentences.</a:t>
            </a:r>
          </a:p>
          <a:p>
            <a:br/>
            <a:pPr>
              <a:defRPr sz="1800">
                <a:solidFill>
                  <a:srgbClr val="334E68"/>
                </a:solidFill>
              </a:defRPr>
            </a:pPr>
            <a:r>
              <a:t>Additionally, if the API for our conversational AI Copilot fails, the system gracefully degrades to a local "Quick Commands" intent router.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5303520"/>
            <a:ext cx="4754880" cy="914400"/>
          </a:xfrm>
          <a:prstGeom prst="rect">
            <a:avLst/>
          </a:prstGeom>
          <a:solidFill>
            <a:srgbClr val="102A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54864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i="1" sz="1600">
                <a:solidFill>
                  <a:srgbClr val="FFFFFF"/>
                </a:solidFill>
              </a:defRPr>
            </a:pPr>
            <a:r>
              <a:t>Result: 100% factual accuracy, zero PII leakage, zero downtime.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D4AF37"/>
                </a:solidFill>
              </a:defRPr>
            </a:pPr>
            <a:r>
              <a:t>U S E R   E X P E R I E N C E   ·   P I L L A R  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000">
                <a:solidFill>
                  <a:srgbClr val="102A43"/>
                </a:solidFill>
                <a:latin typeface="Georgia"/>
              </a:defRPr>
            </a:pPr>
            <a:r>
              <a:t>The "Single Pane of Glass"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486581"/>
                </a:solidFill>
              </a:defRPr>
            </a:pPr>
            <a:r>
              <a:t>Zero cognitive overload for investigators.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5120640" cy="3840480"/>
          </a:xfrm>
          <a:prstGeom prst="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102A43"/>
                </a:solidFill>
                <a:latin typeface="Georgia"/>
              </a:defRPr>
            </a:pPr>
            <a:r>
              <a:t>The Cognitive Overload</a:t>
            </a:r>
          </a:p>
          <a:p>
            <a:br/>
            <a:pPr>
              <a:defRPr sz="1800">
                <a:solidFill>
                  <a:srgbClr val="334E68"/>
                </a:solidFill>
              </a:defRPr>
            </a:pPr>
            <a:r>
              <a:t>Today, compliance officers juggle four different screens: Core Banking Ledgers, KYC Portals, Network Analysis Tools, and Microsoft Word.</a:t>
            </a:r>
          </a:p>
          <a:p>
            <a:br/>
            <a:pPr>
              <a:defRPr sz="1800">
                <a:solidFill>
                  <a:srgbClr val="334E68"/>
                </a:solidFill>
              </a:defRPr>
            </a:pPr>
            <a:r>
              <a:t>Switching context causes errors and destroys productivity.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560320"/>
            <a:ext cx="5120640" cy="3840480"/>
          </a:xfrm>
          <a:prstGeom prst="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7432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102A43"/>
                </a:solidFill>
                <a:latin typeface="Georgia"/>
              </a:defRPr>
            </a:pPr>
            <a:r>
              <a:t>Unified Single Pane of Glass</a:t>
            </a:r>
          </a:p>
          <a:p>
            <a:br/>
            <a:pPr>
              <a:defRPr sz="1800">
                <a:solidFill>
                  <a:srgbClr val="334E68"/>
                </a:solidFill>
              </a:defRPr>
            </a:pPr>
            <a:r>
              <a:t>We designed the React UX to hide the complex math from the end-user. We translate GraphSAGE metrics and SHAP values into simple English bullet points.</a:t>
            </a:r>
          </a:p>
          <a:p>
            <a:br/>
            <a:pPr>
              <a:defRPr sz="1800">
                <a:solidFill>
                  <a:srgbClr val="334E68"/>
                </a:solidFill>
              </a:defRPr>
            </a:pPr>
            <a:r>
              <a:t>With Live SSE streams and API View Caching, the UI refreshes instantly without loading spinners.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5303520"/>
            <a:ext cx="4754880" cy="914400"/>
          </a:xfrm>
          <a:prstGeom prst="rect">
            <a:avLst/>
          </a:prstGeom>
          <a:solidFill>
            <a:srgbClr val="102A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54864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i="1" sz="1600">
                <a:solidFill>
                  <a:srgbClr val="FFFFFF"/>
                </a:solidFill>
              </a:defRPr>
            </a:pPr>
            <a:r>
              <a:t>Result: Detect, Explain, and File from one screen in real-time.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