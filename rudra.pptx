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League Spartan"/>
      <p:regular r:id="rId17"/>
      <p:bold r:id="rId18"/>
    </p:embeddedFont>
    <p:embeddedFont>
      <p:font typeface="Arimo"/>
      <p:regular r:id="rId19"/>
      <p:bold r:id="rId20"/>
      <p:italic r:id="rId21"/>
      <p:boldItalic r:id="rId22"/>
    </p:embeddedFont>
    <p:embeddedFont>
      <p:font typeface="Montserrat"/>
      <p:bold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Helvetica Neue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D9AB4F-0450-4828-8633-C8CF090C7153}">
  <a:tblStyle styleId="{B9D9AB4F-0450-4828-8633-C8CF090C715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.fntdata"/><Relationship Id="rId22" Type="http://schemas.openxmlformats.org/officeDocument/2006/relationships/font" Target="fonts/Arimo-boldItalic.fntdata"/><Relationship Id="rId21" Type="http://schemas.openxmlformats.org/officeDocument/2006/relationships/font" Target="fonts/Arimo-italic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HelveticaNeue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LeagueSpartan-regular.fntdata"/><Relationship Id="rId16" Type="http://schemas.openxmlformats.org/officeDocument/2006/relationships/slide" Target="slides/slide9.xml"/><Relationship Id="rId19" Type="http://schemas.openxmlformats.org/officeDocument/2006/relationships/font" Target="fonts/Arimo-regular.fntdata"/><Relationship Id="rId18" Type="http://schemas.openxmlformats.org/officeDocument/2006/relationships/font" Target="fonts/LeagueSpartan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cb9e1874c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cb9e1874c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cb9e1874c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dcb9e1874c_2_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cb9e1874c_2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dcb9e1874c_2_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cb9e1874c_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dcb9e1874c_2_1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cb9e1874c_2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dcb9e1874c_2_3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dcb9e1874c_2_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g3dcb9e1874c_2_7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dcb9e1874c_2_9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g3dcb9e1874c_2_9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dcb9e1874c_2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g3dcb9e1874c_2_9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dcb9e1874c_2_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g3dcb9e1874c_2_9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0.png"/><Relationship Id="rId8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21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20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2189216" y="1661684"/>
            <a:ext cx="4615863" cy="2467642"/>
          </a:xfrm>
          <a:custGeom>
            <a:rect b="b" l="l" r="r" t="t"/>
            <a:pathLst>
              <a:path extrusionOk="0" h="6580378" w="12308967">
                <a:moveTo>
                  <a:pt x="0" y="0"/>
                </a:moveTo>
                <a:lnTo>
                  <a:pt x="12308967" y="0"/>
                </a:lnTo>
                <a:lnTo>
                  <a:pt x="12308967" y="6580378"/>
                </a:lnTo>
                <a:lnTo>
                  <a:pt x="0" y="6580378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3658" l="-69" r="-68" t="-43658"/>
            </a:stretch>
          </a:blipFill>
          <a:ln>
            <a:noFill/>
          </a:ln>
        </p:spPr>
      </p:sp>
      <p:sp>
        <p:nvSpPr>
          <p:cNvPr id="130" name="Google Shape;130;p25"/>
          <p:cNvSpPr/>
          <p:nvPr/>
        </p:nvSpPr>
        <p:spPr>
          <a:xfrm>
            <a:off x="2565097" y="696254"/>
            <a:ext cx="4013835" cy="815388"/>
          </a:xfrm>
          <a:custGeom>
            <a:rect b="b" l="l" r="r" t="t"/>
            <a:pathLst>
              <a:path extrusionOk="0" h="2174367" w="10703560">
                <a:moveTo>
                  <a:pt x="0" y="0"/>
                </a:moveTo>
                <a:lnTo>
                  <a:pt x="10703560" y="0"/>
                </a:lnTo>
                <a:lnTo>
                  <a:pt x="10703560" y="2174367"/>
                </a:lnTo>
                <a:lnTo>
                  <a:pt x="0" y="2174367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712" l="-79" r="-78" t="-9713"/>
            </a:stretch>
          </a:blipFill>
          <a:ln>
            <a:noFill/>
          </a:ln>
        </p:spPr>
      </p:sp>
      <p:sp>
        <p:nvSpPr>
          <p:cNvPr id="131" name="Google Shape;131;p25"/>
          <p:cNvSpPr/>
          <p:nvPr/>
        </p:nvSpPr>
        <p:spPr>
          <a:xfrm>
            <a:off x="3719679" y="4262371"/>
            <a:ext cx="1704642" cy="557260"/>
          </a:xfrm>
          <a:custGeom>
            <a:rect b="b" l="l" r="r" t="t"/>
            <a:pathLst>
              <a:path extrusionOk="0" h="1486027" w="4545711">
                <a:moveTo>
                  <a:pt x="0" y="0"/>
                </a:moveTo>
                <a:lnTo>
                  <a:pt x="4545711" y="0"/>
                </a:lnTo>
                <a:lnTo>
                  <a:pt x="4545711" y="1486027"/>
                </a:lnTo>
                <a:lnTo>
                  <a:pt x="0" y="1486027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573" l="-570" r="-570" t="-572"/>
            </a:stretch>
          </a:blipFill>
          <a:ln>
            <a:noFill/>
          </a:ln>
        </p:spPr>
      </p:sp>
      <p:sp>
        <p:nvSpPr>
          <p:cNvPr id="132" name="Google Shape;132;p25"/>
          <p:cNvSpPr/>
          <p:nvPr/>
        </p:nvSpPr>
        <p:spPr>
          <a:xfrm>
            <a:off x="200754" y="140613"/>
            <a:ext cx="1222915" cy="611457"/>
          </a:xfrm>
          <a:custGeom>
            <a:rect b="b" l="l" r="r" t="t"/>
            <a:pathLst>
              <a:path extrusionOk="0" h="1630553" w="3261106">
                <a:moveTo>
                  <a:pt x="0" y="0"/>
                </a:moveTo>
                <a:lnTo>
                  <a:pt x="3261106" y="0"/>
                </a:lnTo>
                <a:lnTo>
                  <a:pt x="3261106" y="1630553"/>
                </a:lnTo>
                <a:lnTo>
                  <a:pt x="0" y="1630553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518" l="-520" r="-520" t="-521"/>
            </a:stretch>
          </a:blipFill>
          <a:ln>
            <a:noFill/>
          </a:ln>
        </p:spPr>
      </p:sp>
      <p:sp>
        <p:nvSpPr>
          <p:cNvPr id="133" name="Google Shape;133;p25"/>
          <p:cNvSpPr/>
          <p:nvPr/>
        </p:nvSpPr>
        <p:spPr>
          <a:xfrm>
            <a:off x="8369617" y="235625"/>
            <a:ext cx="520065" cy="516445"/>
          </a:xfrm>
          <a:custGeom>
            <a:rect b="b" l="l" r="r" t="t"/>
            <a:pathLst>
              <a:path extrusionOk="0" h="1377188" w="1386840">
                <a:moveTo>
                  <a:pt x="0" y="0"/>
                </a:moveTo>
                <a:lnTo>
                  <a:pt x="1386840" y="0"/>
                </a:lnTo>
                <a:lnTo>
                  <a:pt x="1386840" y="1377188"/>
                </a:lnTo>
                <a:lnTo>
                  <a:pt x="0" y="1377188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966" l="-613" r="-613" t="-970"/>
            </a:stretch>
          </a:blipFill>
          <a:ln>
            <a:noFill/>
          </a:ln>
        </p:spPr>
      </p:sp>
      <p:sp>
        <p:nvSpPr>
          <p:cNvPr id="134" name="Google Shape;134;p25"/>
          <p:cNvSpPr txBox="1"/>
          <p:nvPr/>
        </p:nvSpPr>
        <p:spPr>
          <a:xfrm>
            <a:off x="1649021" y="473074"/>
            <a:ext cx="6018043" cy="174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1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(An Initiative of Government of India, Ministry of Finance , Department of Financial Services)</a:t>
            </a:r>
            <a:endParaRPr sz="700"/>
          </a:p>
        </p:txBody>
      </p:sp>
      <p:sp>
        <p:nvSpPr>
          <p:cNvPr id="135" name="Google Shape;135;p25"/>
          <p:cNvSpPr txBox="1"/>
          <p:nvPr/>
        </p:nvSpPr>
        <p:spPr>
          <a:xfrm>
            <a:off x="1026286" y="128426"/>
            <a:ext cx="7263508" cy="42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7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00" u="none" cap="none" strike="noStrike">
                <a:solidFill>
                  <a:srgbClr val="E92A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PSBs Hackathon Series 2026</a:t>
            </a:r>
            <a:endParaRPr sz="700"/>
          </a:p>
        </p:txBody>
      </p:sp>
      <p:sp>
        <p:nvSpPr>
          <p:cNvPr id="136" name="Google Shape;136;p25"/>
          <p:cNvSpPr txBox="1"/>
          <p:nvPr/>
        </p:nvSpPr>
        <p:spPr>
          <a:xfrm>
            <a:off x="3853277" y="1415587"/>
            <a:ext cx="1437447" cy="242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PRESENTS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4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/>
          <p:nvPr/>
        </p:nvSpPr>
        <p:spPr>
          <a:xfrm>
            <a:off x="14" y="14"/>
            <a:ext cx="9144000" cy="848582"/>
          </a:xfrm>
          <a:custGeom>
            <a:rect b="b" l="l" r="r" t="t"/>
            <a:pathLst>
              <a:path extrusionOk="0" h="2262886" w="24384001">
                <a:moveTo>
                  <a:pt x="0" y="0"/>
                </a:moveTo>
                <a:lnTo>
                  <a:pt x="24384001" y="0"/>
                </a:lnTo>
                <a:lnTo>
                  <a:pt x="24384001" y="2262886"/>
                </a:lnTo>
                <a:lnTo>
                  <a:pt x="0" y="22628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2" name="Google Shape;142;p26"/>
          <p:cNvSpPr/>
          <p:nvPr/>
        </p:nvSpPr>
        <p:spPr>
          <a:xfrm>
            <a:off x="3526377" y="73868"/>
            <a:ext cx="1359089" cy="700869"/>
          </a:xfrm>
          <a:custGeom>
            <a:rect b="b" l="l" r="r" t="t"/>
            <a:pathLst>
              <a:path extrusionOk="0" h="2448396" w="4747803">
                <a:moveTo>
                  <a:pt x="0" y="0"/>
                </a:moveTo>
                <a:lnTo>
                  <a:pt x="4747803" y="0"/>
                </a:lnTo>
                <a:lnTo>
                  <a:pt x="4747803" y="2448396"/>
                </a:lnTo>
                <a:lnTo>
                  <a:pt x="0" y="2448396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7248" l="-182" r="-182" t="-47373"/>
            </a:stretch>
          </a:blipFill>
          <a:ln>
            <a:noFill/>
          </a:ln>
        </p:spPr>
      </p:sp>
      <p:sp>
        <p:nvSpPr>
          <p:cNvPr id="143" name="Google Shape;143;p26"/>
          <p:cNvSpPr/>
          <p:nvPr/>
        </p:nvSpPr>
        <p:spPr>
          <a:xfrm>
            <a:off x="5484943" y="294465"/>
            <a:ext cx="2511219" cy="374571"/>
          </a:xfrm>
          <a:custGeom>
            <a:rect b="b" l="l" r="r" t="t"/>
            <a:pathLst>
              <a:path extrusionOk="0" h="998855" w="6696583">
                <a:moveTo>
                  <a:pt x="0" y="0"/>
                </a:moveTo>
                <a:lnTo>
                  <a:pt x="6696583" y="0"/>
                </a:lnTo>
                <a:lnTo>
                  <a:pt x="6696583" y="998855"/>
                </a:lnTo>
                <a:lnTo>
                  <a:pt x="0" y="998855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44" l="-563" r="-562" t="-851"/>
            </a:stretch>
          </a:blipFill>
          <a:ln>
            <a:noFill/>
          </a:ln>
        </p:spPr>
      </p:sp>
      <p:sp>
        <p:nvSpPr>
          <p:cNvPr id="144" name="Google Shape;144;p26"/>
          <p:cNvSpPr/>
          <p:nvPr/>
        </p:nvSpPr>
        <p:spPr>
          <a:xfrm>
            <a:off x="1581674" y="261861"/>
            <a:ext cx="1345264" cy="439769"/>
          </a:xfrm>
          <a:custGeom>
            <a:rect b="b" l="l" r="r" t="t"/>
            <a:pathLst>
              <a:path extrusionOk="0" h="1172718" w="3587369">
                <a:moveTo>
                  <a:pt x="0" y="0"/>
                </a:moveTo>
                <a:lnTo>
                  <a:pt x="3587369" y="0"/>
                </a:lnTo>
                <a:lnTo>
                  <a:pt x="3587369" y="1172718"/>
                </a:lnTo>
                <a:lnTo>
                  <a:pt x="0" y="1172718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724" l="-723" r="-720" t="-725"/>
            </a:stretch>
          </a:blipFill>
          <a:ln>
            <a:noFill/>
          </a:ln>
        </p:spPr>
      </p:sp>
      <p:sp>
        <p:nvSpPr>
          <p:cNvPr id="145" name="Google Shape;145;p26"/>
          <p:cNvSpPr/>
          <p:nvPr/>
        </p:nvSpPr>
        <p:spPr>
          <a:xfrm>
            <a:off x="200754" y="140613"/>
            <a:ext cx="1222915" cy="611457"/>
          </a:xfrm>
          <a:custGeom>
            <a:rect b="b" l="l" r="r" t="t"/>
            <a:pathLst>
              <a:path extrusionOk="0" h="1630553" w="3261106">
                <a:moveTo>
                  <a:pt x="0" y="0"/>
                </a:moveTo>
                <a:lnTo>
                  <a:pt x="3261106" y="0"/>
                </a:lnTo>
                <a:lnTo>
                  <a:pt x="3261106" y="1630553"/>
                </a:lnTo>
                <a:lnTo>
                  <a:pt x="0" y="1630553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518" l="-520" r="-520" t="-521"/>
            </a:stretch>
          </a:blipFill>
          <a:ln>
            <a:noFill/>
          </a:ln>
        </p:spPr>
      </p:sp>
      <p:sp>
        <p:nvSpPr>
          <p:cNvPr id="146" name="Google Shape;146;p26"/>
          <p:cNvSpPr txBox="1"/>
          <p:nvPr/>
        </p:nvSpPr>
        <p:spPr>
          <a:xfrm>
            <a:off x="660107" y="983861"/>
            <a:ext cx="7823792" cy="417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700" u="sng" cap="none" strike="noStrike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 &amp; TEAM DETAILS</a:t>
            </a:r>
            <a:endParaRPr sz="700"/>
          </a:p>
        </p:txBody>
      </p:sp>
      <p:sp>
        <p:nvSpPr>
          <p:cNvPr id="147" name="Google Shape;147;p26"/>
          <p:cNvSpPr/>
          <p:nvPr/>
        </p:nvSpPr>
        <p:spPr>
          <a:xfrm>
            <a:off x="8369617" y="235625"/>
            <a:ext cx="520065" cy="516445"/>
          </a:xfrm>
          <a:custGeom>
            <a:rect b="b" l="l" r="r" t="t"/>
            <a:pathLst>
              <a:path extrusionOk="0" h="1377188" w="1386840">
                <a:moveTo>
                  <a:pt x="0" y="0"/>
                </a:moveTo>
                <a:lnTo>
                  <a:pt x="1386840" y="0"/>
                </a:lnTo>
                <a:lnTo>
                  <a:pt x="1386840" y="1377188"/>
                </a:lnTo>
                <a:lnTo>
                  <a:pt x="0" y="1377188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966" l="-613" r="-613" t="-970"/>
            </a:stretch>
          </a:blipFill>
          <a:ln>
            <a:noFill/>
          </a:ln>
        </p:spPr>
      </p:sp>
      <p:graphicFrame>
        <p:nvGraphicFramePr>
          <p:cNvPr id="148" name="Google Shape;148;p26"/>
          <p:cNvGraphicFramePr/>
          <p:nvPr/>
        </p:nvGraphicFramePr>
        <p:xfrm>
          <a:off x="313092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{B9D9AB4F-0450-4828-8633-C8CF090C7153}</a:tableStyleId>
              </a:tblPr>
              <a:tblGrid>
                <a:gridCol w="1252000"/>
                <a:gridCol w="2999325"/>
                <a:gridCol w="1335825"/>
                <a:gridCol w="2915475"/>
              </a:tblGrid>
              <a:tr h="5191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TEAM NAME</a:t>
                      </a:r>
                      <a:endParaRPr sz="600" u="none" cap="none" strike="noStrike"/>
                    </a:p>
                    <a:p>
                      <a:pPr indent="0" lvl="0" marL="0" marR="0" rtl="0" algn="ctr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(AS SUBMITTED ON PORTAL)</a:t>
                      </a:r>
                      <a:endParaRPr sz="700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2026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Bhadra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 hMerge="1"/>
              </a:tr>
              <a:tr h="4934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PROBLEM STATEMENT TITLE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cap="none" strike="noStrike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Tracking of Funds within Bank for Fraud Detection</a:t>
                      </a:r>
                      <a:endParaRPr sz="600" u="none" cap="none" strike="noStrike"/>
                    </a:p>
                    <a:p>
                      <a:pPr indent="0" lvl="0" marL="0" marR="0" rtl="0" algn="ctr">
                        <a:lnSpc>
                          <a:spcPct val="21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7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NAME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GENDER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AREA OF EXPERTISE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2026"/>
                    </a:solidFill>
                  </a:tcPr>
                </a:tc>
              </a:tr>
              <a:tr h="40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Member 1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Anant Asati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Male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Agentic AI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</a:tr>
              <a:tr h="40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Member 2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Prashant Gautam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Male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Graphs and ML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</a:tr>
              <a:tr h="40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Member 3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Yash Kumar Maru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Male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Web Development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</a:tr>
              <a:tr h="402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Member 4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Satyadev Suvesh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Male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Agentic AI</a:t>
                      </a:r>
                      <a:endParaRPr sz="600" u="none" cap="none" strike="noStrike"/>
                    </a:p>
                  </a:txBody>
                  <a:tcPr marT="22875" marB="22875" marR="22875" marL="228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4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/>
          <p:nvPr/>
        </p:nvSpPr>
        <p:spPr>
          <a:xfrm>
            <a:off x="14" y="11"/>
            <a:ext cx="9144000" cy="847536"/>
          </a:xfrm>
          <a:custGeom>
            <a:rect b="b" l="l" r="r" t="t"/>
            <a:pathLst>
              <a:path extrusionOk="0" h="2260094" w="24384001">
                <a:moveTo>
                  <a:pt x="0" y="0"/>
                </a:moveTo>
                <a:lnTo>
                  <a:pt x="24384001" y="0"/>
                </a:lnTo>
                <a:lnTo>
                  <a:pt x="24384001" y="2260094"/>
                </a:lnTo>
                <a:lnTo>
                  <a:pt x="0" y="22600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4" name="Google Shape;154;p27"/>
          <p:cNvSpPr/>
          <p:nvPr/>
        </p:nvSpPr>
        <p:spPr>
          <a:xfrm>
            <a:off x="3522907" y="81638"/>
            <a:ext cx="1366029" cy="729405"/>
          </a:xfrm>
          <a:custGeom>
            <a:rect b="b" l="l" r="r" t="t"/>
            <a:pathLst>
              <a:path extrusionOk="0" h="2535139" w="4747803">
                <a:moveTo>
                  <a:pt x="0" y="0"/>
                </a:moveTo>
                <a:lnTo>
                  <a:pt x="4747803" y="0"/>
                </a:lnTo>
                <a:lnTo>
                  <a:pt x="4747803" y="2535139"/>
                </a:lnTo>
                <a:lnTo>
                  <a:pt x="0" y="2535139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3908" l="-182" r="-182" t="-44055"/>
            </a:stretch>
          </a:blipFill>
          <a:ln>
            <a:noFill/>
          </a:ln>
        </p:spPr>
      </p:sp>
      <p:sp>
        <p:nvSpPr>
          <p:cNvPr id="155" name="Google Shape;155;p27"/>
          <p:cNvSpPr/>
          <p:nvPr/>
        </p:nvSpPr>
        <p:spPr>
          <a:xfrm>
            <a:off x="5308534" y="290065"/>
            <a:ext cx="2640822" cy="312557"/>
          </a:xfrm>
          <a:custGeom>
            <a:rect b="b" l="l" r="r" t="t"/>
            <a:pathLst>
              <a:path extrusionOk="0" h="792581" w="6696583">
                <a:moveTo>
                  <a:pt x="0" y="0"/>
                </a:moveTo>
                <a:lnTo>
                  <a:pt x="6696583" y="0"/>
                </a:lnTo>
                <a:lnTo>
                  <a:pt x="6696583" y="792581"/>
                </a:lnTo>
                <a:lnTo>
                  <a:pt x="0" y="79258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3734" l="-127" r="-123" t="-13319"/>
            </a:stretch>
          </a:blipFill>
          <a:ln>
            <a:noFill/>
          </a:ln>
        </p:spPr>
      </p:sp>
      <p:sp>
        <p:nvSpPr>
          <p:cNvPr id="156" name="Google Shape;156;p27"/>
          <p:cNvSpPr/>
          <p:nvPr/>
        </p:nvSpPr>
        <p:spPr>
          <a:xfrm>
            <a:off x="1581674" y="261861"/>
            <a:ext cx="1345264" cy="439769"/>
          </a:xfrm>
          <a:custGeom>
            <a:rect b="b" l="l" r="r" t="t"/>
            <a:pathLst>
              <a:path extrusionOk="0" h="1172718" w="3587369">
                <a:moveTo>
                  <a:pt x="0" y="0"/>
                </a:moveTo>
                <a:lnTo>
                  <a:pt x="3587369" y="0"/>
                </a:lnTo>
                <a:lnTo>
                  <a:pt x="3587369" y="1172718"/>
                </a:lnTo>
                <a:lnTo>
                  <a:pt x="0" y="1172718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724" l="-723" r="-720" t="-725"/>
            </a:stretch>
          </a:blipFill>
          <a:ln>
            <a:noFill/>
          </a:ln>
        </p:spPr>
      </p:sp>
      <p:sp>
        <p:nvSpPr>
          <p:cNvPr id="157" name="Google Shape;157;p27"/>
          <p:cNvSpPr/>
          <p:nvPr/>
        </p:nvSpPr>
        <p:spPr>
          <a:xfrm>
            <a:off x="200754" y="140613"/>
            <a:ext cx="1222915" cy="611457"/>
          </a:xfrm>
          <a:custGeom>
            <a:rect b="b" l="l" r="r" t="t"/>
            <a:pathLst>
              <a:path extrusionOk="0" h="1630553" w="3261106">
                <a:moveTo>
                  <a:pt x="0" y="0"/>
                </a:moveTo>
                <a:lnTo>
                  <a:pt x="3261106" y="0"/>
                </a:lnTo>
                <a:lnTo>
                  <a:pt x="3261106" y="1630553"/>
                </a:lnTo>
                <a:lnTo>
                  <a:pt x="0" y="1630553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518" l="-520" r="-520" t="-521"/>
            </a:stretch>
          </a:blipFill>
          <a:ln>
            <a:noFill/>
          </a:ln>
        </p:spPr>
      </p:sp>
      <p:sp>
        <p:nvSpPr>
          <p:cNvPr id="158" name="Google Shape;158;p27"/>
          <p:cNvSpPr txBox="1"/>
          <p:nvPr/>
        </p:nvSpPr>
        <p:spPr>
          <a:xfrm>
            <a:off x="1837796" y="855471"/>
            <a:ext cx="5040437" cy="327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200" u="sng" cap="none" strike="noStrike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Rudra — Shield Against Deception</a:t>
            </a:r>
            <a:endParaRPr sz="700"/>
          </a:p>
        </p:txBody>
      </p:sp>
      <p:sp>
        <p:nvSpPr>
          <p:cNvPr id="159" name="Google Shape;159;p27"/>
          <p:cNvSpPr/>
          <p:nvPr/>
        </p:nvSpPr>
        <p:spPr>
          <a:xfrm>
            <a:off x="8369617" y="165553"/>
            <a:ext cx="520065" cy="516445"/>
          </a:xfrm>
          <a:custGeom>
            <a:rect b="b" l="l" r="r" t="t"/>
            <a:pathLst>
              <a:path extrusionOk="0" h="1377188" w="1386840">
                <a:moveTo>
                  <a:pt x="0" y="0"/>
                </a:moveTo>
                <a:lnTo>
                  <a:pt x="1386840" y="0"/>
                </a:lnTo>
                <a:lnTo>
                  <a:pt x="1386840" y="1377188"/>
                </a:lnTo>
                <a:lnTo>
                  <a:pt x="0" y="1377188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966" l="-613" r="-613" t="-970"/>
            </a:stretch>
          </a:blipFill>
          <a:ln>
            <a:noFill/>
          </a:ln>
        </p:spPr>
      </p:sp>
      <p:sp>
        <p:nvSpPr>
          <p:cNvPr id="160" name="Google Shape;160;p27"/>
          <p:cNvSpPr txBox="1"/>
          <p:nvPr/>
        </p:nvSpPr>
        <p:spPr>
          <a:xfrm>
            <a:off x="105450" y="1272528"/>
            <a:ext cx="8875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Rudra solves the problem of delayed fraud detection by tracking fund flows in real time using a live transaction graph, enabling instant detection of complex patterns like layering and round-tripping instead of next-day batch analysis. Combined with graph ML and an LLM copilot, it provides immediate traceability, automated investigation, and compliance-ready reports—cutting detection time from days to seconds.</a:t>
            </a:r>
            <a:endParaRPr sz="700"/>
          </a:p>
        </p:txBody>
      </p:sp>
      <p:sp>
        <p:nvSpPr>
          <p:cNvPr id="161" name="Google Shape;161;p27"/>
          <p:cNvSpPr txBox="1"/>
          <p:nvPr/>
        </p:nvSpPr>
        <p:spPr>
          <a:xfrm>
            <a:off x="228725" y="1664075"/>
            <a:ext cx="425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0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sz="700"/>
          </a:p>
        </p:txBody>
      </p:sp>
      <p:grpSp>
        <p:nvGrpSpPr>
          <p:cNvPr id="162" name="Google Shape;162;p27"/>
          <p:cNvGrpSpPr/>
          <p:nvPr/>
        </p:nvGrpSpPr>
        <p:grpSpPr>
          <a:xfrm>
            <a:off x="105450" y="1877117"/>
            <a:ext cx="4374937" cy="1579854"/>
            <a:chOff x="-1" y="0"/>
            <a:chExt cx="11516268" cy="4158693"/>
          </a:xfrm>
        </p:grpSpPr>
        <p:sp>
          <p:nvSpPr>
            <p:cNvPr id="163" name="Google Shape;163;p27"/>
            <p:cNvSpPr/>
            <p:nvPr/>
          </p:nvSpPr>
          <p:spPr>
            <a:xfrm>
              <a:off x="0" y="0"/>
              <a:ext cx="11516267" cy="4158605"/>
            </a:xfrm>
            <a:custGeom>
              <a:rect b="b" l="l" r="r" t="t"/>
              <a:pathLst>
                <a:path extrusionOk="0" h="4158605" w="11516267">
                  <a:moveTo>
                    <a:pt x="0" y="0"/>
                  </a:moveTo>
                  <a:lnTo>
                    <a:pt x="11516267" y="0"/>
                  </a:lnTo>
                  <a:lnTo>
                    <a:pt x="11516267" y="4158605"/>
                  </a:lnTo>
                  <a:lnTo>
                    <a:pt x="0" y="4158605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12382" l="0" r="11806" t="-7559"/>
              </a:stretch>
            </a:blipFill>
            <a:ln>
              <a:noFill/>
            </a:ln>
          </p:spPr>
        </p:sp>
        <p:sp>
          <p:nvSpPr>
            <p:cNvPr id="164" name="Google Shape;164;p27"/>
            <p:cNvSpPr txBox="1"/>
            <p:nvPr/>
          </p:nvSpPr>
          <p:spPr>
            <a:xfrm>
              <a:off x="-1" y="505893"/>
              <a:ext cx="11516100" cy="365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57150" lvl="1" marL="11430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1" i="0" lang="en-GB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Streaming-native fund flow graph on Pathway</a:t>
              </a:r>
              <a:r>
                <a:rPr b="0" i="0" lang="en-GB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— tracks every rupee across accounts, branches, products &amp; channels with &lt;200ms end-to-end latency</a:t>
              </a:r>
              <a:endParaRPr sz="700"/>
            </a:p>
            <a:p>
              <a:pPr indent="0" lvl="0" marL="0" marR="0" rtl="0" algn="l">
                <a:lnSpc>
                  <a:spcPct val="631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" lvl="1" marL="11430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1" i="0" lang="en-GB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 parallel Graph ML detectors</a:t>
              </a:r>
              <a:r>
                <a:rPr b="0" i="0" lang="en-GB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Layering - Round-tripping - Structuring - Dormant account reactivation - KYC-profile mismatch</a:t>
              </a:r>
              <a:endParaRPr sz="700"/>
            </a:p>
            <a:p>
              <a:pPr indent="0" lvl="0" marL="0" marR="0" rtl="0" algn="l">
                <a:lnSpc>
                  <a:spcPct val="631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" lvl="1" marL="11430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1" i="0" lang="en-GB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LLM assisted copilot</a:t>
              </a:r>
              <a:r>
                <a:rPr b="0" i="0" lang="en-GB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helps investigators trace complex fund flows and generate compliant reports in seconds, reducing investigation time from days to minutes</a:t>
              </a:r>
              <a:endParaRPr sz="700"/>
            </a:p>
            <a:p>
              <a:pPr indent="0" lvl="0" marL="0" marR="0" rtl="0" algn="l">
                <a:lnSpc>
                  <a:spcPct val="631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" lvl="1" marL="11430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1" i="0" lang="en-GB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Auto-generated FIU evidence package</a:t>
              </a:r>
              <a:r>
                <a:rPr b="0" i="0" lang="en-GB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 SAR narrative, subgraph export, transaction chain PDF + PMLA section citations</a:t>
              </a:r>
              <a:endParaRPr sz="700"/>
            </a:p>
          </p:txBody>
        </p:sp>
      </p:grpSp>
      <p:sp>
        <p:nvSpPr>
          <p:cNvPr id="165" name="Google Shape;165;p27"/>
          <p:cNvSpPr txBox="1"/>
          <p:nvPr/>
        </p:nvSpPr>
        <p:spPr>
          <a:xfrm>
            <a:off x="177572" y="3524200"/>
            <a:ext cx="380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0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Innovation &amp; Uniqueness</a:t>
            </a:r>
            <a:endParaRPr sz="700"/>
          </a:p>
        </p:txBody>
      </p:sp>
      <p:grpSp>
        <p:nvGrpSpPr>
          <p:cNvPr id="166" name="Google Shape;166;p27"/>
          <p:cNvGrpSpPr/>
          <p:nvPr/>
        </p:nvGrpSpPr>
        <p:grpSpPr>
          <a:xfrm>
            <a:off x="105451" y="3956095"/>
            <a:ext cx="4252565" cy="1075872"/>
            <a:chOff x="0" y="-9525"/>
            <a:chExt cx="11279550" cy="2853655"/>
          </a:xfrm>
        </p:grpSpPr>
        <p:sp>
          <p:nvSpPr>
            <p:cNvPr id="167" name="Google Shape;167;p27"/>
            <p:cNvSpPr/>
            <p:nvPr/>
          </p:nvSpPr>
          <p:spPr>
            <a:xfrm>
              <a:off x="0" y="0"/>
              <a:ext cx="11279550" cy="2844130"/>
            </a:xfrm>
            <a:custGeom>
              <a:rect b="b" l="l" r="r" t="t"/>
              <a:pathLst>
                <a:path extrusionOk="0" h="2844130" w="11279550">
                  <a:moveTo>
                    <a:pt x="0" y="0"/>
                  </a:moveTo>
                  <a:lnTo>
                    <a:pt x="11279550" y="0"/>
                  </a:lnTo>
                  <a:lnTo>
                    <a:pt x="11279550" y="2844130"/>
                  </a:lnTo>
                  <a:lnTo>
                    <a:pt x="0" y="2844130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9357" l="0" r="9955" t="-29808"/>
              </a:stretch>
            </a:blipFill>
            <a:ln>
              <a:noFill/>
            </a:ln>
          </p:spPr>
        </p:sp>
        <p:sp>
          <p:nvSpPr>
            <p:cNvPr id="168" name="Google Shape;168;p27"/>
            <p:cNvSpPr txBox="1"/>
            <p:nvPr/>
          </p:nvSpPr>
          <p:spPr>
            <a:xfrm>
              <a:off x="0" y="-9525"/>
              <a:ext cx="11279546" cy="28536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57150" lvl="1" marL="11430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1" i="0" lang="en-GB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Live heterogeneous graph </a:t>
              </a:r>
              <a:r>
                <a:rPr b="0" i="0" lang="en-GB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updated per-transaction vs. overnight batch snapshots — fraud rings </a:t>
              </a:r>
              <a:r>
                <a:rPr b="0" i="0" lang="en-GB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blocked in milliseconds, not next morning</a:t>
              </a:r>
              <a:endParaRPr sz="700"/>
            </a:p>
            <a:p>
              <a:pPr indent="0" lvl="0" marL="0" marR="0" rtl="0" algn="l">
                <a:lnSpc>
                  <a:spcPct val="631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" lvl="1" marL="11430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1" i="0" lang="en-GB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FraudGT + BDH model ensemble</a:t>
              </a:r>
              <a:r>
                <a:rPr b="0" i="0" lang="en-GB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combines graph-theoretic cycle enumeration with GNN scoring</a:t>
              </a:r>
              <a:endParaRPr sz="700"/>
            </a:p>
            <a:p>
              <a:pPr indent="0" lvl="0" marL="0" marR="0" rtl="0" algn="l">
                <a:lnSpc>
                  <a:spcPct val="6313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57150" lvl="1" marL="114300" marR="0" rtl="0" algn="l">
                <a:lnSpc>
                  <a:spcPct val="120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Char char="•"/>
              </a:pPr>
              <a:r>
                <a:rPr b="0" i="0" lang="en-GB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Tool-calling LLM agent compresses investigation </a:t>
              </a:r>
              <a:r>
                <a:rPr b="1" i="0" lang="en-GB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from days to seconds</a:t>
              </a:r>
              <a:r>
                <a:rPr b="0" i="0" lang="en-GB" sz="9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; produces fully auditable FIU-ready evidence autonomously</a:t>
              </a:r>
              <a:endParaRPr sz="700"/>
            </a:p>
          </p:txBody>
        </p:sp>
      </p:grpSp>
      <p:sp>
        <p:nvSpPr>
          <p:cNvPr id="169" name="Google Shape;169;p27"/>
          <p:cNvSpPr txBox="1"/>
          <p:nvPr/>
        </p:nvSpPr>
        <p:spPr>
          <a:xfrm>
            <a:off x="5534175" y="1743526"/>
            <a:ext cx="425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20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700"/>
          </a:p>
        </p:txBody>
      </p:sp>
      <p:sp>
        <p:nvSpPr>
          <p:cNvPr descr="Picture 28" id="170" name="Google Shape;170;p27"/>
          <p:cNvSpPr/>
          <p:nvPr/>
        </p:nvSpPr>
        <p:spPr>
          <a:xfrm>
            <a:off x="4480375" y="2069300"/>
            <a:ext cx="4503549" cy="3036266"/>
          </a:xfrm>
          <a:custGeom>
            <a:rect b="b" l="l" r="r" t="t"/>
            <a:pathLst>
              <a:path extrusionOk="0" h="8613521" w="12090064">
                <a:moveTo>
                  <a:pt x="0" y="0"/>
                </a:moveTo>
                <a:lnTo>
                  <a:pt x="12090064" y="0"/>
                </a:lnTo>
                <a:lnTo>
                  <a:pt x="12090064" y="8613521"/>
                </a:lnTo>
                <a:lnTo>
                  <a:pt x="0" y="86135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333" l="0" r="0" t="-1333"/>
            </a:stretch>
          </a:blipFill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28"/>
          <p:cNvGrpSpPr/>
          <p:nvPr/>
        </p:nvGrpSpPr>
        <p:grpSpPr>
          <a:xfrm>
            <a:off x="321307" y="1370119"/>
            <a:ext cx="2803112" cy="1925288"/>
            <a:chOff x="0" y="0"/>
            <a:chExt cx="7474966" cy="5134102"/>
          </a:xfrm>
        </p:grpSpPr>
        <p:sp>
          <p:nvSpPr>
            <p:cNvPr id="176" name="Google Shape;176;p28"/>
            <p:cNvSpPr/>
            <p:nvPr/>
          </p:nvSpPr>
          <p:spPr>
            <a:xfrm>
              <a:off x="6731" y="6731"/>
              <a:ext cx="7461504" cy="5120640"/>
            </a:xfrm>
            <a:custGeom>
              <a:rect b="b" l="l" r="r" t="t"/>
              <a:pathLst>
                <a:path extrusionOk="0" h="5120640" w="7461504">
                  <a:moveTo>
                    <a:pt x="0" y="0"/>
                  </a:moveTo>
                  <a:lnTo>
                    <a:pt x="7461504" y="0"/>
                  </a:lnTo>
                  <a:lnTo>
                    <a:pt x="7461504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7" name="Google Shape;177;p28"/>
            <p:cNvSpPr/>
            <p:nvPr/>
          </p:nvSpPr>
          <p:spPr>
            <a:xfrm>
              <a:off x="0" y="0"/>
              <a:ext cx="7474966" cy="5134102"/>
            </a:xfrm>
            <a:custGeom>
              <a:rect b="b" l="l" r="r" t="t"/>
              <a:pathLst>
                <a:path extrusionOk="0" h="5134102" w="7474966">
                  <a:moveTo>
                    <a:pt x="6731" y="0"/>
                  </a:moveTo>
                  <a:lnTo>
                    <a:pt x="7468235" y="0"/>
                  </a:lnTo>
                  <a:cubicBezTo>
                    <a:pt x="7471918" y="0"/>
                    <a:pt x="7474966" y="3048"/>
                    <a:pt x="7474966" y="6731"/>
                  </a:cubicBezTo>
                  <a:lnTo>
                    <a:pt x="7474966" y="5127371"/>
                  </a:lnTo>
                  <a:cubicBezTo>
                    <a:pt x="7474966" y="5131054"/>
                    <a:pt x="7471918" y="5134102"/>
                    <a:pt x="7468235" y="5134102"/>
                  </a:cubicBezTo>
                  <a:lnTo>
                    <a:pt x="6731" y="5134102"/>
                  </a:lnTo>
                  <a:cubicBezTo>
                    <a:pt x="3048" y="5134102"/>
                    <a:pt x="0" y="5131054"/>
                    <a:pt x="0" y="5127371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5127371"/>
                  </a:lnTo>
                  <a:lnTo>
                    <a:pt x="6731" y="5127371"/>
                  </a:lnTo>
                  <a:lnTo>
                    <a:pt x="6731" y="5120640"/>
                  </a:lnTo>
                  <a:lnTo>
                    <a:pt x="7468235" y="5120640"/>
                  </a:lnTo>
                  <a:lnTo>
                    <a:pt x="7468235" y="5127371"/>
                  </a:lnTo>
                  <a:lnTo>
                    <a:pt x="7461503" y="5127371"/>
                  </a:lnTo>
                  <a:lnTo>
                    <a:pt x="7461503" y="6731"/>
                  </a:lnTo>
                  <a:lnTo>
                    <a:pt x="7468235" y="6731"/>
                  </a:lnTo>
                  <a:lnTo>
                    <a:pt x="7468235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E0E6F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" name="Google Shape;178;p28"/>
          <p:cNvGrpSpPr/>
          <p:nvPr/>
        </p:nvGrpSpPr>
        <p:grpSpPr>
          <a:xfrm>
            <a:off x="320673" y="1369481"/>
            <a:ext cx="2804445" cy="207549"/>
            <a:chOff x="0" y="0"/>
            <a:chExt cx="7478522" cy="553466"/>
          </a:xfrm>
        </p:grpSpPr>
        <p:sp>
          <p:nvSpPr>
            <p:cNvPr id="179" name="Google Shape;179;p28"/>
            <p:cNvSpPr/>
            <p:nvPr/>
          </p:nvSpPr>
          <p:spPr>
            <a:xfrm>
              <a:off x="8509" y="8509"/>
              <a:ext cx="7461504" cy="536448"/>
            </a:xfrm>
            <a:custGeom>
              <a:rect b="b" l="l" r="r" t="t"/>
              <a:pathLst>
                <a:path extrusionOk="0" h="536448" w="7461504">
                  <a:moveTo>
                    <a:pt x="0" y="0"/>
                  </a:moveTo>
                  <a:lnTo>
                    <a:pt x="7461504" y="0"/>
                  </a:lnTo>
                  <a:lnTo>
                    <a:pt x="746150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180" name="Google Shape;180;p28"/>
            <p:cNvSpPr/>
            <p:nvPr/>
          </p:nvSpPr>
          <p:spPr>
            <a:xfrm>
              <a:off x="0" y="0"/>
              <a:ext cx="7478522" cy="553466"/>
            </a:xfrm>
            <a:custGeom>
              <a:rect b="b" l="l" r="r" t="t"/>
              <a:pathLst>
                <a:path extrusionOk="0" h="553466" w="7478522">
                  <a:moveTo>
                    <a:pt x="8509" y="0"/>
                  </a:moveTo>
                  <a:lnTo>
                    <a:pt x="7470013" y="0"/>
                  </a:lnTo>
                  <a:cubicBezTo>
                    <a:pt x="7474712" y="0"/>
                    <a:pt x="7478522" y="3810"/>
                    <a:pt x="7478522" y="8509"/>
                  </a:cubicBezTo>
                  <a:lnTo>
                    <a:pt x="7478522" y="544957"/>
                  </a:lnTo>
                  <a:cubicBezTo>
                    <a:pt x="7478522" y="549656"/>
                    <a:pt x="7474712" y="553466"/>
                    <a:pt x="7470013" y="553466"/>
                  </a:cubicBezTo>
                  <a:lnTo>
                    <a:pt x="8509" y="553466"/>
                  </a:lnTo>
                  <a:cubicBezTo>
                    <a:pt x="3810" y="553466"/>
                    <a:pt x="0" y="549656"/>
                    <a:pt x="0" y="5449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44957"/>
                  </a:lnTo>
                  <a:lnTo>
                    <a:pt x="8509" y="544957"/>
                  </a:lnTo>
                  <a:lnTo>
                    <a:pt x="8509" y="536448"/>
                  </a:lnTo>
                  <a:lnTo>
                    <a:pt x="7470013" y="536448"/>
                  </a:lnTo>
                  <a:lnTo>
                    <a:pt x="7470013" y="544957"/>
                  </a:lnTo>
                  <a:lnTo>
                    <a:pt x="7461504" y="544957"/>
                  </a:lnTo>
                  <a:lnTo>
                    <a:pt x="7461504" y="8509"/>
                  </a:lnTo>
                  <a:lnTo>
                    <a:pt x="7470013" y="8509"/>
                  </a:lnTo>
                  <a:lnTo>
                    <a:pt x="74700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" name="Google Shape;181;p28"/>
          <p:cNvGrpSpPr/>
          <p:nvPr/>
        </p:nvGrpSpPr>
        <p:grpSpPr>
          <a:xfrm>
            <a:off x="439546" y="1625512"/>
            <a:ext cx="298942" cy="298989"/>
            <a:chOff x="0" y="0"/>
            <a:chExt cx="797179" cy="797306"/>
          </a:xfrm>
        </p:grpSpPr>
        <p:sp>
          <p:nvSpPr>
            <p:cNvPr id="182" name="Google Shape;182;p28"/>
            <p:cNvSpPr/>
            <p:nvPr/>
          </p:nvSpPr>
          <p:spPr>
            <a:xfrm>
              <a:off x="8509" y="8509"/>
              <a:ext cx="780288" cy="780288"/>
            </a:xfrm>
            <a:custGeom>
              <a:rect b="b" l="l" r="r" t="t"/>
              <a:pathLst>
                <a:path extrusionOk="0"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625"/>
                    <a:pt x="780288" y="390144"/>
                  </a:cubicBezTo>
                  <a:cubicBezTo>
                    <a:pt x="780288" y="605663"/>
                    <a:pt x="605536" y="780288"/>
                    <a:pt x="390144" y="780288"/>
                  </a:cubicBezTo>
                  <a:cubicBezTo>
                    <a:pt x="174752" y="780288"/>
                    <a:pt x="0" y="605536"/>
                    <a:pt x="0" y="390144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8"/>
            <p:cNvSpPr/>
            <p:nvPr/>
          </p:nvSpPr>
          <p:spPr>
            <a:xfrm>
              <a:off x="0" y="0"/>
              <a:ext cx="797179" cy="797306"/>
            </a:xfrm>
            <a:custGeom>
              <a:rect b="b" l="l" r="r" t="t"/>
              <a:pathLst>
                <a:path extrusionOk="0" h="797306" w="797179">
                  <a:moveTo>
                    <a:pt x="0" y="398653"/>
                  </a:moveTo>
                  <a:cubicBezTo>
                    <a:pt x="0" y="178435"/>
                    <a:pt x="178435" y="0"/>
                    <a:pt x="398653" y="0"/>
                  </a:cubicBezTo>
                  <a:lnTo>
                    <a:pt x="398653" y="8509"/>
                  </a:lnTo>
                  <a:lnTo>
                    <a:pt x="398653" y="0"/>
                  </a:lnTo>
                  <a:cubicBezTo>
                    <a:pt x="618744" y="0"/>
                    <a:pt x="797179" y="178435"/>
                    <a:pt x="797179" y="398653"/>
                  </a:cubicBezTo>
                  <a:cubicBezTo>
                    <a:pt x="797179" y="618744"/>
                    <a:pt x="618744" y="797306"/>
                    <a:pt x="398526" y="797306"/>
                  </a:cubicBezTo>
                  <a:lnTo>
                    <a:pt x="398526" y="788797"/>
                  </a:lnTo>
                  <a:lnTo>
                    <a:pt x="398526" y="797306"/>
                  </a:lnTo>
                  <a:cubicBezTo>
                    <a:pt x="178435" y="797179"/>
                    <a:pt x="0" y="618744"/>
                    <a:pt x="0" y="398653"/>
                  </a:cubicBezTo>
                  <a:lnTo>
                    <a:pt x="8509" y="398653"/>
                  </a:lnTo>
                  <a:lnTo>
                    <a:pt x="14986" y="404114"/>
                  </a:lnTo>
                  <a:cubicBezTo>
                    <a:pt x="12700" y="406781"/>
                    <a:pt x="8890" y="407797"/>
                    <a:pt x="5588" y="406654"/>
                  </a:cubicBezTo>
                  <a:cubicBezTo>
                    <a:pt x="2286" y="405511"/>
                    <a:pt x="0" y="402209"/>
                    <a:pt x="0" y="398653"/>
                  </a:cubicBezTo>
                  <a:moveTo>
                    <a:pt x="16891" y="398653"/>
                  </a:moveTo>
                  <a:lnTo>
                    <a:pt x="8509" y="398653"/>
                  </a:lnTo>
                  <a:lnTo>
                    <a:pt x="2032" y="393192"/>
                  </a:lnTo>
                  <a:cubicBezTo>
                    <a:pt x="4318" y="390525"/>
                    <a:pt x="8128" y="389509"/>
                    <a:pt x="11430" y="390652"/>
                  </a:cubicBezTo>
                  <a:cubicBezTo>
                    <a:pt x="14732" y="391795"/>
                    <a:pt x="17018" y="395097"/>
                    <a:pt x="17018" y="398653"/>
                  </a:cubicBezTo>
                  <a:cubicBezTo>
                    <a:pt x="17018" y="609473"/>
                    <a:pt x="187960" y="780288"/>
                    <a:pt x="398653" y="780288"/>
                  </a:cubicBezTo>
                  <a:cubicBezTo>
                    <a:pt x="609473" y="780288"/>
                    <a:pt x="780288" y="609346"/>
                    <a:pt x="780288" y="398653"/>
                  </a:cubicBezTo>
                  <a:lnTo>
                    <a:pt x="788797" y="398653"/>
                  </a:lnTo>
                  <a:lnTo>
                    <a:pt x="780288" y="398653"/>
                  </a:lnTo>
                  <a:cubicBezTo>
                    <a:pt x="780288" y="187833"/>
                    <a:pt x="609346" y="17018"/>
                    <a:pt x="398653" y="17018"/>
                  </a:cubicBezTo>
                  <a:lnTo>
                    <a:pt x="398653" y="8509"/>
                  </a:lnTo>
                  <a:lnTo>
                    <a:pt x="398653" y="17018"/>
                  </a:lnTo>
                  <a:cubicBezTo>
                    <a:pt x="187833" y="17018"/>
                    <a:pt x="17018" y="187960"/>
                    <a:pt x="17018" y="398653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" name="Google Shape;184;p28"/>
          <p:cNvGrpSpPr/>
          <p:nvPr/>
        </p:nvGrpSpPr>
        <p:grpSpPr>
          <a:xfrm>
            <a:off x="462406" y="1674257"/>
            <a:ext cx="253241" cy="187181"/>
            <a:chOff x="0" y="-38100"/>
            <a:chExt cx="675310" cy="499149"/>
          </a:xfrm>
        </p:grpSpPr>
        <p:sp>
          <p:nvSpPr>
            <p:cNvPr id="185" name="Google Shape;185;p28"/>
            <p:cNvSpPr/>
            <p:nvPr/>
          </p:nvSpPr>
          <p:spPr>
            <a:xfrm>
              <a:off x="0" y="0"/>
              <a:ext cx="675304" cy="461049"/>
            </a:xfrm>
            <a:custGeom>
              <a:rect b="b" l="l" r="r" t="t"/>
              <a:pathLst>
                <a:path extrusionOk="0" h="461049" w="675304">
                  <a:moveTo>
                    <a:pt x="0" y="0"/>
                  </a:moveTo>
                  <a:lnTo>
                    <a:pt x="675304" y="0"/>
                  </a:lnTo>
                  <a:lnTo>
                    <a:pt x="675304" y="461049"/>
                  </a:lnTo>
                  <a:lnTo>
                    <a:pt x="0" y="46104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7594" r="-37596" t="0"/>
              </a:stretch>
            </a:blipFill>
            <a:ln>
              <a:noFill/>
            </a:ln>
          </p:spPr>
        </p:sp>
        <p:sp>
          <p:nvSpPr>
            <p:cNvPr id="186" name="Google Shape;186;p28"/>
            <p:cNvSpPr txBox="1"/>
            <p:nvPr/>
          </p:nvSpPr>
          <p:spPr>
            <a:xfrm>
              <a:off x="0" y="-38100"/>
              <a:ext cx="675310" cy="499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700"/>
            </a:p>
          </p:txBody>
        </p:sp>
      </p:grpSp>
      <p:grpSp>
        <p:nvGrpSpPr>
          <p:cNvPr id="187" name="Google Shape;187;p28"/>
          <p:cNvGrpSpPr/>
          <p:nvPr/>
        </p:nvGrpSpPr>
        <p:grpSpPr>
          <a:xfrm>
            <a:off x="796161" y="1613049"/>
            <a:ext cx="2237486" cy="145008"/>
            <a:chOff x="0" y="-38100"/>
            <a:chExt cx="5966629" cy="386690"/>
          </a:xfrm>
        </p:grpSpPr>
        <p:sp>
          <p:nvSpPr>
            <p:cNvPr id="188" name="Google Shape;188;p28"/>
            <p:cNvSpPr/>
            <p:nvPr/>
          </p:nvSpPr>
          <p:spPr>
            <a:xfrm>
              <a:off x="0" y="0"/>
              <a:ext cx="5966629" cy="348589"/>
            </a:xfrm>
            <a:custGeom>
              <a:rect b="b" l="l" r="r" t="t"/>
              <a:pathLst>
                <a:path extrusionOk="0" h="348589" w="5966629">
                  <a:moveTo>
                    <a:pt x="0" y="0"/>
                  </a:moveTo>
                  <a:lnTo>
                    <a:pt x="5966629" y="0"/>
                  </a:lnTo>
                  <a:lnTo>
                    <a:pt x="5966629" y="348589"/>
                  </a:lnTo>
                  <a:lnTo>
                    <a:pt x="0" y="34858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3511" l="0" r="0" t="-283511"/>
              </a:stretch>
            </a:blipFill>
            <a:ln>
              <a:noFill/>
            </a:ln>
          </p:spPr>
        </p:sp>
        <p:sp>
          <p:nvSpPr>
            <p:cNvPr id="189" name="Google Shape;189;p28"/>
            <p:cNvSpPr txBox="1"/>
            <p:nvPr/>
          </p:nvSpPr>
          <p:spPr>
            <a:xfrm>
              <a:off x="0" y="-38100"/>
              <a:ext cx="5966625" cy="386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 u="none" cap="none" strike="noStrike">
                  <a:solidFill>
                    <a:srgbClr val="1565C0"/>
                  </a:solidFill>
                  <a:latin typeface="Calibri"/>
                  <a:ea typeface="Calibri"/>
                  <a:cs typeface="Calibri"/>
                  <a:sym typeface="Calibri"/>
                </a:rPr>
                <a:t>Live Heterogeneous Graph</a:t>
              </a:r>
              <a:endParaRPr sz="700"/>
            </a:p>
          </p:txBody>
        </p:sp>
      </p:grpSp>
      <p:grpSp>
        <p:nvGrpSpPr>
          <p:cNvPr id="190" name="Google Shape;190;p28"/>
          <p:cNvGrpSpPr/>
          <p:nvPr/>
        </p:nvGrpSpPr>
        <p:grpSpPr>
          <a:xfrm>
            <a:off x="796161" y="1784042"/>
            <a:ext cx="2237486" cy="113916"/>
            <a:chOff x="0" y="-38100"/>
            <a:chExt cx="5966629" cy="303776"/>
          </a:xfrm>
        </p:grpSpPr>
        <p:sp>
          <p:nvSpPr>
            <p:cNvPr id="191" name="Google Shape;191;p28"/>
            <p:cNvSpPr/>
            <p:nvPr/>
          </p:nvSpPr>
          <p:spPr>
            <a:xfrm>
              <a:off x="0" y="0"/>
              <a:ext cx="5966629" cy="265676"/>
            </a:xfrm>
            <a:custGeom>
              <a:rect b="b" l="l" r="r" t="t"/>
              <a:pathLst>
                <a:path extrusionOk="0" h="265676" w="5966629">
                  <a:moveTo>
                    <a:pt x="0" y="0"/>
                  </a:moveTo>
                  <a:lnTo>
                    <a:pt x="5966629" y="0"/>
                  </a:lnTo>
                  <a:lnTo>
                    <a:pt x="5966629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87598" l="0" r="0" t="-387598"/>
              </a:stretch>
            </a:blipFill>
            <a:ln>
              <a:noFill/>
            </a:ln>
          </p:spPr>
        </p:sp>
        <p:sp>
          <p:nvSpPr>
            <p:cNvPr id="192" name="Google Shape;192;p28"/>
            <p:cNvSpPr txBox="1"/>
            <p:nvPr/>
          </p:nvSpPr>
          <p:spPr>
            <a:xfrm>
              <a:off x="0" y="-38100"/>
              <a:ext cx="5966625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GB" sz="800" u="none" cap="none" strike="noStrike">
                  <a:solidFill>
                    <a:srgbClr val="78909C"/>
                  </a:solidFill>
                  <a:latin typeface="Calibri"/>
                  <a:ea typeface="Calibri"/>
                  <a:cs typeface="Calibri"/>
                  <a:sym typeface="Calibri"/>
                </a:rPr>
                <a:t>vs. overnight batch snapshots</a:t>
              </a:r>
              <a:endParaRPr sz="700"/>
            </a:p>
          </p:txBody>
        </p:sp>
      </p:grpSp>
      <p:sp>
        <p:nvSpPr>
          <p:cNvPr id="193" name="Google Shape;193;p28"/>
          <p:cNvSpPr txBox="1"/>
          <p:nvPr/>
        </p:nvSpPr>
        <p:spPr>
          <a:xfrm>
            <a:off x="485265" y="1967651"/>
            <a:ext cx="2475233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37474F"/>
                </a:solidFill>
                <a:latin typeface="Calibri"/>
                <a:ea typeface="Calibri"/>
                <a:cs typeface="Calibri"/>
                <a:sym typeface="Calibri"/>
              </a:rPr>
              <a:t>Pathway streaming engine updates the fund flow graph on every transaction. Fraud rings detected at 10:00 AM are blocked by 10:00:01 AM — not the next business day. Nodes: accounts, merchants, branches. Edges carry amount, timestamp, channel, and branch metadata.</a:t>
            </a:r>
            <a:endParaRPr sz="700"/>
          </a:p>
        </p:txBody>
      </p:sp>
      <p:grpSp>
        <p:nvGrpSpPr>
          <p:cNvPr id="194" name="Google Shape;194;p28"/>
          <p:cNvGrpSpPr/>
          <p:nvPr/>
        </p:nvGrpSpPr>
        <p:grpSpPr>
          <a:xfrm>
            <a:off x="441136" y="2742672"/>
            <a:ext cx="2563463" cy="204311"/>
            <a:chOff x="0" y="0"/>
            <a:chExt cx="6835901" cy="544830"/>
          </a:xfrm>
        </p:grpSpPr>
        <p:sp>
          <p:nvSpPr>
            <p:cNvPr id="195" name="Google Shape;195;p28"/>
            <p:cNvSpPr/>
            <p:nvPr/>
          </p:nvSpPr>
          <p:spPr>
            <a:xfrm>
              <a:off x="4191" y="4191"/>
              <a:ext cx="6827520" cy="536448"/>
            </a:xfrm>
            <a:custGeom>
              <a:rect b="b" l="l" r="r" t="t"/>
              <a:pathLst>
                <a:path extrusionOk="0" h="53644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196" name="Google Shape;196;p28"/>
            <p:cNvSpPr/>
            <p:nvPr/>
          </p:nvSpPr>
          <p:spPr>
            <a:xfrm>
              <a:off x="0" y="0"/>
              <a:ext cx="6835901" cy="544830"/>
            </a:xfrm>
            <a:custGeom>
              <a:rect b="b" l="l" r="r" t="t"/>
              <a:pathLst>
                <a:path extrusionOk="0" h="544830" w="6835901">
                  <a:moveTo>
                    <a:pt x="4191" y="0"/>
                  </a:moveTo>
                  <a:lnTo>
                    <a:pt x="6831711" y="0"/>
                  </a:lnTo>
                  <a:cubicBezTo>
                    <a:pt x="6833997" y="0"/>
                    <a:pt x="6835901" y="1905"/>
                    <a:pt x="6835901" y="4191"/>
                  </a:cubicBezTo>
                  <a:lnTo>
                    <a:pt x="6835901" y="540639"/>
                  </a:lnTo>
                  <a:cubicBezTo>
                    <a:pt x="6835901" y="542925"/>
                    <a:pt x="6833997" y="544830"/>
                    <a:pt x="6831711" y="544830"/>
                  </a:cubicBezTo>
                  <a:lnTo>
                    <a:pt x="4191" y="544830"/>
                  </a:lnTo>
                  <a:cubicBezTo>
                    <a:pt x="1905" y="544830"/>
                    <a:pt x="0" y="542925"/>
                    <a:pt x="0" y="540639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540639"/>
                  </a:lnTo>
                  <a:lnTo>
                    <a:pt x="4191" y="540639"/>
                  </a:lnTo>
                  <a:lnTo>
                    <a:pt x="4191" y="536448"/>
                  </a:lnTo>
                  <a:lnTo>
                    <a:pt x="6831711" y="536448"/>
                  </a:lnTo>
                  <a:lnTo>
                    <a:pt x="6831711" y="540639"/>
                  </a:lnTo>
                  <a:lnTo>
                    <a:pt x="6827520" y="540639"/>
                  </a:lnTo>
                  <a:lnTo>
                    <a:pt x="6827520" y="4191"/>
                  </a:lnTo>
                  <a:lnTo>
                    <a:pt x="6831711" y="4191"/>
                  </a:lnTo>
                  <a:lnTo>
                    <a:pt x="683171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" name="Google Shape;197;p28"/>
          <p:cNvGrpSpPr/>
          <p:nvPr/>
        </p:nvGrpSpPr>
        <p:grpSpPr>
          <a:xfrm>
            <a:off x="503554" y="2783610"/>
            <a:ext cx="2475233" cy="111747"/>
            <a:chOff x="0" y="-28575"/>
            <a:chExt cx="6600622" cy="297993"/>
          </a:xfrm>
        </p:grpSpPr>
        <p:sp>
          <p:nvSpPr>
            <p:cNvPr id="198" name="Google Shape;198;p28"/>
            <p:cNvSpPr/>
            <p:nvPr/>
          </p:nvSpPr>
          <p:spPr>
            <a:xfrm>
              <a:off x="0" y="0"/>
              <a:ext cx="6600619" cy="269413"/>
            </a:xfrm>
            <a:custGeom>
              <a:rect b="b" l="l" r="r" t="t"/>
              <a:pathLst>
                <a:path extrusionOk="0" h="269413" w="6600619">
                  <a:moveTo>
                    <a:pt x="0" y="0"/>
                  </a:moveTo>
                  <a:lnTo>
                    <a:pt x="6600619" y="0"/>
                  </a:lnTo>
                  <a:lnTo>
                    <a:pt x="6600619" y="269413"/>
                  </a:lnTo>
                  <a:lnTo>
                    <a:pt x="0" y="26941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27373" l="0" r="0" t="-427373"/>
              </a:stretch>
            </a:blipFill>
            <a:ln>
              <a:noFill/>
            </a:ln>
          </p:spPr>
        </p:sp>
        <p:sp>
          <p:nvSpPr>
            <p:cNvPr id="199" name="Google Shape;199;p28"/>
            <p:cNvSpPr txBox="1"/>
            <p:nvPr/>
          </p:nvSpPr>
          <p:spPr>
            <a:xfrm>
              <a:off x="0" y="-28575"/>
              <a:ext cx="6600622" cy="29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9E9E9E"/>
                  </a:solidFill>
                  <a:latin typeface="Calibri"/>
                  <a:ea typeface="Calibri"/>
                  <a:cs typeface="Calibri"/>
                  <a:sym typeface="Calibri"/>
                </a:rPr>
                <a:t>✗ Usual: T-1 batch snapshot</a:t>
              </a:r>
              <a:endParaRPr sz="700"/>
            </a:p>
          </p:txBody>
        </p:sp>
      </p:grpSp>
      <p:grpSp>
        <p:nvGrpSpPr>
          <p:cNvPr id="200" name="Google Shape;200;p28"/>
          <p:cNvGrpSpPr/>
          <p:nvPr/>
        </p:nvGrpSpPr>
        <p:grpSpPr>
          <a:xfrm>
            <a:off x="441136" y="2998704"/>
            <a:ext cx="2563463" cy="204311"/>
            <a:chOff x="0" y="0"/>
            <a:chExt cx="6835901" cy="544830"/>
          </a:xfrm>
        </p:grpSpPr>
        <p:sp>
          <p:nvSpPr>
            <p:cNvPr id="201" name="Google Shape;201;p28"/>
            <p:cNvSpPr/>
            <p:nvPr/>
          </p:nvSpPr>
          <p:spPr>
            <a:xfrm>
              <a:off x="4191" y="4191"/>
              <a:ext cx="6827520" cy="536448"/>
            </a:xfrm>
            <a:custGeom>
              <a:rect b="b" l="l" r="r" t="t"/>
              <a:pathLst>
                <a:path extrusionOk="0" h="53644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E3F2FD"/>
            </a:solidFill>
            <a:ln>
              <a:noFill/>
            </a:ln>
          </p:spPr>
        </p:sp>
        <p:sp>
          <p:nvSpPr>
            <p:cNvPr id="202" name="Google Shape;202;p28"/>
            <p:cNvSpPr/>
            <p:nvPr/>
          </p:nvSpPr>
          <p:spPr>
            <a:xfrm>
              <a:off x="0" y="0"/>
              <a:ext cx="6835901" cy="544830"/>
            </a:xfrm>
            <a:custGeom>
              <a:rect b="b" l="l" r="r" t="t"/>
              <a:pathLst>
                <a:path extrusionOk="0" h="544830" w="6835901">
                  <a:moveTo>
                    <a:pt x="4191" y="0"/>
                  </a:moveTo>
                  <a:lnTo>
                    <a:pt x="6831711" y="0"/>
                  </a:lnTo>
                  <a:cubicBezTo>
                    <a:pt x="6833997" y="0"/>
                    <a:pt x="6835901" y="1905"/>
                    <a:pt x="6835901" y="4191"/>
                  </a:cubicBezTo>
                  <a:lnTo>
                    <a:pt x="6835901" y="540639"/>
                  </a:lnTo>
                  <a:cubicBezTo>
                    <a:pt x="6835901" y="542925"/>
                    <a:pt x="6833997" y="544830"/>
                    <a:pt x="6831711" y="544830"/>
                  </a:cubicBezTo>
                  <a:lnTo>
                    <a:pt x="4191" y="544830"/>
                  </a:lnTo>
                  <a:cubicBezTo>
                    <a:pt x="1905" y="544830"/>
                    <a:pt x="0" y="542925"/>
                    <a:pt x="0" y="540639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540639"/>
                  </a:lnTo>
                  <a:lnTo>
                    <a:pt x="4191" y="540639"/>
                  </a:lnTo>
                  <a:lnTo>
                    <a:pt x="4191" y="536448"/>
                  </a:lnTo>
                  <a:lnTo>
                    <a:pt x="6831711" y="536448"/>
                  </a:lnTo>
                  <a:lnTo>
                    <a:pt x="6831711" y="540639"/>
                  </a:lnTo>
                  <a:lnTo>
                    <a:pt x="6827520" y="540639"/>
                  </a:lnTo>
                  <a:lnTo>
                    <a:pt x="6827520" y="4191"/>
                  </a:lnTo>
                  <a:lnTo>
                    <a:pt x="6831711" y="4191"/>
                  </a:lnTo>
                  <a:lnTo>
                    <a:pt x="683171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" name="Google Shape;203;p28"/>
          <p:cNvGrpSpPr/>
          <p:nvPr/>
        </p:nvGrpSpPr>
        <p:grpSpPr>
          <a:xfrm>
            <a:off x="485266" y="3007645"/>
            <a:ext cx="2530093" cy="177959"/>
            <a:chOff x="0" y="-28575"/>
            <a:chExt cx="6600622" cy="464268"/>
          </a:xfrm>
        </p:grpSpPr>
        <p:sp>
          <p:nvSpPr>
            <p:cNvPr id="204" name="Google Shape;204;p28"/>
            <p:cNvSpPr/>
            <p:nvPr/>
          </p:nvSpPr>
          <p:spPr>
            <a:xfrm>
              <a:off x="0" y="0"/>
              <a:ext cx="6600619" cy="435693"/>
            </a:xfrm>
            <a:custGeom>
              <a:rect b="b" l="l" r="r" t="t"/>
              <a:pathLst>
                <a:path extrusionOk="0" h="435693" w="6600619">
                  <a:moveTo>
                    <a:pt x="0" y="0"/>
                  </a:moveTo>
                  <a:lnTo>
                    <a:pt x="6600619" y="0"/>
                  </a:lnTo>
                  <a:lnTo>
                    <a:pt x="6600619" y="435693"/>
                  </a:lnTo>
                  <a:lnTo>
                    <a:pt x="0" y="43569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1237" l="0" r="0" t="-259151"/>
              </a:stretch>
            </a:blipFill>
            <a:ln>
              <a:noFill/>
            </a:ln>
          </p:spPr>
        </p:sp>
        <p:sp>
          <p:nvSpPr>
            <p:cNvPr id="205" name="Google Shape;205;p28"/>
            <p:cNvSpPr txBox="1"/>
            <p:nvPr/>
          </p:nvSpPr>
          <p:spPr>
            <a:xfrm>
              <a:off x="0" y="-28575"/>
              <a:ext cx="6600622" cy="464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700" u="none" cap="none" strike="noStrike">
                  <a:solidFill>
                    <a:srgbClr val="1565C0"/>
                  </a:solidFill>
                  <a:latin typeface="Calibri"/>
                  <a:ea typeface="Calibri"/>
                  <a:cs typeface="Calibri"/>
                  <a:sym typeface="Calibri"/>
                </a:rPr>
                <a:t>✓ Rudra : &lt;200ms incremental</a:t>
              </a:r>
              <a:endParaRPr sz="700"/>
            </a:p>
          </p:txBody>
        </p:sp>
      </p:grpSp>
      <p:grpSp>
        <p:nvGrpSpPr>
          <p:cNvPr id="206" name="Google Shape;206;p28"/>
          <p:cNvGrpSpPr/>
          <p:nvPr/>
        </p:nvGrpSpPr>
        <p:grpSpPr>
          <a:xfrm>
            <a:off x="3174235" y="1370119"/>
            <a:ext cx="2803112" cy="1925288"/>
            <a:chOff x="0" y="0"/>
            <a:chExt cx="7474966" cy="5134102"/>
          </a:xfrm>
        </p:grpSpPr>
        <p:sp>
          <p:nvSpPr>
            <p:cNvPr id="207" name="Google Shape;207;p28"/>
            <p:cNvSpPr/>
            <p:nvPr/>
          </p:nvSpPr>
          <p:spPr>
            <a:xfrm>
              <a:off x="6731" y="6731"/>
              <a:ext cx="7461504" cy="5120640"/>
            </a:xfrm>
            <a:custGeom>
              <a:rect b="b" l="l" r="r" t="t"/>
              <a:pathLst>
                <a:path extrusionOk="0" h="5120640" w="7461504">
                  <a:moveTo>
                    <a:pt x="0" y="0"/>
                  </a:moveTo>
                  <a:lnTo>
                    <a:pt x="7461504" y="0"/>
                  </a:lnTo>
                  <a:lnTo>
                    <a:pt x="7461504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8" name="Google Shape;208;p28"/>
            <p:cNvSpPr/>
            <p:nvPr/>
          </p:nvSpPr>
          <p:spPr>
            <a:xfrm>
              <a:off x="0" y="0"/>
              <a:ext cx="7474966" cy="5134102"/>
            </a:xfrm>
            <a:custGeom>
              <a:rect b="b" l="l" r="r" t="t"/>
              <a:pathLst>
                <a:path extrusionOk="0" h="5134102" w="7474966">
                  <a:moveTo>
                    <a:pt x="6731" y="0"/>
                  </a:moveTo>
                  <a:lnTo>
                    <a:pt x="7468235" y="0"/>
                  </a:lnTo>
                  <a:cubicBezTo>
                    <a:pt x="7471918" y="0"/>
                    <a:pt x="7474966" y="3048"/>
                    <a:pt x="7474966" y="6731"/>
                  </a:cubicBezTo>
                  <a:lnTo>
                    <a:pt x="7474966" y="5127371"/>
                  </a:lnTo>
                  <a:cubicBezTo>
                    <a:pt x="7474966" y="5131054"/>
                    <a:pt x="7471918" y="5134102"/>
                    <a:pt x="7468235" y="5134102"/>
                  </a:cubicBezTo>
                  <a:lnTo>
                    <a:pt x="6731" y="5134102"/>
                  </a:lnTo>
                  <a:cubicBezTo>
                    <a:pt x="3048" y="5134102"/>
                    <a:pt x="0" y="5131054"/>
                    <a:pt x="0" y="5127371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5127371"/>
                  </a:lnTo>
                  <a:lnTo>
                    <a:pt x="6731" y="5127371"/>
                  </a:lnTo>
                  <a:lnTo>
                    <a:pt x="6731" y="5120640"/>
                  </a:lnTo>
                  <a:lnTo>
                    <a:pt x="7468235" y="5120640"/>
                  </a:lnTo>
                  <a:lnTo>
                    <a:pt x="7468235" y="5127371"/>
                  </a:lnTo>
                  <a:lnTo>
                    <a:pt x="7461503" y="5127371"/>
                  </a:lnTo>
                  <a:lnTo>
                    <a:pt x="7461503" y="6731"/>
                  </a:lnTo>
                  <a:lnTo>
                    <a:pt x="7468235" y="6731"/>
                  </a:lnTo>
                  <a:lnTo>
                    <a:pt x="7468235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E0E6F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" name="Google Shape;209;p28"/>
          <p:cNvGrpSpPr/>
          <p:nvPr/>
        </p:nvGrpSpPr>
        <p:grpSpPr>
          <a:xfrm>
            <a:off x="3173602" y="1369481"/>
            <a:ext cx="2804445" cy="207549"/>
            <a:chOff x="0" y="0"/>
            <a:chExt cx="7478522" cy="553466"/>
          </a:xfrm>
        </p:grpSpPr>
        <p:sp>
          <p:nvSpPr>
            <p:cNvPr id="210" name="Google Shape;210;p28"/>
            <p:cNvSpPr/>
            <p:nvPr/>
          </p:nvSpPr>
          <p:spPr>
            <a:xfrm>
              <a:off x="8509" y="8509"/>
              <a:ext cx="7461504" cy="536448"/>
            </a:xfrm>
            <a:custGeom>
              <a:rect b="b" l="l" r="r" t="t"/>
              <a:pathLst>
                <a:path extrusionOk="0" h="536448" w="7461504">
                  <a:moveTo>
                    <a:pt x="0" y="0"/>
                  </a:moveTo>
                  <a:lnTo>
                    <a:pt x="7461504" y="0"/>
                  </a:lnTo>
                  <a:lnTo>
                    <a:pt x="746150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F360C"/>
            </a:solidFill>
            <a:ln>
              <a:noFill/>
            </a:ln>
          </p:spPr>
        </p:sp>
        <p:sp>
          <p:nvSpPr>
            <p:cNvPr id="211" name="Google Shape;211;p28"/>
            <p:cNvSpPr/>
            <p:nvPr/>
          </p:nvSpPr>
          <p:spPr>
            <a:xfrm>
              <a:off x="0" y="0"/>
              <a:ext cx="7478522" cy="553466"/>
            </a:xfrm>
            <a:custGeom>
              <a:rect b="b" l="l" r="r" t="t"/>
              <a:pathLst>
                <a:path extrusionOk="0" h="553466" w="7478522">
                  <a:moveTo>
                    <a:pt x="8509" y="0"/>
                  </a:moveTo>
                  <a:lnTo>
                    <a:pt x="7470013" y="0"/>
                  </a:lnTo>
                  <a:cubicBezTo>
                    <a:pt x="7474712" y="0"/>
                    <a:pt x="7478522" y="3810"/>
                    <a:pt x="7478522" y="8509"/>
                  </a:cubicBezTo>
                  <a:lnTo>
                    <a:pt x="7478522" y="544957"/>
                  </a:lnTo>
                  <a:cubicBezTo>
                    <a:pt x="7478522" y="549656"/>
                    <a:pt x="7474712" y="553466"/>
                    <a:pt x="7470013" y="553466"/>
                  </a:cubicBezTo>
                  <a:lnTo>
                    <a:pt x="8509" y="553466"/>
                  </a:lnTo>
                  <a:cubicBezTo>
                    <a:pt x="3810" y="553466"/>
                    <a:pt x="0" y="549656"/>
                    <a:pt x="0" y="5449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44957"/>
                  </a:lnTo>
                  <a:lnTo>
                    <a:pt x="8509" y="544957"/>
                  </a:lnTo>
                  <a:lnTo>
                    <a:pt x="8509" y="536448"/>
                  </a:lnTo>
                  <a:lnTo>
                    <a:pt x="7470013" y="536448"/>
                  </a:lnTo>
                  <a:lnTo>
                    <a:pt x="7470013" y="544957"/>
                  </a:lnTo>
                  <a:lnTo>
                    <a:pt x="7461504" y="544957"/>
                  </a:lnTo>
                  <a:lnTo>
                    <a:pt x="7461504" y="8509"/>
                  </a:lnTo>
                  <a:lnTo>
                    <a:pt x="7470013" y="8509"/>
                  </a:lnTo>
                  <a:lnTo>
                    <a:pt x="74700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BF36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" name="Google Shape;212;p28"/>
          <p:cNvGrpSpPr/>
          <p:nvPr/>
        </p:nvGrpSpPr>
        <p:grpSpPr>
          <a:xfrm>
            <a:off x="3292474" y="1625512"/>
            <a:ext cx="298942" cy="298989"/>
            <a:chOff x="0" y="0"/>
            <a:chExt cx="797179" cy="797306"/>
          </a:xfrm>
        </p:grpSpPr>
        <p:sp>
          <p:nvSpPr>
            <p:cNvPr id="213" name="Google Shape;213;p28"/>
            <p:cNvSpPr/>
            <p:nvPr/>
          </p:nvSpPr>
          <p:spPr>
            <a:xfrm>
              <a:off x="8509" y="8509"/>
              <a:ext cx="780288" cy="780288"/>
            </a:xfrm>
            <a:custGeom>
              <a:rect b="b" l="l" r="r" t="t"/>
              <a:pathLst>
                <a:path extrusionOk="0"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625"/>
                    <a:pt x="780288" y="390144"/>
                  </a:cubicBezTo>
                  <a:cubicBezTo>
                    <a:pt x="780288" y="605663"/>
                    <a:pt x="605536" y="780288"/>
                    <a:pt x="390144" y="780288"/>
                  </a:cubicBezTo>
                  <a:cubicBezTo>
                    <a:pt x="174752" y="780288"/>
                    <a:pt x="0" y="605536"/>
                    <a:pt x="0" y="390144"/>
                  </a:cubicBezTo>
                  <a:close/>
                </a:path>
              </a:pathLst>
            </a:custGeom>
            <a:solidFill>
              <a:srgbClr val="BF36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0" y="0"/>
              <a:ext cx="797179" cy="797306"/>
            </a:xfrm>
            <a:custGeom>
              <a:rect b="b" l="l" r="r" t="t"/>
              <a:pathLst>
                <a:path extrusionOk="0" h="797306" w="797179">
                  <a:moveTo>
                    <a:pt x="0" y="398653"/>
                  </a:moveTo>
                  <a:cubicBezTo>
                    <a:pt x="0" y="178435"/>
                    <a:pt x="178435" y="0"/>
                    <a:pt x="398653" y="0"/>
                  </a:cubicBezTo>
                  <a:lnTo>
                    <a:pt x="398653" y="8509"/>
                  </a:lnTo>
                  <a:lnTo>
                    <a:pt x="398653" y="0"/>
                  </a:lnTo>
                  <a:cubicBezTo>
                    <a:pt x="618744" y="0"/>
                    <a:pt x="797179" y="178435"/>
                    <a:pt x="797179" y="398653"/>
                  </a:cubicBezTo>
                  <a:cubicBezTo>
                    <a:pt x="797179" y="618744"/>
                    <a:pt x="618744" y="797306"/>
                    <a:pt x="398526" y="797306"/>
                  </a:cubicBezTo>
                  <a:lnTo>
                    <a:pt x="398526" y="788797"/>
                  </a:lnTo>
                  <a:lnTo>
                    <a:pt x="398526" y="797306"/>
                  </a:lnTo>
                  <a:cubicBezTo>
                    <a:pt x="178435" y="797179"/>
                    <a:pt x="0" y="618744"/>
                    <a:pt x="0" y="398653"/>
                  </a:cubicBezTo>
                  <a:lnTo>
                    <a:pt x="8509" y="398653"/>
                  </a:lnTo>
                  <a:lnTo>
                    <a:pt x="14986" y="404114"/>
                  </a:lnTo>
                  <a:cubicBezTo>
                    <a:pt x="12700" y="406781"/>
                    <a:pt x="8890" y="407797"/>
                    <a:pt x="5588" y="406654"/>
                  </a:cubicBezTo>
                  <a:cubicBezTo>
                    <a:pt x="2286" y="405511"/>
                    <a:pt x="0" y="402209"/>
                    <a:pt x="0" y="398653"/>
                  </a:cubicBezTo>
                  <a:moveTo>
                    <a:pt x="16891" y="398653"/>
                  </a:moveTo>
                  <a:lnTo>
                    <a:pt x="8509" y="398653"/>
                  </a:lnTo>
                  <a:lnTo>
                    <a:pt x="2032" y="393192"/>
                  </a:lnTo>
                  <a:cubicBezTo>
                    <a:pt x="4318" y="390525"/>
                    <a:pt x="8128" y="389509"/>
                    <a:pt x="11430" y="390652"/>
                  </a:cubicBezTo>
                  <a:cubicBezTo>
                    <a:pt x="14732" y="391795"/>
                    <a:pt x="17018" y="395097"/>
                    <a:pt x="17018" y="398653"/>
                  </a:cubicBezTo>
                  <a:cubicBezTo>
                    <a:pt x="17018" y="609473"/>
                    <a:pt x="187960" y="780288"/>
                    <a:pt x="398653" y="780288"/>
                  </a:cubicBezTo>
                  <a:cubicBezTo>
                    <a:pt x="609473" y="780288"/>
                    <a:pt x="780288" y="609346"/>
                    <a:pt x="780288" y="398653"/>
                  </a:cubicBezTo>
                  <a:lnTo>
                    <a:pt x="788797" y="398653"/>
                  </a:lnTo>
                  <a:lnTo>
                    <a:pt x="780288" y="398653"/>
                  </a:lnTo>
                  <a:cubicBezTo>
                    <a:pt x="780288" y="187833"/>
                    <a:pt x="609346" y="17018"/>
                    <a:pt x="398653" y="17018"/>
                  </a:cubicBezTo>
                  <a:lnTo>
                    <a:pt x="398653" y="8509"/>
                  </a:lnTo>
                  <a:lnTo>
                    <a:pt x="398653" y="17018"/>
                  </a:lnTo>
                  <a:cubicBezTo>
                    <a:pt x="187833" y="17018"/>
                    <a:pt x="17018" y="187960"/>
                    <a:pt x="17018" y="398653"/>
                  </a:cubicBezTo>
                  <a:close/>
                </a:path>
              </a:pathLst>
            </a:custGeom>
            <a:solidFill>
              <a:srgbClr val="BF36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28"/>
          <p:cNvGrpSpPr/>
          <p:nvPr/>
        </p:nvGrpSpPr>
        <p:grpSpPr>
          <a:xfrm>
            <a:off x="3315334" y="1674257"/>
            <a:ext cx="253241" cy="187181"/>
            <a:chOff x="0" y="-38100"/>
            <a:chExt cx="675310" cy="499149"/>
          </a:xfrm>
        </p:grpSpPr>
        <p:sp>
          <p:nvSpPr>
            <p:cNvPr id="216" name="Google Shape;216;p28"/>
            <p:cNvSpPr/>
            <p:nvPr/>
          </p:nvSpPr>
          <p:spPr>
            <a:xfrm>
              <a:off x="0" y="0"/>
              <a:ext cx="675305" cy="461049"/>
            </a:xfrm>
            <a:custGeom>
              <a:rect b="b" l="l" r="r" t="t"/>
              <a:pathLst>
                <a:path extrusionOk="0" h="461049" w="675305">
                  <a:moveTo>
                    <a:pt x="0" y="0"/>
                  </a:moveTo>
                  <a:lnTo>
                    <a:pt x="675305" y="0"/>
                  </a:lnTo>
                  <a:lnTo>
                    <a:pt x="675305" y="461049"/>
                  </a:lnTo>
                  <a:lnTo>
                    <a:pt x="0" y="46104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7594" r="-37596" t="0"/>
              </a:stretch>
            </a:blipFill>
            <a:ln>
              <a:noFill/>
            </a:ln>
          </p:spPr>
        </p:sp>
        <p:sp>
          <p:nvSpPr>
            <p:cNvPr id="217" name="Google Shape;217;p28"/>
            <p:cNvSpPr txBox="1"/>
            <p:nvPr/>
          </p:nvSpPr>
          <p:spPr>
            <a:xfrm>
              <a:off x="0" y="-38100"/>
              <a:ext cx="675310" cy="499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700"/>
            </a:p>
          </p:txBody>
        </p:sp>
      </p:grpSp>
      <p:grpSp>
        <p:nvGrpSpPr>
          <p:cNvPr id="218" name="Google Shape;218;p28"/>
          <p:cNvGrpSpPr/>
          <p:nvPr/>
        </p:nvGrpSpPr>
        <p:grpSpPr>
          <a:xfrm>
            <a:off x="3649089" y="1613049"/>
            <a:ext cx="2237489" cy="145008"/>
            <a:chOff x="0" y="-38100"/>
            <a:chExt cx="5966638" cy="386690"/>
          </a:xfrm>
        </p:grpSpPr>
        <p:sp>
          <p:nvSpPr>
            <p:cNvPr id="219" name="Google Shape;219;p28"/>
            <p:cNvSpPr/>
            <p:nvPr/>
          </p:nvSpPr>
          <p:spPr>
            <a:xfrm>
              <a:off x="0" y="0"/>
              <a:ext cx="5966632" cy="348589"/>
            </a:xfrm>
            <a:custGeom>
              <a:rect b="b" l="l" r="r" t="t"/>
              <a:pathLst>
                <a:path extrusionOk="0" h="348589" w="5966632">
                  <a:moveTo>
                    <a:pt x="0" y="0"/>
                  </a:moveTo>
                  <a:lnTo>
                    <a:pt x="5966632" y="0"/>
                  </a:lnTo>
                  <a:lnTo>
                    <a:pt x="5966632" y="348589"/>
                  </a:lnTo>
                  <a:lnTo>
                    <a:pt x="0" y="34858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3511" l="0" r="0" t="-283511"/>
              </a:stretch>
            </a:blipFill>
            <a:ln>
              <a:noFill/>
            </a:ln>
          </p:spPr>
        </p:sp>
        <p:sp>
          <p:nvSpPr>
            <p:cNvPr id="220" name="Google Shape;220;p28"/>
            <p:cNvSpPr txBox="1"/>
            <p:nvPr/>
          </p:nvSpPr>
          <p:spPr>
            <a:xfrm>
              <a:off x="0" y="-38100"/>
              <a:ext cx="5966638" cy="386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 u="none" cap="none" strike="noStrike">
                  <a:solidFill>
                    <a:srgbClr val="BF360C"/>
                  </a:solidFill>
                  <a:latin typeface="Calibri"/>
                  <a:ea typeface="Calibri"/>
                  <a:cs typeface="Calibri"/>
                  <a:sym typeface="Calibri"/>
                </a:rPr>
                <a:t>5-Pattern Parallel Detector</a:t>
              </a:r>
              <a:endParaRPr sz="700"/>
            </a:p>
          </p:txBody>
        </p:sp>
      </p:grpSp>
      <p:grpSp>
        <p:nvGrpSpPr>
          <p:cNvPr id="221" name="Google Shape;221;p28"/>
          <p:cNvGrpSpPr/>
          <p:nvPr/>
        </p:nvGrpSpPr>
        <p:grpSpPr>
          <a:xfrm>
            <a:off x="3649089" y="1784042"/>
            <a:ext cx="2237489" cy="113916"/>
            <a:chOff x="0" y="-38100"/>
            <a:chExt cx="5966638" cy="303776"/>
          </a:xfrm>
        </p:grpSpPr>
        <p:sp>
          <p:nvSpPr>
            <p:cNvPr id="222" name="Google Shape;222;p28"/>
            <p:cNvSpPr/>
            <p:nvPr/>
          </p:nvSpPr>
          <p:spPr>
            <a:xfrm>
              <a:off x="0" y="0"/>
              <a:ext cx="5966632" cy="265676"/>
            </a:xfrm>
            <a:custGeom>
              <a:rect b="b" l="l" r="r" t="t"/>
              <a:pathLst>
                <a:path extrusionOk="0" h="265676" w="5966632">
                  <a:moveTo>
                    <a:pt x="0" y="0"/>
                  </a:moveTo>
                  <a:lnTo>
                    <a:pt x="5966632" y="0"/>
                  </a:lnTo>
                  <a:lnTo>
                    <a:pt x="5966632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87598" l="0" r="0" t="-387598"/>
              </a:stretch>
            </a:blipFill>
            <a:ln>
              <a:noFill/>
            </a:ln>
          </p:spPr>
        </p:sp>
        <p:sp>
          <p:nvSpPr>
            <p:cNvPr id="223" name="Google Shape;223;p28"/>
            <p:cNvSpPr txBox="1"/>
            <p:nvPr/>
          </p:nvSpPr>
          <p:spPr>
            <a:xfrm>
              <a:off x="0" y="-38100"/>
              <a:ext cx="5966638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GB" sz="800" u="none" cap="none" strike="noStrike">
                  <a:solidFill>
                    <a:srgbClr val="78909C"/>
                  </a:solidFill>
                  <a:latin typeface="Calibri"/>
                  <a:ea typeface="Calibri"/>
                  <a:cs typeface="Calibri"/>
                  <a:sym typeface="Calibri"/>
                </a:rPr>
                <a:t>Graph ML + heuristic ensemble</a:t>
              </a:r>
              <a:endParaRPr sz="700"/>
            </a:p>
          </p:txBody>
        </p:sp>
      </p:grpSp>
      <p:sp>
        <p:nvSpPr>
          <p:cNvPr id="224" name="Google Shape;224;p28"/>
          <p:cNvSpPr txBox="1"/>
          <p:nvPr/>
        </p:nvSpPr>
        <p:spPr>
          <a:xfrm>
            <a:off x="3338193" y="1967651"/>
            <a:ext cx="2475233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37474F"/>
                </a:solidFill>
                <a:latin typeface="Calibri"/>
                <a:ea typeface="Calibri"/>
                <a:cs typeface="Calibri"/>
                <a:sym typeface="Calibri"/>
              </a:rPr>
              <a:t>Five specialised detectors run in parallel on the live graph — Layering (FraudGT path scoring), Round-tripping (Johnson's cycle enumeration), Structuring (sliding-window threshold analysis), Dormant activation (Z-score spike), Profile mismatch (LLM reasoning over KYC delta).</a:t>
            </a:r>
            <a:endParaRPr sz="700"/>
          </a:p>
        </p:txBody>
      </p:sp>
      <p:grpSp>
        <p:nvGrpSpPr>
          <p:cNvPr id="225" name="Google Shape;225;p28"/>
          <p:cNvGrpSpPr/>
          <p:nvPr/>
        </p:nvGrpSpPr>
        <p:grpSpPr>
          <a:xfrm>
            <a:off x="3294064" y="2742672"/>
            <a:ext cx="2563463" cy="204311"/>
            <a:chOff x="0" y="0"/>
            <a:chExt cx="6835901" cy="544830"/>
          </a:xfrm>
        </p:grpSpPr>
        <p:sp>
          <p:nvSpPr>
            <p:cNvPr id="226" name="Google Shape;226;p28"/>
            <p:cNvSpPr/>
            <p:nvPr/>
          </p:nvSpPr>
          <p:spPr>
            <a:xfrm>
              <a:off x="4191" y="4191"/>
              <a:ext cx="6827520" cy="536448"/>
            </a:xfrm>
            <a:custGeom>
              <a:rect b="b" l="l" r="r" t="t"/>
              <a:pathLst>
                <a:path extrusionOk="0" h="53644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27" name="Google Shape;227;p28"/>
            <p:cNvSpPr/>
            <p:nvPr/>
          </p:nvSpPr>
          <p:spPr>
            <a:xfrm>
              <a:off x="0" y="0"/>
              <a:ext cx="6835901" cy="544830"/>
            </a:xfrm>
            <a:custGeom>
              <a:rect b="b" l="l" r="r" t="t"/>
              <a:pathLst>
                <a:path extrusionOk="0" h="544830" w="6835901">
                  <a:moveTo>
                    <a:pt x="4191" y="0"/>
                  </a:moveTo>
                  <a:lnTo>
                    <a:pt x="6831711" y="0"/>
                  </a:lnTo>
                  <a:cubicBezTo>
                    <a:pt x="6833997" y="0"/>
                    <a:pt x="6835901" y="1905"/>
                    <a:pt x="6835901" y="4191"/>
                  </a:cubicBezTo>
                  <a:lnTo>
                    <a:pt x="6835901" y="540639"/>
                  </a:lnTo>
                  <a:cubicBezTo>
                    <a:pt x="6835901" y="542925"/>
                    <a:pt x="6833997" y="544830"/>
                    <a:pt x="6831711" y="544830"/>
                  </a:cubicBezTo>
                  <a:lnTo>
                    <a:pt x="4191" y="544830"/>
                  </a:lnTo>
                  <a:cubicBezTo>
                    <a:pt x="1905" y="544830"/>
                    <a:pt x="0" y="542925"/>
                    <a:pt x="0" y="540639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540639"/>
                  </a:lnTo>
                  <a:lnTo>
                    <a:pt x="4191" y="540639"/>
                  </a:lnTo>
                  <a:lnTo>
                    <a:pt x="4191" y="536448"/>
                  </a:lnTo>
                  <a:lnTo>
                    <a:pt x="6831711" y="536448"/>
                  </a:lnTo>
                  <a:lnTo>
                    <a:pt x="6831711" y="540639"/>
                  </a:lnTo>
                  <a:lnTo>
                    <a:pt x="6827520" y="540639"/>
                  </a:lnTo>
                  <a:lnTo>
                    <a:pt x="6827520" y="4191"/>
                  </a:lnTo>
                  <a:lnTo>
                    <a:pt x="6831711" y="4191"/>
                  </a:lnTo>
                  <a:lnTo>
                    <a:pt x="683171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" name="Google Shape;228;p28"/>
          <p:cNvGrpSpPr/>
          <p:nvPr/>
        </p:nvGrpSpPr>
        <p:grpSpPr>
          <a:xfrm>
            <a:off x="3356482" y="2783610"/>
            <a:ext cx="2475233" cy="111747"/>
            <a:chOff x="0" y="-28575"/>
            <a:chExt cx="6600622" cy="297993"/>
          </a:xfrm>
        </p:grpSpPr>
        <p:sp>
          <p:nvSpPr>
            <p:cNvPr id="229" name="Google Shape;229;p28"/>
            <p:cNvSpPr/>
            <p:nvPr/>
          </p:nvSpPr>
          <p:spPr>
            <a:xfrm>
              <a:off x="0" y="0"/>
              <a:ext cx="6600616" cy="269413"/>
            </a:xfrm>
            <a:custGeom>
              <a:rect b="b" l="l" r="r" t="t"/>
              <a:pathLst>
                <a:path extrusionOk="0" h="269413" w="6600616">
                  <a:moveTo>
                    <a:pt x="0" y="0"/>
                  </a:moveTo>
                  <a:lnTo>
                    <a:pt x="6600616" y="0"/>
                  </a:lnTo>
                  <a:lnTo>
                    <a:pt x="6600616" y="269413"/>
                  </a:lnTo>
                  <a:lnTo>
                    <a:pt x="0" y="26941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27373" l="0" r="0" t="-427373"/>
              </a:stretch>
            </a:blipFill>
            <a:ln>
              <a:noFill/>
            </a:ln>
          </p:spPr>
        </p:sp>
        <p:sp>
          <p:nvSpPr>
            <p:cNvPr id="230" name="Google Shape;230;p28"/>
            <p:cNvSpPr txBox="1"/>
            <p:nvPr/>
          </p:nvSpPr>
          <p:spPr>
            <a:xfrm>
              <a:off x="0" y="-28575"/>
              <a:ext cx="6600622" cy="29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9E9E9E"/>
                  </a:solidFill>
                  <a:latin typeface="Calibri"/>
                  <a:ea typeface="Calibri"/>
                  <a:cs typeface="Calibri"/>
                  <a:sym typeface="Calibri"/>
                </a:rPr>
                <a:t>✗ Usual: 1 generic rule engine</a:t>
              </a:r>
              <a:endParaRPr sz="700"/>
            </a:p>
          </p:txBody>
        </p:sp>
      </p:grpSp>
      <p:grpSp>
        <p:nvGrpSpPr>
          <p:cNvPr id="231" name="Google Shape;231;p28"/>
          <p:cNvGrpSpPr/>
          <p:nvPr/>
        </p:nvGrpSpPr>
        <p:grpSpPr>
          <a:xfrm>
            <a:off x="3294064" y="2998704"/>
            <a:ext cx="2563463" cy="204311"/>
            <a:chOff x="0" y="0"/>
            <a:chExt cx="6835901" cy="544830"/>
          </a:xfrm>
        </p:grpSpPr>
        <p:sp>
          <p:nvSpPr>
            <p:cNvPr id="232" name="Google Shape;232;p28"/>
            <p:cNvSpPr/>
            <p:nvPr/>
          </p:nvSpPr>
          <p:spPr>
            <a:xfrm>
              <a:off x="4191" y="4191"/>
              <a:ext cx="6827520" cy="536448"/>
            </a:xfrm>
            <a:custGeom>
              <a:rect b="b" l="l" r="r" t="t"/>
              <a:pathLst>
                <a:path extrusionOk="0" h="53644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BE9E7"/>
            </a:solidFill>
            <a:ln>
              <a:noFill/>
            </a:ln>
          </p:spPr>
        </p:sp>
        <p:sp>
          <p:nvSpPr>
            <p:cNvPr id="233" name="Google Shape;233;p28"/>
            <p:cNvSpPr/>
            <p:nvPr/>
          </p:nvSpPr>
          <p:spPr>
            <a:xfrm>
              <a:off x="0" y="0"/>
              <a:ext cx="6835901" cy="544830"/>
            </a:xfrm>
            <a:custGeom>
              <a:rect b="b" l="l" r="r" t="t"/>
              <a:pathLst>
                <a:path extrusionOk="0" h="544830" w="6835901">
                  <a:moveTo>
                    <a:pt x="4191" y="0"/>
                  </a:moveTo>
                  <a:lnTo>
                    <a:pt x="6831711" y="0"/>
                  </a:lnTo>
                  <a:cubicBezTo>
                    <a:pt x="6833997" y="0"/>
                    <a:pt x="6835901" y="1905"/>
                    <a:pt x="6835901" y="4191"/>
                  </a:cubicBezTo>
                  <a:lnTo>
                    <a:pt x="6835901" y="540639"/>
                  </a:lnTo>
                  <a:cubicBezTo>
                    <a:pt x="6835901" y="542925"/>
                    <a:pt x="6833997" y="544830"/>
                    <a:pt x="6831711" y="544830"/>
                  </a:cubicBezTo>
                  <a:lnTo>
                    <a:pt x="4191" y="544830"/>
                  </a:lnTo>
                  <a:cubicBezTo>
                    <a:pt x="1905" y="544830"/>
                    <a:pt x="0" y="542925"/>
                    <a:pt x="0" y="540639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540639"/>
                  </a:lnTo>
                  <a:lnTo>
                    <a:pt x="4191" y="540639"/>
                  </a:lnTo>
                  <a:lnTo>
                    <a:pt x="4191" y="536448"/>
                  </a:lnTo>
                  <a:lnTo>
                    <a:pt x="6831711" y="536448"/>
                  </a:lnTo>
                  <a:lnTo>
                    <a:pt x="6831711" y="540639"/>
                  </a:lnTo>
                  <a:lnTo>
                    <a:pt x="6827520" y="540639"/>
                  </a:lnTo>
                  <a:lnTo>
                    <a:pt x="6827520" y="4191"/>
                  </a:lnTo>
                  <a:lnTo>
                    <a:pt x="6831711" y="4191"/>
                  </a:lnTo>
                  <a:lnTo>
                    <a:pt x="683171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BF36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" name="Google Shape;234;p28"/>
          <p:cNvGrpSpPr/>
          <p:nvPr/>
        </p:nvGrpSpPr>
        <p:grpSpPr>
          <a:xfrm>
            <a:off x="3346071" y="3014741"/>
            <a:ext cx="2475233" cy="161546"/>
            <a:chOff x="0" y="-28575"/>
            <a:chExt cx="6600622" cy="430788"/>
          </a:xfrm>
        </p:grpSpPr>
        <p:sp>
          <p:nvSpPr>
            <p:cNvPr id="235" name="Google Shape;235;p28"/>
            <p:cNvSpPr/>
            <p:nvPr/>
          </p:nvSpPr>
          <p:spPr>
            <a:xfrm>
              <a:off x="0" y="0"/>
              <a:ext cx="6600616" cy="402213"/>
            </a:xfrm>
            <a:custGeom>
              <a:rect b="b" l="l" r="r" t="t"/>
              <a:pathLst>
                <a:path extrusionOk="0" h="402213" w="6600616">
                  <a:moveTo>
                    <a:pt x="0" y="0"/>
                  </a:moveTo>
                  <a:lnTo>
                    <a:pt x="6600616" y="0"/>
                  </a:lnTo>
                  <a:lnTo>
                    <a:pt x="6600616" y="402213"/>
                  </a:lnTo>
                  <a:lnTo>
                    <a:pt x="0" y="40221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58796" l="0" r="0" t="-280712"/>
              </a:stretch>
            </a:blipFill>
            <a:ln>
              <a:noFill/>
            </a:ln>
          </p:spPr>
        </p:sp>
        <p:sp>
          <p:nvSpPr>
            <p:cNvPr id="236" name="Google Shape;236;p28"/>
            <p:cNvSpPr txBox="1"/>
            <p:nvPr/>
          </p:nvSpPr>
          <p:spPr>
            <a:xfrm>
              <a:off x="0" y="-28575"/>
              <a:ext cx="6600622" cy="430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700" u="none" cap="none" strike="noStrike">
                  <a:solidFill>
                    <a:srgbClr val="BF360C"/>
                  </a:solidFill>
                  <a:latin typeface="Calibri"/>
                  <a:ea typeface="Calibri"/>
                  <a:cs typeface="Calibri"/>
                  <a:sym typeface="Calibri"/>
                </a:rPr>
                <a:t>✓ Rudra : 5 targeted detectors</a:t>
              </a:r>
              <a:endParaRPr sz="700"/>
            </a:p>
          </p:txBody>
        </p:sp>
      </p:grpSp>
      <p:grpSp>
        <p:nvGrpSpPr>
          <p:cNvPr id="237" name="Google Shape;237;p28"/>
          <p:cNvGrpSpPr/>
          <p:nvPr/>
        </p:nvGrpSpPr>
        <p:grpSpPr>
          <a:xfrm>
            <a:off x="6027168" y="1370119"/>
            <a:ext cx="2803112" cy="1925288"/>
            <a:chOff x="0" y="0"/>
            <a:chExt cx="7474966" cy="5134102"/>
          </a:xfrm>
        </p:grpSpPr>
        <p:sp>
          <p:nvSpPr>
            <p:cNvPr id="238" name="Google Shape;238;p28"/>
            <p:cNvSpPr/>
            <p:nvPr/>
          </p:nvSpPr>
          <p:spPr>
            <a:xfrm>
              <a:off x="6731" y="6731"/>
              <a:ext cx="7461504" cy="5120640"/>
            </a:xfrm>
            <a:custGeom>
              <a:rect b="b" l="l" r="r" t="t"/>
              <a:pathLst>
                <a:path extrusionOk="0" h="5120640" w="7461504">
                  <a:moveTo>
                    <a:pt x="0" y="0"/>
                  </a:moveTo>
                  <a:lnTo>
                    <a:pt x="7461504" y="0"/>
                  </a:lnTo>
                  <a:lnTo>
                    <a:pt x="7461504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9" name="Google Shape;239;p28"/>
            <p:cNvSpPr/>
            <p:nvPr/>
          </p:nvSpPr>
          <p:spPr>
            <a:xfrm>
              <a:off x="0" y="0"/>
              <a:ext cx="7474966" cy="5134102"/>
            </a:xfrm>
            <a:custGeom>
              <a:rect b="b" l="l" r="r" t="t"/>
              <a:pathLst>
                <a:path extrusionOk="0" h="5134102" w="7474966">
                  <a:moveTo>
                    <a:pt x="6731" y="0"/>
                  </a:moveTo>
                  <a:lnTo>
                    <a:pt x="7468235" y="0"/>
                  </a:lnTo>
                  <a:cubicBezTo>
                    <a:pt x="7471918" y="0"/>
                    <a:pt x="7474966" y="3048"/>
                    <a:pt x="7474966" y="6731"/>
                  </a:cubicBezTo>
                  <a:lnTo>
                    <a:pt x="7474966" y="5127371"/>
                  </a:lnTo>
                  <a:cubicBezTo>
                    <a:pt x="7474966" y="5131054"/>
                    <a:pt x="7471918" y="5134102"/>
                    <a:pt x="7468235" y="5134102"/>
                  </a:cubicBezTo>
                  <a:lnTo>
                    <a:pt x="6731" y="5134102"/>
                  </a:lnTo>
                  <a:cubicBezTo>
                    <a:pt x="3048" y="5134102"/>
                    <a:pt x="0" y="5131054"/>
                    <a:pt x="0" y="5127371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5127371"/>
                  </a:lnTo>
                  <a:lnTo>
                    <a:pt x="6731" y="5127371"/>
                  </a:lnTo>
                  <a:lnTo>
                    <a:pt x="6731" y="5120640"/>
                  </a:lnTo>
                  <a:lnTo>
                    <a:pt x="7468235" y="5120640"/>
                  </a:lnTo>
                  <a:lnTo>
                    <a:pt x="7468235" y="5127371"/>
                  </a:lnTo>
                  <a:lnTo>
                    <a:pt x="7461503" y="5127371"/>
                  </a:lnTo>
                  <a:lnTo>
                    <a:pt x="7461503" y="6731"/>
                  </a:lnTo>
                  <a:lnTo>
                    <a:pt x="7468235" y="6731"/>
                  </a:lnTo>
                  <a:lnTo>
                    <a:pt x="7468235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E0E6F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" name="Google Shape;240;p28"/>
          <p:cNvGrpSpPr/>
          <p:nvPr/>
        </p:nvGrpSpPr>
        <p:grpSpPr>
          <a:xfrm>
            <a:off x="6026529" y="1369481"/>
            <a:ext cx="2804445" cy="207549"/>
            <a:chOff x="0" y="0"/>
            <a:chExt cx="7478522" cy="553466"/>
          </a:xfrm>
        </p:grpSpPr>
        <p:sp>
          <p:nvSpPr>
            <p:cNvPr id="241" name="Google Shape;241;p28"/>
            <p:cNvSpPr/>
            <p:nvPr/>
          </p:nvSpPr>
          <p:spPr>
            <a:xfrm>
              <a:off x="8509" y="8509"/>
              <a:ext cx="7461504" cy="536448"/>
            </a:xfrm>
            <a:custGeom>
              <a:rect b="b" l="l" r="r" t="t"/>
              <a:pathLst>
                <a:path extrusionOk="0" h="536448" w="7461504">
                  <a:moveTo>
                    <a:pt x="0" y="0"/>
                  </a:moveTo>
                  <a:lnTo>
                    <a:pt x="7461504" y="0"/>
                  </a:lnTo>
                  <a:lnTo>
                    <a:pt x="746150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242" name="Google Shape;242;p28"/>
            <p:cNvSpPr/>
            <p:nvPr/>
          </p:nvSpPr>
          <p:spPr>
            <a:xfrm>
              <a:off x="0" y="0"/>
              <a:ext cx="7478522" cy="553466"/>
            </a:xfrm>
            <a:custGeom>
              <a:rect b="b" l="l" r="r" t="t"/>
              <a:pathLst>
                <a:path extrusionOk="0" h="553466" w="7478522">
                  <a:moveTo>
                    <a:pt x="8509" y="0"/>
                  </a:moveTo>
                  <a:lnTo>
                    <a:pt x="7470013" y="0"/>
                  </a:lnTo>
                  <a:cubicBezTo>
                    <a:pt x="7474712" y="0"/>
                    <a:pt x="7478522" y="3810"/>
                    <a:pt x="7478522" y="8509"/>
                  </a:cubicBezTo>
                  <a:lnTo>
                    <a:pt x="7478522" y="544957"/>
                  </a:lnTo>
                  <a:cubicBezTo>
                    <a:pt x="7478522" y="549656"/>
                    <a:pt x="7474712" y="553466"/>
                    <a:pt x="7470013" y="553466"/>
                  </a:cubicBezTo>
                  <a:lnTo>
                    <a:pt x="8509" y="553466"/>
                  </a:lnTo>
                  <a:cubicBezTo>
                    <a:pt x="3810" y="553466"/>
                    <a:pt x="0" y="549656"/>
                    <a:pt x="0" y="54495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44957"/>
                  </a:lnTo>
                  <a:lnTo>
                    <a:pt x="8509" y="544957"/>
                  </a:lnTo>
                  <a:lnTo>
                    <a:pt x="8509" y="536448"/>
                  </a:lnTo>
                  <a:lnTo>
                    <a:pt x="7470013" y="536448"/>
                  </a:lnTo>
                  <a:lnTo>
                    <a:pt x="7470013" y="544957"/>
                  </a:lnTo>
                  <a:lnTo>
                    <a:pt x="7461504" y="544957"/>
                  </a:lnTo>
                  <a:lnTo>
                    <a:pt x="7461504" y="8509"/>
                  </a:lnTo>
                  <a:lnTo>
                    <a:pt x="7470013" y="8509"/>
                  </a:lnTo>
                  <a:lnTo>
                    <a:pt x="74700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" name="Google Shape;243;p28"/>
          <p:cNvGrpSpPr/>
          <p:nvPr/>
        </p:nvGrpSpPr>
        <p:grpSpPr>
          <a:xfrm>
            <a:off x="6145402" y="1625512"/>
            <a:ext cx="298942" cy="298989"/>
            <a:chOff x="0" y="0"/>
            <a:chExt cx="797179" cy="797306"/>
          </a:xfrm>
        </p:grpSpPr>
        <p:sp>
          <p:nvSpPr>
            <p:cNvPr id="244" name="Google Shape;244;p28"/>
            <p:cNvSpPr/>
            <p:nvPr/>
          </p:nvSpPr>
          <p:spPr>
            <a:xfrm>
              <a:off x="8509" y="8509"/>
              <a:ext cx="780288" cy="780288"/>
            </a:xfrm>
            <a:custGeom>
              <a:rect b="b" l="l" r="r" t="t"/>
              <a:pathLst>
                <a:path extrusionOk="0" h="780288" w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625"/>
                    <a:pt x="780288" y="390144"/>
                  </a:cubicBezTo>
                  <a:cubicBezTo>
                    <a:pt x="780288" y="605663"/>
                    <a:pt x="605536" y="780288"/>
                    <a:pt x="390144" y="780288"/>
                  </a:cubicBezTo>
                  <a:cubicBezTo>
                    <a:pt x="174752" y="780288"/>
                    <a:pt x="0" y="605536"/>
                    <a:pt x="0" y="390144"/>
                  </a:cubicBez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8"/>
            <p:cNvSpPr/>
            <p:nvPr/>
          </p:nvSpPr>
          <p:spPr>
            <a:xfrm>
              <a:off x="0" y="0"/>
              <a:ext cx="797179" cy="797306"/>
            </a:xfrm>
            <a:custGeom>
              <a:rect b="b" l="l" r="r" t="t"/>
              <a:pathLst>
                <a:path extrusionOk="0" h="797306" w="797179">
                  <a:moveTo>
                    <a:pt x="0" y="398653"/>
                  </a:moveTo>
                  <a:cubicBezTo>
                    <a:pt x="0" y="178435"/>
                    <a:pt x="178435" y="0"/>
                    <a:pt x="398653" y="0"/>
                  </a:cubicBezTo>
                  <a:lnTo>
                    <a:pt x="398653" y="8509"/>
                  </a:lnTo>
                  <a:lnTo>
                    <a:pt x="398653" y="0"/>
                  </a:lnTo>
                  <a:cubicBezTo>
                    <a:pt x="618744" y="0"/>
                    <a:pt x="797179" y="178435"/>
                    <a:pt x="797179" y="398653"/>
                  </a:cubicBezTo>
                  <a:cubicBezTo>
                    <a:pt x="797179" y="618744"/>
                    <a:pt x="618744" y="797306"/>
                    <a:pt x="398526" y="797306"/>
                  </a:cubicBezTo>
                  <a:lnTo>
                    <a:pt x="398526" y="788797"/>
                  </a:lnTo>
                  <a:lnTo>
                    <a:pt x="398526" y="797306"/>
                  </a:lnTo>
                  <a:cubicBezTo>
                    <a:pt x="178435" y="797179"/>
                    <a:pt x="0" y="618744"/>
                    <a:pt x="0" y="398653"/>
                  </a:cubicBezTo>
                  <a:lnTo>
                    <a:pt x="8509" y="398653"/>
                  </a:lnTo>
                  <a:lnTo>
                    <a:pt x="14986" y="404114"/>
                  </a:lnTo>
                  <a:cubicBezTo>
                    <a:pt x="12700" y="406781"/>
                    <a:pt x="8890" y="407797"/>
                    <a:pt x="5588" y="406654"/>
                  </a:cubicBezTo>
                  <a:cubicBezTo>
                    <a:pt x="2286" y="405511"/>
                    <a:pt x="0" y="402209"/>
                    <a:pt x="0" y="398653"/>
                  </a:cubicBezTo>
                  <a:moveTo>
                    <a:pt x="16891" y="398653"/>
                  </a:moveTo>
                  <a:lnTo>
                    <a:pt x="8509" y="398653"/>
                  </a:lnTo>
                  <a:lnTo>
                    <a:pt x="2032" y="393192"/>
                  </a:lnTo>
                  <a:cubicBezTo>
                    <a:pt x="4318" y="390525"/>
                    <a:pt x="8128" y="389509"/>
                    <a:pt x="11430" y="390652"/>
                  </a:cubicBezTo>
                  <a:cubicBezTo>
                    <a:pt x="14732" y="391795"/>
                    <a:pt x="17018" y="395097"/>
                    <a:pt x="17018" y="398653"/>
                  </a:cubicBezTo>
                  <a:cubicBezTo>
                    <a:pt x="17018" y="609473"/>
                    <a:pt x="187960" y="780288"/>
                    <a:pt x="398653" y="780288"/>
                  </a:cubicBezTo>
                  <a:cubicBezTo>
                    <a:pt x="609473" y="780288"/>
                    <a:pt x="780288" y="609346"/>
                    <a:pt x="780288" y="398653"/>
                  </a:cubicBezTo>
                  <a:lnTo>
                    <a:pt x="788797" y="398653"/>
                  </a:lnTo>
                  <a:lnTo>
                    <a:pt x="780288" y="398653"/>
                  </a:lnTo>
                  <a:cubicBezTo>
                    <a:pt x="780288" y="187833"/>
                    <a:pt x="609346" y="17018"/>
                    <a:pt x="398653" y="17018"/>
                  </a:cubicBezTo>
                  <a:lnTo>
                    <a:pt x="398653" y="8509"/>
                  </a:lnTo>
                  <a:lnTo>
                    <a:pt x="398653" y="17018"/>
                  </a:lnTo>
                  <a:cubicBezTo>
                    <a:pt x="187833" y="17018"/>
                    <a:pt x="17018" y="187960"/>
                    <a:pt x="17018" y="398653"/>
                  </a:cubicBez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6" name="Google Shape;246;p28"/>
          <p:cNvGrpSpPr/>
          <p:nvPr/>
        </p:nvGrpSpPr>
        <p:grpSpPr>
          <a:xfrm>
            <a:off x="6168261" y="1674257"/>
            <a:ext cx="253239" cy="187181"/>
            <a:chOff x="0" y="-38100"/>
            <a:chExt cx="675303" cy="499149"/>
          </a:xfrm>
        </p:grpSpPr>
        <p:sp>
          <p:nvSpPr>
            <p:cNvPr id="247" name="Google Shape;247;p28"/>
            <p:cNvSpPr/>
            <p:nvPr/>
          </p:nvSpPr>
          <p:spPr>
            <a:xfrm>
              <a:off x="0" y="0"/>
              <a:ext cx="675303" cy="461049"/>
            </a:xfrm>
            <a:custGeom>
              <a:rect b="b" l="l" r="r" t="t"/>
              <a:pathLst>
                <a:path extrusionOk="0" h="461049" w="675303">
                  <a:moveTo>
                    <a:pt x="0" y="0"/>
                  </a:moveTo>
                  <a:lnTo>
                    <a:pt x="675303" y="0"/>
                  </a:lnTo>
                  <a:lnTo>
                    <a:pt x="675303" y="461049"/>
                  </a:lnTo>
                  <a:lnTo>
                    <a:pt x="0" y="46104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7596" r="-37596" t="0"/>
              </a:stretch>
            </a:blipFill>
            <a:ln>
              <a:noFill/>
            </a:ln>
          </p:spPr>
        </p:sp>
        <p:sp>
          <p:nvSpPr>
            <p:cNvPr id="248" name="Google Shape;248;p28"/>
            <p:cNvSpPr txBox="1"/>
            <p:nvPr/>
          </p:nvSpPr>
          <p:spPr>
            <a:xfrm>
              <a:off x="0" y="-38100"/>
              <a:ext cx="675297" cy="499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700"/>
            </a:p>
          </p:txBody>
        </p:sp>
      </p:grpSp>
      <p:grpSp>
        <p:nvGrpSpPr>
          <p:cNvPr id="249" name="Google Shape;249;p28"/>
          <p:cNvGrpSpPr/>
          <p:nvPr/>
        </p:nvGrpSpPr>
        <p:grpSpPr>
          <a:xfrm>
            <a:off x="6502017" y="1613049"/>
            <a:ext cx="2237489" cy="145008"/>
            <a:chOff x="0" y="-38100"/>
            <a:chExt cx="5966638" cy="386690"/>
          </a:xfrm>
        </p:grpSpPr>
        <p:sp>
          <p:nvSpPr>
            <p:cNvPr id="250" name="Google Shape;250;p28"/>
            <p:cNvSpPr/>
            <p:nvPr/>
          </p:nvSpPr>
          <p:spPr>
            <a:xfrm>
              <a:off x="0" y="0"/>
              <a:ext cx="5966632" cy="348589"/>
            </a:xfrm>
            <a:custGeom>
              <a:rect b="b" l="l" r="r" t="t"/>
              <a:pathLst>
                <a:path extrusionOk="0" h="348589" w="5966632">
                  <a:moveTo>
                    <a:pt x="0" y="0"/>
                  </a:moveTo>
                  <a:lnTo>
                    <a:pt x="5966632" y="0"/>
                  </a:lnTo>
                  <a:lnTo>
                    <a:pt x="5966632" y="348589"/>
                  </a:lnTo>
                  <a:lnTo>
                    <a:pt x="0" y="34858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83511" l="0" r="0" t="-283511"/>
              </a:stretch>
            </a:blipFill>
            <a:ln>
              <a:noFill/>
            </a:ln>
          </p:spPr>
        </p:sp>
        <p:sp>
          <p:nvSpPr>
            <p:cNvPr id="251" name="Google Shape;251;p28"/>
            <p:cNvSpPr txBox="1"/>
            <p:nvPr/>
          </p:nvSpPr>
          <p:spPr>
            <a:xfrm>
              <a:off x="0" y="-38100"/>
              <a:ext cx="5966638" cy="386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LLM Investigator Copilot</a:t>
              </a:r>
              <a:endParaRPr sz="700"/>
            </a:p>
          </p:txBody>
        </p:sp>
      </p:grpSp>
      <p:grpSp>
        <p:nvGrpSpPr>
          <p:cNvPr id="252" name="Google Shape;252;p28"/>
          <p:cNvGrpSpPr/>
          <p:nvPr/>
        </p:nvGrpSpPr>
        <p:grpSpPr>
          <a:xfrm>
            <a:off x="6502017" y="1784042"/>
            <a:ext cx="2237489" cy="113916"/>
            <a:chOff x="0" y="-38100"/>
            <a:chExt cx="5966638" cy="303776"/>
          </a:xfrm>
        </p:grpSpPr>
        <p:sp>
          <p:nvSpPr>
            <p:cNvPr id="253" name="Google Shape;253;p28"/>
            <p:cNvSpPr/>
            <p:nvPr/>
          </p:nvSpPr>
          <p:spPr>
            <a:xfrm>
              <a:off x="0" y="0"/>
              <a:ext cx="5966632" cy="265676"/>
            </a:xfrm>
            <a:custGeom>
              <a:rect b="b" l="l" r="r" t="t"/>
              <a:pathLst>
                <a:path extrusionOk="0" h="265676" w="5966632">
                  <a:moveTo>
                    <a:pt x="0" y="0"/>
                  </a:moveTo>
                  <a:lnTo>
                    <a:pt x="5966632" y="0"/>
                  </a:lnTo>
                  <a:lnTo>
                    <a:pt x="5966632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87598" l="0" r="0" t="-387598"/>
              </a:stretch>
            </a:blipFill>
            <a:ln>
              <a:noFill/>
            </a:ln>
          </p:spPr>
        </p:sp>
        <p:sp>
          <p:nvSpPr>
            <p:cNvPr id="254" name="Google Shape;254;p28"/>
            <p:cNvSpPr txBox="1"/>
            <p:nvPr/>
          </p:nvSpPr>
          <p:spPr>
            <a:xfrm>
              <a:off x="0" y="-38100"/>
              <a:ext cx="5966638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GB" sz="800" u="none" cap="none" strike="noStrike">
                  <a:solidFill>
                    <a:srgbClr val="78909C"/>
                  </a:solidFill>
                  <a:latin typeface="Calibri"/>
                  <a:ea typeface="Calibri"/>
                  <a:cs typeface="Calibri"/>
                  <a:sym typeface="Calibri"/>
                </a:rPr>
                <a:t>Natural language fund tracing</a:t>
              </a:r>
              <a:endParaRPr sz="700"/>
            </a:p>
          </p:txBody>
        </p:sp>
      </p:grpSp>
      <p:sp>
        <p:nvSpPr>
          <p:cNvPr id="255" name="Google Shape;255;p28"/>
          <p:cNvSpPr txBox="1"/>
          <p:nvPr/>
        </p:nvSpPr>
        <p:spPr>
          <a:xfrm>
            <a:off x="6191122" y="1967651"/>
            <a:ext cx="2475233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37474F"/>
                </a:solidFill>
                <a:latin typeface="Calibri"/>
                <a:ea typeface="Calibri"/>
                <a:cs typeface="Calibri"/>
                <a:sym typeface="Calibri"/>
              </a:rPr>
              <a:t>LLM with tool-calling over the live graph answers investigator queries in plain language. Tools: trace_funds(), find_cycles(), explain_alert(), get_profile_delta(). Compresses investigation from days to seconds with a full reasoning audit trail.</a:t>
            </a:r>
            <a:endParaRPr sz="700"/>
          </a:p>
        </p:txBody>
      </p:sp>
      <p:grpSp>
        <p:nvGrpSpPr>
          <p:cNvPr id="256" name="Google Shape;256;p28"/>
          <p:cNvGrpSpPr/>
          <p:nvPr/>
        </p:nvGrpSpPr>
        <p:grpSpPr>
          <a:xfrm>
            <a:off x="6146992" y="2742672"/>
            <a:ext cx="2563463" cy="204311"/>
            <a:chOff x="0" y="0"/>
            <a:chExt cx="6835901" cy="544830"/>
          </a:xfrm>
        </p:grpSpPr>
        <p:sp>
          <p:nvSpPr>
            <p:cNvPr id="257" name="Google Shape;257;p28"/>
            <p:cNvSpPr/>
            <p:nvPr/>
          </p:nvSpPr>
          <p:spPr>
            <a:xfrm>
              <a:off x="4191" y="4191"/>
              <a:ext cx="6827520" cy="536448"/>
            </a:xfrm>
            <a:custGeom>
              <a:rect b="b" l="l" r="r" t="t"/>
              <a:pathLst>
                <a:path extrusionOk="0" h="53644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</p:sp>
        <p:sp>
          <p:nvSpPr>
            <p:cNvPr id="258" name="Google Shape;258;p28"/>
            <p:cNvSpPr/>
            <p:nvPr/>
          </p:nvSpPr>
          <p:spPr>
            <a:xfrm>
              <a:off x="0" y="0"/>
              <a:ext cx="6835901" cy="544830"/>
            </a:xfrm>
            <a:custGeom>
              <a:rect b="b" l="l" r="r" t="t"/>
              <a:pathLst>
                <a:path extrusionOk="0" h="544830" w="6835901">
                  <a:moveTo>
                    <a:pt x="4191" y="0"/>
                  </a:moveTo>
                  <a:lnTo>
                    <a:pt x="6831711" y="0"/>
                  </a:lnTo>
                  <a:cubicBezTo>
                    <a:pt x="6833997" y="0"/>
                    <a:pt x="6835901" y="1905"/>
                    <a:pt x="6835901" y="4191"/>
                  </a:cubicBezTo>
                  <a:lnTo>
                    <a:pt x="6835901" y="540639"/>
                  </a:lnTo>
                  <a:cubicBezTo>
                    <a:pt x="6835901" y="542925"/>
                    <a:pt x="6833997" y="544830"/>
                    <a:pt x="6831711" y="544830"/>
                  </a:cubicBezTo>
                  <a:lnTo>
                    <a:pt x="4191" y="544830"/>
                  </a:lnTo>
                  <a:cubicBezTo>
                    <a:pt x="1905" y="544830"/>
                    <a:pt x="0" y="542925"/>
                    <a:pt x="0" y="540639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540639"/>
                  </a:lnTo>
                  <a:lnTo>
                    <a:pt x="4191" y="540639"/>
                  </a:lnTo>
                  <a:lnTo>
                    <a:pt x="4191" y="536448"/>
                  </a:lnTo>
                  <a:lnTo>
                    <a:pt x="6831711" y="536448"/>
                  </a:lnTo>
                  <a:lnTo>
                    <a:pt x="6831711" y="540639"/>
                  </a:lnTo>
                  <a:lnTo>
                    <a:pt x="6827520" y="540639"/>
                  </a:lnTo>
                  <a:lnTo>
                    <a:pt x="6827520" y="4191"/>
                  </a:lnTo>
                  <a:lnTo>
                    <a:pt x="6831711" y="4191"/>
                  </a:lnTo>
                  <a:lnTo>
                    <a:pt x="683171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9" name="Google Shape;259;p28"/>
          <p:cNvGrpSpPr/>
          <p:nvPr/>
        </p:nvGrpSpPr>
        <p:grpSpPr>
          <a:xfrm>
            <a:off x="6209410" y="2783610"/>
            <a:ext cx="2475233" cy="111747"/>
            <a:chOff x="0" y="-28575"/>
            <a:chExt cx="6600622" cy="297993"/>
          </a:xfrm>
        </p:grpSpPr>
        <p:sp>
          <p:nvSpPr>
            <p:cNvPr id="260" name="Google Shape;260;p28"/>
            <p:cNvSpPr/>
            <p:nvPr/>
          </p:nvSpPr>
          <p:spPr>
            <a:xfrm>
              <a:off x="0" y="0"/>
              <a:ext cx="6600616" cy="269413"/>
            </a:xfrm>
            <a:custGeom>
              <a:rect b="b" l="l" r="r" t="t"/>
              <a:pathLst>
                <a:path extrusionOk="0" h="269413" w="6600616">
                  <a:moveTo>
                    <a:pt x="0" y="0"/>
                  </a:moveTo>
                  <a:lnTo>
                    <a:pt x="6600616" y="0"/>
                  </a:lnTo>
                  <a:lnTo>
                    <a:pt x="6600616" y="269413"/>
                  </a:lnTo>
                  <a:lnTo>
                    <a:pt x="0" y="26941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427373" l="0" r="0" t="-427373"/>
              </a:stretch>
            </a:blipFill>
            <a:ln>
              <a:noFill/>
            </a:ln>
          </p:spPr>
        </p:sp>
        <p:sp>
          <p:nvSpPr>
            <p:cNvPr id="261" name="Google Shape;261;p28"/>
            <p:cNvSpPr txBox="1"/>
            <p:nvPr/>
          </p:nvSpPr>
          <p:spPr>
            <a:xfrm>
              <a:off x="0" y="-28575"/>
              <a:ext cx="6600622" cy="29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9E9E9E"/>
                  </a:solidFill>
                  <a:latin typeface="Calibri"/>
                  <a:ea typeface="Calibri"/>
                  <a:cs typeface="Calibri"/>
                  <a:sym typeface="Calibri"/>
                </a:rPr>
                <a:t>✗ Usual: Manual case reconstruction</a:t>
              </a:r>
              <a:endParaRPr sz="700"/>
            </a:p>
          </p:txBody>
        </p:sp>
      </p:grpSp>
      <p:grpSp>
        <p:nvGrpSpPr>
          <p:cNvPr id="262" name="Google Shape;262;p28"/>
          <p:cNvGrpSpPr/>
          <p:nvPr/>
        </p:nvGrpSpPr>
        <p:grpSpPr>
          <a:xfrm>
            <a:off x="6146992" y="2998704"/>
            <a:ext cx="2563463" cy="204311"/>
            <a:chOff x="0" y="0"/>
            <a:chExt cx="6835901" cy="544830"/>
          </a:xfrm>
        </p:grpSpPr>
        <p:sp>
          <p:nvSpPr>
            <p:cNvPr id="263" name="Google Shape;263;p28"/>
            <p:cNvSpPr/>
            <p:nvPr/>
          </p:nvSpPr>
          <p:spPr>
            <a:xfrm>
              <a:off x="4191" y="4191"/>
              <a:ext cx="6827520" cy="536448"/>
            </a:xfrm>
            <a:custGeom>
              <a:rect b="b" l="l" r="r" t="t"/>
              <a:pathLst>
                <a:path extrusionOk="0" h="53644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264" name="Google Shape;264;p28"/>
            <p:cNvSpPr/>
            <p:nvPr/>
          </p:nvSpPr>
          <p:spPr>
            <a:xfrm>
              <a:off x="0" y="0"/>
              <a:ext cx="6835901" cy="544830"/>
            </a:xfrm>
            <a:custGeom>
              <a:rect b="b" l="l" r="r" t="t"/>
              <a:pathLst>
                <a:path extrusionOk="0" h="544830" w="6835901">
                  <a:moveTo>
                    <a:pt x="4191" y="0"/>
                  </a:moveTo>
                  <a:lnTo>
                    <a:pt x="6831711" y="0"/>
                  </a:lnTo>
                  <a:cubicBezTo>
                    <a:pt x="6833997" y="0"/>
                    <a:pt x="6835901" y="1905"/>
                    <a:pt x="6835901" y="4191"/>
                  </a:cubicBezTo>
                  <a:lnTo>
                    <a:pt x="6835901" y="540639"/>
                  </a:lnTo>
                  <a:cubicBezTo>
                    <a:pt x="6835901" y="542925"/>
                    <a:pt x="6833997" y="544830"/>
                    <a:pt x="6831711" y="544830"/>
                  </a:cubicBezTo>
                  <a:lnTo>
                    <a:pt x="4191" y="544830"/>
                  </a:lnTo>
                  <a:cubicBezTo>
                    <a:pt x="1905" y="544830"/>
                    <a:pt x="0" y="542925"/>
                    <a:pt x="0" y="540639"/>
                  </a:cubicBezTo>
                  <a:lnTo>
                    <a:pt x="0" y="4191"/>
                  </a:lnTo>
                  <a:cubicBezTo>
                    <a:pt x="0" y="1905"/>
                    <a:pt x="1905" y="0"/>
                    <a:pt x="4191" y="0"/>
                  </a:cubicBezTo>
                  <a:moveTo>
                    <a:pt x="4191" y="8509"/>
                  </a:moveTo>
                  <a:lnTo>
                    <a:pt x="4191" y="4191"/>
                  </a:lnTo>
                  <a:lnTo>
                    <a:pt x="8509" y="4191"/>
                  </a:lnTo>
                  <a:lnTo>
                    <a:pt x="8509" y="540639"/>
                  </a:lnTo>
                  <a:lnTo>
                    <a:pt x="4191" y="540639"/>
                  </a:lnTo>
                  <a:lnTo>
                    <a:pt x="4191" y="536448"/>
                  </a:lnTo>
                  <a:lnTo>
                    <a:pt x="6831711" y="536448"/>
                  </a:lnTo>
                  <a:lnTo>
                    <a:pt x="6831711" y="540639"/>
                  </a:lnTo>
                  <a:lnTo>
                    <a:pt x="6827520" y="540639"/>
                  </a:lnTo>
                  <a:lnTo>
                    <a:pt x="6827520" y="4191"/>
                  </a:lnTo>
                  <a:lnTo>
                    <a:pt x="6831711" y="4191"/>
                  </a:lnTo>
                  <a:lnTo>
                    <a:pt x="6831711" y="8509"/>
                  </a:lnTo>
                  <a:lnTo>
                    <a:pt x="4191" y="8509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" name="Google Shape;265;p28"/>
          <p:cNvGrpSpPr/>
          <p:nvPr/>
        </p:nvGrpSpPr>
        <p:grpSpPr>
          <a:xfrm>
            <a:off x="6209410" y="2983925"/>
            <a:ext cx="2475233" cy="175833"/>
            <a:chOff x="0" y="-28575"/>
            <a:chExt cx="6600622" cy="468888"/>
          </a:xfrm>
        </p:grpSpPr>
        <p:sp>
          <p:nvSpPr>
            <p:cNvPr id="266" name="Google Shape;266;p28"/>
            <p:cNvSpPr/>
            <p:nvPr/>
          </p:nvSpPr>
          <p:spPr>
            <a:xfrm>
              <a:off x="0" y="0"/>
              <a:ext cx="6600616" cy="440313"/>
            </a:xfrm>
            <a:custGeom>
              <a:rect b="b" l="l" r="r" t="t"/>
              <a:pathLst>
                <a:path extrusionOk="0" h="440313" w="6600616">
                  <a:moveTo>
                    <a:pt x="0" y="0"/>
                  </a:moveTo>
                  <a:lnTo>
                    <a:pt x="6600616" y="0"/>
                  </a:lnTo>
                  <a:lnTo>
                    <a:pt x="6600616" y="440313"/>
                  </a:lnTo>
                  <a:lnTo>
                    <a:pt x="0" y="44031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27754" l="0" r="0" t="-256426"/>
              </a:stretch>
            </a:blipFill>
            <a:ln>
              <a:noFill/>
            </a:ln>
          </p:spPr>
        </p:sp>
        <p:sp>
          <p:nvSpPr>
            <p:cNvPr id="267" name="Google Shape;267;p28"/>
            <p:cNvSpPr txBox="1"/>
            <p:nvPr/>
          </p:nvSpPr>
          <p:spPr>
            <a:xfrm>
              <a:off x="0" y="-28575"/>
              <a:ext cx="6600622" cy="4688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7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✓ Rudra : Seconds with LLM copilot</a:t>
              </a:r>
              <a:endParaRPr sz="700"/>
            </a:p>
          </p:txBody>
        </p:sp>
      </p:grpSp>
      <p:grpSp>
        <p:nvGrpSpPr>
          <p:cNvPr id="268" name="Google Shape;268;p28"/>
          <p:cNvGrpSpPr/>
          <p:nvPr/>
        </p:nvGrpSpPr>
        <p:grpSpPr>
          <a:xfrm>
            <a:off x="317497" y="3362449"/>
            <a:ext cx="2108168" cy="1586960"/>
            <a:chOff x="0" y="0"/>
            <a:chExt cx="5621782" cy="4231894"/>
          </a:xfrm>
        </p:grpSpPr>
        <p:sp>
          <p:nvSpPr>
            <p:cNvPr id="269" name="Google Shape;269;p28"/>
            <p:cNvSpPr/>
            <p:nvPr/>
          </p:nvSpPr>
          <p:spPr>
            <a:xfrm>
              <a:off x="6731" y="6731"/>
              <a:ext cx="5608320" cy="4218432"/>
            </a:xfrm>
            <a:custGeom>
              <a:rect b="b" l="l" r="r" t="t"/>
              <a:pathLst>
                <a:path extrusionOk="0" h="421843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4218432"/>
                  </a:lnTo>
                  <a:lnTo>
                    <a:pt x="0" y="42184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0" name="Google Shape;270;p28"/>
            <p:cNvSpPr/>
            <p:nvPr/>
          </p:nvSpPr>
          <p:spPr>
            <a:xfrm>
              <a:off x="0" y="0"/>
              <a:ext cx="5621782" cy="4231894"/>
            </a:xfrm>
            <a:custGeom>
              <a:rect b="b" l="l" r="r" t="t"/>
              <a:pathLst>
                <a:path extrusionOk="0" h="4231894" w="5621782">
                  <a:moveTo>
                    <a:pt x="6731" y="0"/>
                  </a:moveTo>
                  <a:lnTo>
                    <a:pt x="5615051" y="0"/>
                  </a:lnTo>
                  <a:cubicBezTo>
                    <a:pt x="5618734" y="0"/>
                    <a:pt x="5621782" y="3048"/>
                    <a:pt x="5621782" y="6731"/>
                  </a:cubicBezTo>
                  <a:lnTo>
                    <a:pt x="5621782" y="4225163"/>
                  </a:lnTo>
                  <a:cubicBezTo>
                    <a:pt x="5621782" y="4228846"/>
                    <a:pt x="5618734" y="4231894"/>
                    <a:pt x="5615051" y="4231894"/>
                  </a:cubicBezTo>
                  <a:lnTo>
                    <a:pt x="6731" y="4231894"/>
                  </a:lnTo>
                  <a:cubicBezTo>
                    <a:pt x="3048" y="4231894"/>
                    <a:pt x="0" y="4228846"/>
                    <a:pt x="0" y="4225163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4225163"/>
                  </a:lnTo>
                  <a:lnTo>
                    <a:pt x="6731" y="4225163"/>
                  </a:lnTo>
                  <a:lnTo>
                    <a:pt x="6731" y="4218432"/>
                  </a:lnTo>
                  <a:lnTo>
                    <a:pt x="5615051" y="4218432"/>
                  </a:lnTo>
                  <a:lnTo>
                    <a:pt x="5615051" y="4225163"/>
                  </a:lnTo>
                  <a:lnTo>
                    <a:pt x="5608320" y="4225163"/>
                  </a:lnTo>
                  <a:lnTo>
                    <a:pt x="5608320" y="6731"/>
                  </a:lnTo>
                  <a:lnTo>
                    <a:pt x="5615051" y="6731"/>
                  </a:lnTo>
                  <a:lnTo>
                    <a:pt x="561505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E0E6F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1" name="Google Shape;271;p28"/>
          <p:cNvGrpSpPr/>
          <p:nvPr/>
        </p:nvGrpSpPr>
        <p:grpSpPr>
          <a:xfrm>
            <a:off x="316864" y="3361816"/>
            <a:ext cx="97821" cy="1588293"/>
            <a:chOff x="0" y="0"/>
            <a:chExt cx="260858" cy="4235450"/>
          </a:xfrm>
        </p:grpSpPr>
        <p:sp>
          <p:nvSpPr>
            <p:cNvPr id="272" name="Google Shape;272;p28"/>
            <p:cNvSpPr/>
            <p:nvPr/>
          </p:nvSpPr>
          <p:spPr>
            <a:xfrm>
              <a:off x="8509" y="8509"/>
              <a:ext cx="243840" cy="4218432"/>
            </a:xfrm>
            <a:custGeom>
              <a:rect b="b" l="l" r="r" t="t"/>
              <a:pathLst>
                <a:path extrusionOk="0" h="4218432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4218432"/>
                  </a:lnTo>
                  <a:lnTo>
                    <a:pt x="0" y="4218432"/>
                  </a:ln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</p:sp>
        <p:sp>
          <p:nvSpPr>
            <p:cNvPr id="273" name="Google Shape;273;p28"/>
            <p:cNvSpPr/>
            <p:nvPr/>
          </p:nvSpPr>
          <p:spPr>
            <a:xfrm>
              <a:off x="0" y="0"/>
              <a:ext cx="260858" cy="4235450"/>
            </a:xfrm>
            <a:custGeom>
              <a:rect b="b" l="l" r="r" t="t"/>
              <a:pathLst>
                <a:path extrusionOk="0" h="4235450" w="260858">
                  <a:moveTo>
                    <a:pt x="8509" y="0"/>
                  </a:moveTo>
                  <a:lnTo>
                    <a:pt x="252349" y="0"/>
                  </a:lnTo>
                  <a:cubicBezTo>
                    <a:pt x="257048" y="0"/>
                    <a:pt x="260858" y="3810"/>
                    <a:pt x="260858" y="8509"/>
                  </a:cubicBezTo>
                  <a:lnTo>
                    <a:pt x="260858" y="4226941"/>
                  </a:lnTo>
                  <a:cubicBezTo>
                    <a:pt x="260858" y="4231640"/>
                    <a:pt x="257048" y="4235450"/>
                    <a:pt x="252349" y="4235450"/>
                  </a:cubicBezTo>
                  <a:lnTo>
                    <a:pt x="8509" y="4235450"/>
                  </a:lnTo>
                  <a:cubicBezTo>
                    <a:pt x="3810" y="4235450"/>
                    <a:pt x="0" y="4231640"/>
                    <a:pt x="0" y="4226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226941"/>
                  </a:lnTo>
                  <a:lnTo>
                    <a:pt x="8509" y="4226941"/>
                  </a:lnTo>
                  <a:lnTo>
                    <a:pt x="8509" y="4218432"/>
                  </a:lnTo>
                  <a:lnTo>
                    <a:pt x="252349" y="4218432"/>
                  </a:lnTo>
                  <a:lnTo>
                    <a:pt x="252349" y="4226941"/>
                  </a:lnTo>
                  <a:lnTo>
                    <a:pt x="243840" y="4226941"/>
                  </a:lnTo>
                  <a:lnTo>
                    <a:pt x="243840" y="8509"/>
                  </a:lnTo>
                  <a:lnTo>
                    <a:pt x="252349" y="8509"/>
                  </a:lnTo>
                  <a:lnTo>
                    <a:pt x="2523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4" name="Google Shape;274;p28"/>
          <p:cNvGrpSpPr/>
          <p:nvPr/>
        </p:nvGrpSpPr>
        <p:grpSpPr>
          <a:xfrm>
            <a:off x="444880" y="3397630"/>
            <a:ext cx="253222" cy="253270"/>
            <a:chOff x="0" y="0"/>
            <a:chExt cx="675259" cy="675386"/>
          </a:xfrm>
        </p:grpSpPr>
        <p:sp>
          <p:nvSpPr>
            <p:cNvPr id="275" name="Google Shape;275;p28"/>
            <p:cNvSpPr/>
            <p:nvPr/>
          </p:nvSpPr>
          <p:spPr>
            <a:xfrm>
              <a:off x="8509" y="8509"/>
              <a:ext cx="658368" cy="658368"/>
            </a:xfrm>
            <a:custGeom>
              <a:rect b="b" l="l" r="r" t="t"/>
              <a:pathLst>
                <a:path extrusionOk="0"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0921" y="658368"/>
                    <a:pt x="329184" y="658368"/>
                  </a:cubicBezTo>
                  <a:cubicBezTo>
                    <a:pt x="147447" y="658368"/>
                    <a:pt x="0" y="510921"/>
                    <a:pt x="0" y="329184"/>
                  </a:cubicBez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8"/>
            <p:cNvSpPr/>
            <p:nvPr/>
          </p:nvSpPr>
          <p:spPr>
            <a:xfrm>
              <a:off x="0" y="0"/>
              <a:ext cx="675259" cy="675386"/>
            </a:xfrm>
            <a:custGeom>
              <a:rect b="b" l="l" r="r" t="t"/>
              <a:pathLst>
                <a:path extrusionOk="0" h="675386" w="675259">
                  <a:moveTo>
                    <a:pt x="0" y="337693"/>
                  </a:moveTo>
                  <a:cubicBezTo>
                    <a:pt x="0" y="151130"/>
                    <a:pt x="151130" y="0"/>
                    <a:pt x="337693" y="0"/>
                  </a:cubicBezTo>
                  <a:lnTo>
                    <a:pt x="337693" y="8509"/>
                  </a:lnTo>
                  <a:lnTo>
                    <a:pt x="337693" y="0"/>
                  </a:lnTo>
                  <a:cubicBezTo>
                    <a:pt x="524129" y="0"/>
                    <a:pt x="675259" y="151130"/>
                    <a:pt x="675259" y="337693"/>
                  </a:cubicBezTo>
                  <a:lnTo>
                    <a:pt x="666750" y="337693"/>
                  </a:lnTo>
                  <a:lnTo>
                    <a:pt x="675259" y="337693"/>
                  </a:lnTo>
                  <a:cubicBezTo>
                    <a:pt x="675259" y="524129"/>
                    <a:pt x="524129" y="675386"/>
                    <a:pt x="337566" y="675386"/>
                  </a:cubicBezTo>
                  <a:lnTo>
                    <a:pt x="337566" y="666877"/>
                  </a:lnTo>
                  <a:lnTo>
                    <a:pt x="337566" y="675386"/>
                  </a:lnTo>
                  <a:cubicBezTo>
                    <a:pt x="151130" y="675259"/>
                    <a:pt x="0" y="524129"/>
                    <a:pt x="0" y="337693"/>
                  </a:cubicBezTo>
                  <a:lnTo>
                    <a:pt x="8509" y="337693"/>
                  </a:lnTo>
                  <a:lnTo>
                    <a:pt x="17018" y="337693"/>
                  </a:lnTo>
                  <a:lnTo>
                    <a:pt x="8509" y="337693"/>
                  </a:lnTo>
                  <a:lnTo>
                    <a:pt x="0" y="337693"/>
                  </a:lnTo>
                  <a:moveTo>
                    <a:pt x="16891" y="337693"/>
                  </a:moveTo>
                  <a:cubicBezTo>
                    <a:pt x="16891" y="342392"/>
                    <a:pt x="13081" y="346202"/>
                    <a:pt x="8382" y="346202"/>
                  </a:cubicBezTo>
                  <a:cubicBezTo>
                    <a:pt x="3683" y="346202"/>
                    <a:pt x="0" y="342265"/>
                    <a:pt x="0" y="337693"/>
                  </a:cubicBezTo>
                  <a:cubicBezTo>
                    <a:pt x="0" y="333121"/>
                    <a:pt x="3810" y="329184"/>
                    <a:pt x="8509" y="329184"/>
                  </a:cubicBezTo>
                  <a:cubicBezTo>
                    <a:pt x="13208" y="329184"/>
                    <a:pt x="17018" y="332994"/>
                    <a:pt x="17018" y="337693"/>
                  </a:cubicBezTo>
                  <a:cubicBezTo>
                    <a:pt x="17018" y="514858"/>
                    <a:pt x="160655" y="658368"/>
                    <a:pt x="337693" y="658368"/>
                  </a:cubicBezTo>
                  <a:cubicBezTo>
                    <a:pt x="514858" y="658368"/>
                    <a:pt x="658368" y="514731"/>
                    <a:pt x="658368" y="337693"/>
                  </a:cubicBezTo>
                  <a:cubicBezTo>
                    <a:pt x="658368" y="160528"/>
                    <a:pt x="514731" y="17018"/>
                    <a:pt x="337693" y="17018"/>
                  </a:cubicBezTo>
                  <a:lnTo>
                    <a:pt x="337693" y="8509"/>
                  </a:lnTo>
                  <a:lnTo>
                    <a:pt x="337693" y="17018"/>
                  </a:lnTo>
                  <a:cubicBezTo>
                    <a:pt x="160528" y="16891"/>
                    <a:pt x="16891" y="160528"/>
                    <a:pt x="16891" y="337693"/>
                  </a:cubicBez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7" name="Google Shape;277;p28"/>
          <p:cNvGrpSpPr/>
          <p:nvPr/>
        </p:nvGrpSpPr>
        <p:grpSpPr>
          <a:xfrm>
            <a:off x="467740" y="3428905"/>
            <a:ext cx="207521" cy="159635"/>
            <a:chOff x="0" y="-38100"/>
            <a:chExt cx="553390" cy="425693"/>
          </a:xfrm>
        </p:grpSpPr>
        <p:sp>
          <p:nvSpPr>
            <p:cNvPr id="278" name="Google Shape;278;p28"/>
            <p:cNvSpPr/>
            <p:nvPr/>
          </p:nvSpPr>
          <p:spPr>
            <a:xfrm>
              <a:off x="0" y="0"/>
              <a:ext cx="553384" cy="387593"/>
            </a:xfrm>
            <a:custGeom>
              <a:rect b="b" l="l" r="r" t="t"/>
              <a:pathLst>
                <a:path extrusionOk="0" h="387593" w="553384">
                  <a:moveTo>
                    <a:pt x="0" y="0"/>
                  </a:moveTo>
                  <a:lnTo>
                    <a:pt x="553384" y="0"/>
                  </a:lnTo>
                  <a:lnTo>
                    <a:pt x="553384" y="387593"/>
                  </a:lnTo>
                  <a:lnTo>
                    <a:pt x="0" y="38759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9863" r="-39863" t="0"/>
              </a:stretch>
            </a:blipFill>
            <a:ln>
              <a:noFill/>
            </a:ln>
          </p:spPr>
        </p:sp>
        <p:sp>
          <p:nvSpPr>
            <p:cNvPr id="279" name="Google Shape;279;p28"/>
            <p:cNvSpPr txBox="1"/>
            <p:nvPr/>
          </p:nvSpPr>
          <p:spPr>
            <a:xfrm>
              <a:off x="0" y="-38100"/>
              <a:ext cx="553390" cy="4256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700"/>
            </a:p>
          </p:txBody>
        </p:sp>
      </p:grpSp>
      <p:grpSp>
        <p:nvGrpSpPr>
          <p:cNvPr id="280" name="Google Shape;280;p28"/>
          <p:cNvGrpSpPr/>
          <p:nvPr/>
        </p:nvGrpSpPr>
        <p:grpSpPr>
          <a:xfrm>
            <a:off x="746632" y="3410560"/>
            <a:ext cx="1597409" cy="141462"/>
            <a:chOff x="0" y="-38100"/>
            <a:chExt cx="4259758" cy="377231"/>
          </a:xfrm>
        </p:grpSpPr>
        <p:sp>
          <p:nvSpPr>
            <p:cNvPr id="281" name="Google Shape;281;p28"/>
            <p:cNvSpPr/>
            <p:nvPr/>
          </p:nvSpPr>
          <p:spPr>
            <a:xfrm>
              <a:off x="0" y="0"/>
              <a:ext cx="4259753" cy="339131"/>
            </a:xfrm>
            <a:custGeom>
              <a:rect b="b" l="l" r="r" t="t"/>
              <a:pathLst>
                <a:path extrusionOk="0" h="339131" w="4259753">
                  <a:moveTo>
                    <a:pt x="0" y="0"/>
                  </a:moveTo>
                  <a:lnTo>
                    <a:pt x="4259753" y="0"/>
                  </a:lnTo>
                  <a:lnTo>
                    <a:pt x="4259753" y="339131"/>
                  </a:lnTo>
                  <a:lnTo>
                    <a:pt x="0" y="3391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4738" l="0" r="0" t="-194738"/>
              </a:stretch>
            </a:blipFill>
            <a:ln>
              <a:noFill/>
            </a:ln>
          </p:spPr>
        </p:sp>
        <p:sp>
          <p:nvSpPr>
            <p:cNvPr id="282" name="Google Shape;282;p28"/>
            <p:cNvSpPr txBox="1"/>
            <p:nvPr/>
          </p:nvSpPr>
          <p:spPr>
            <a:xfrm>
              <a:off x="0" y="-38100"/>
              <a:ext cx="4259758" cy="37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4527A0"/>
                  </a:solidFill>
                  <a:latin typeface="Calibri"/>
                  <a:ea typeface="Calibri"/>
                  <a:cs typeface="Calibri"/>
                  <a:sym typeface="Calibri"/>
                </a:rPr>
                <a:t>FraudGT + BDH Ensemble</a:t>
              </a:r>
              <a:endParaRPr sz="700"/>
            </a:p>
          </p:txBody>
        </p:sp>
      </p:grpSp>
      <p:sp>
        <p:nvSpPr>
          <p:cNvPr id="283" name="Google Shape;283;p28"/>
          <p:cNvSpPr txBox="1"/>
          <p:nvPr/>
        </p:nvSpPr>
        <p:spPr>
          <a:xfrm>
            <a:off x="490599" y="3658234"/>
            <a:ext cx="1816865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37474F"/>
                </a:solidFill>
                <a:latin typeface="Calibri"/>
                <a:ea typeface="Calibri"/>
                <a:cs typeface="Calibri"/>
                <a:sym typeface="Calibri"/>
              </a:rPr>
              <a:t>Graph Transformer (FraudGT) detects structural anomalies — cyclic payments, chain depth, motif patterns — on the IBM AML-HI-Large dataset (2.1M nodes, 180M txns). BDH model generates human-readable fraud reasons forwarded to the LLM for SAR drafting.</a:t>
            </a:r>
            <a:endParaRPr sz="700"/>
          </a:p>
        </p:txBody>
      </p:sp>
      <p:grpSp>
        <p:nvGrpSpPr>
          <p:cNvPr id="284" name="Google Shape;284;p28"/>
          <p:cNvGrpSpPr/>
          <p:nvPr/>
        </p:nvGrpSpPr>
        <p:grpSpPr>
          <a:xfrm>
            <a:off x="446151" y="4560951"/>
            <a:ext cx="1905762" cy="332994"/>
            <a:chOff x="0" y="0"/>
            <a:chExt cx="5082032" cy="887984"/>
          </a:xfrm>
        </p:grpSpPr>
        <p:sp>
          <p:nvSpPr>
            <p:cNvPr id="285" name="Google Shape;285;p28"/>
            <p:cNvSpPr/>
            <p:nvPr/>
          </p:nvSpPr>
          <p:spPr>
            <a:xfrm>
              <a:off x="5080" y="5080"/>
              <a:ext cx="5071872" cy="877824"/>
            </a:xfrm>
            <a:custGeom>
              <a:rect b="b" l="l" r="r" t="t"/>
              <a:pathLst>
                <a:path extrusionOk="0" h="877824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3F4FF"/>
            </a:solidFill>
            <a:ln>
              <a:noFill/>
            </a:ln>
          </p:spPr>
        </p:sp>
        <p:sp>
          <p:nvSpPr>
            <p:cNvPr id="286" name="Google Shape;286;p28"/>
            <p:cNvSpPr/>
            <p:nvPr/>
          </p:nvSpPr>
          <p:spPr>
            <a:xfrm>
              <a:off x="0" y="0"/>
              <a:ext cx="5082032" cy="887984"/>
            </a:xfrm>
            <a:custGeom>
              <a:rect b="b" l="l" r="r" t="t"/>
              <a:pathLst>
                <a:path extrusionOk="0" h="887984" w="5082032">
                  <a:moveTo>
                    <a:pt x="5080" y="0"/>
                  </a:moveTo>
                  <a:lnTo>
                    <a:pt x="5076952" y="0"/>
                  </a:lnTo>
                  <a:cubicBezTo>
                    <a:pt x="5079746" y="0"/>
                    <a:pt x="5082032" y="2286"/>
                    <a:pt x="5082032" y="5080"/>
                  </a:cubicBezTo>
                  <a:lnTo>
                    <a:pt x="5082032" y="882904"/>
                  </a:lnTo>
                  <a:cubicBezTo>
                    <a:pt x="5082032" y="885698"/>
                    <a:pt x="5079746" y="887984"/>
                    <a:pt x="5076952" y="887984"/>
                  </a:cubicBezTo>
                  <a:lnTo>
                    <a:pt x="5080" y="887984"/>
                  </a:lnTo>
                  <a:cubicBezTo>
                    <a:pt x="2286" y="887984"/>
                    <a:pt x="0" y="885698"/>
                    <a:pt x="0" y="88290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882904"/>
                  </a:lnTo>
                  <a:lnTo>
                    <a:pt x="5080" y="882904"/>
                  </a:lnTo>
                  <a:lnTo>
                    <a:pt x="5080" y="877824"/>
                  </a:lnTo>
                  <a:lnTo>
                    <a:pt x="5076952" y="877824"/>
                  </a:lnTo>
                  <a:lnTo>
                    <a:pt x="5076952" y="882904"/>
                  </a:lnTo>
                  <a:lnTo>
                    <a:pt x="5071872" y="882904"/>
                  </a:lnTo>
                  <a:lnTo>
                    <a:pt x="5071872" y="5080"/>
                  </a:lnTo>
                  <a:lnTo>
                    <a:pt x="5076952" y="5080"/>
                  </a:lnTo>
                  <a:lnTo>
                    <a:pt x="5076952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" name="Google Shape;287;p28"/>
          <p:cNvGrpSpPr/>
          <p:nvPr/>
        </p:nvGrpSpPr>
        <p:grpSpPr>
          <a:xfrm>
            <a:off x="504316" y="4611867"/>
            <a:ext cx="737873" cy="216871"/>
            <a:chOff x="0" y="-38100"/>
            <a:chExt cx="1967662" cy="578324"/>
          </a:xfrm>
        </p:grpSpPr>
        <p:sp>
          <p:nvSpPr>
            <p:cNvPr id="288" name="Google Shape;288;p28"/>
            <p:cNvSpPr/>
            <p:nvPr/>
          </p:nvSpPr>
          <p:spPr>
            <a:xfrm>
              <a:off x="0" y="0"/>
              <a:ext cx="1967657" cy="540224"/>
            </a:xfrm>
            <a:custGeom>
              <a:rect b="b" l="l" r="r" t="t"/>
              <a:pathLst>
                <a:path extrusionOk="0" h="540224" w="1967657">
                  <a:moveTo>
                    <a:pt x="0" y="0"/>
                  </a:moveTo>
                  <a:lnTo>
                    <a:pt x="1967657" y="0"/>
                  </a:lnTo>
                  <a:lnTo>
                    <a:pt x="1967657" y="540224"/>
                  </a:lnTo>
                  <a:lnTo>
                    <a:pt x="0" y="5402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970" l="0" r="0" t="-20970"/>
              </a:stretch>
            </a:blipFill>
            <a:ln>
              <a:noFill/>
            </a:ln>
          </p:spPr>
        </p:sp>
        <p:sp>
          <p:nvSpPr>
            <p:cNvPr id="289" name="Google Shape;289;p28"/>
            <p:cNvSpPr txBox="1"/>
            <p:nvPr/>
          </p:nvSpPr>
          <p:spPr>
            <a:xfrm>
              <a:off x="0" y="-38100"/>
              <a:ext cx="1967662" cy="578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200" u="none" cap="none" strike="noStrike">
                  <a:solidFill>
                    <a:srgbClr val="4527A0"/>
                  </a:solidFill>
                  <a:latin typeface="Calibri"/>
                  <a:ea typeface="Calibri"/>
                  <a:cs typeface="Calibri"/>
                  <a:sym typeface="Calibri"/>
                </a:rPr>
                <a:t>F1: 0.72</a:t>
              </a:r>
              <a:endParaRPr sz="700"/>
            </a:p>
          </p:txBody>
        </p:sp>
      </p:grpSp>
      <p:grpSp>
        <p:nvGrpSpPr>
          <p:cNvPr id="290" name="Google Shape;290;p28"/>
          <p:cNvGrpSpPr/>
          <p:nvPr/>
        </p:nvGrpSpPr>
        <p:grpSpPr>
          <a:xfrm>
            <a:off x="1299844" y="4643356"/>
            <a:ext cx="1030481" cy="157465"/>
            <a:chOff x="0" y="-28575"/>
            <a:chExt cx="2747950" cy="419906"/>
          </a:xfrm>
        </p:grpSpPr>
        <p:sp>
          <p:nvSpPr>
            <p:cNvPr id="291" name="Google Shape;291;p28"/>
            <p:cNvSpPr/>
            <p:nvPr/>
          </p:nvSpPr>
          <p:spPr>
            <a:xfrm>
              <a:off x="0" y="0"/>
              <a:ext cx="2747944" cy="391331"/>
            </a:xfrm>
            <a:custGeom>
              <a:rect b="b" l="l" r="r" t="t"/>
              <a:pathLst>
                <a:path extrusionOk="0" h="391331" w="2747944">
                  <a:moveTo>
                    <a:pt x="0" y="0"/>
                  </a:moveTo>
                  <a:lnTo>
                    <a:pt x="2747944" y="0"/>
                  </a:lnTo>
                  <a:lnTo>
                    <a:pt x="2747944" y="391331"/>
                  </a:lnTo>
                  <a:lnTo>
                    <a:pt x="0" y="3913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824" l="0" r="0" t="-86826"/>
              </a:stretch>
            </a:blipFill>
            <a:ln>
              <a:noFill/>
            </a:ln>
          </p:spPr>
        </p:sp>
        <p:sp>
          <p:nvSpPr>
            <p:cNvPr id="292" name="Google Shape;292;p28"/>
            <p:cNvSpPr txBox="1"/>
            <p:nvPr/>
          </p:nvSpPr>
          <p:spPr>
            <a:xfrm>
              <a:off x="0" y="-28575"/>
              <a:ext cx="2747950" cy="41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vs. 0.42 XGBoost</a:t>
              </a:r>
              <a:endParaRPr sz="700"/>
            </a:p>
          </p:txBody>
        </p:sp>
      </p:grpSp>
      <p:grpSp>
        <p:nvGrpSpPr>
          <p:cNvPr id="293" name="Google Shape;293;p28"/>
          <p:cNvGrpSpPr/>
          <p:nvPr/>
        </p:nvGrpSpPr>
        <p:grpSpPr>
          <a:xfrm>
            <a:off x="2475486" y="3362449"/>
            <a:ext cx="2108168" cy="1586960"/>
            <a:chOff x="0" y="0"/>
            <a:chExt cx="5621782" cy="4231894"/>
          </a:xfrm>
        </p:grpSpPr>
        <p:sp>
          <p:nvSpPr>
            <p:cNvPr id="294" name="Google Shape;294;p28"/>
            <p:cNvSpPr/>
            <p:nvPr/>
          </p:nvSpPr>
          <p:spPr>
            <a:xfrm>
              <a:off x="6731" y="6731"/>
              <a:ext cx="5608320" cy="4218432"/>
            </a:xfrm>
            <a:custGeom>
              <a:rect b="b" l="l" r="r" t="t"/>
              <a:pathLst>
                <a:path extrusionOk="0" h="421843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4218432"/>
                  </a:lnTo>
                  <a:lnTo>
                    <a:pt x="0" y="42184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5" name="Google Shape;295;p28"/>
            <p:cNvSpPr/>
            <p:nvPr/>
          </p:nvSpPr>
          <p:spPr>
            <a:xfrm>
              <a:off x="0" y="0"/>
              <a:ext cx="5621782" cy="4231894"/>
            </a:xfrm>
            <a:custGeom>
              <a:rect b="b" l="l" r="r" t="t"/>
              <a:pathLst>
                <a:path extrusionOk="0" h="4231894" w="5621782">
                  <a:moveTo>
                    <a:pt x="6731" y="0"/>
                  </a:moveTo>
                  <a:lnTo>
                    <a:pt x="5615051" y="0"/>
                  </a:lnTo>
                  <a:cubicBezTo>
                    <a:pt x="5618734" y="0"/>
                    <a:pt x="5621782" y="3048"/>
                    <a:pt x="5621782" y="6731"/>
                  </a:cubicBezTo>
                  <a:lnTo>
                    <a:pt x="5621782" y="4225163"/>
                  </a:lnTo>
                  <a:cubicBezTo>
                    <a:pt x="5621782" y="4228846"/>
                    <a:pt x="5618734" y="4231894"/>
                    <a:pt x="5615051" y="4231894"/>
                  </a:cubicBezTo>
                  <a:lnTo>
                    <a:pt x="6731" y="4231894"/>
                  </a:lnTo>
                  <a:cubicBezTo>
                    <a:pt x="3048" y="4231894"/>
                    <a:pt x="0" y="4228846"/>
                    <a:pt x="0" y="4225163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4225163"/>
                  </a:lnTo>
                  <a:lnTo>
                    <a:pt x="6731" y="4225163"/>
                  </a:lnTo>
                  <a:lnTo>
                    <a:pt x="6731" y="4218432"/>
                  </a:lnTo>
                  <a:lnTo>
                    <a:pt x="5615051" y="4218432"/>
                  </a:lnTo>
                  <a:lnTo>
                    <a:pt x="5615051" y="4225163"/>
                  </a:lnTo>
                  <a:lnTo>
                    <a:pt x="5608320" y="4225163"/>
                  </a:lnTo>
                  <a:lnTo>
                    <a:pt x="5608320" y="6731"/>
                  </a:lnTo>
                  <a:lnTo>
                    <a:pt x="5615051" y="6731"/>
                  </a:lnTo>
                  <a:lnTo>
                    <a:pt x="561505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E0E6F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6" name="Google Shape;296;p28"/>
          <p:cNvGrpSpPr/>
          <p:nvPr/>
        </p:nvGrpSpPr>
        <p:grpSpPr>
          <a:xfrm>
            <a:off x="2474848" y="3361816"/>
            <a:ext cx="61245" cy="1588293"/>
            <a:chOff x="0" y="0"/>
            <a:chExt cx="163322" cy="4235450"/>
          </a:xfrm>
        </p:grpSpPr>
        <p:sp>
          <p:nvSpPr>
            <p:cNvPr id="297" name="Google Shape;297;p28"/>
            <p:cNvSpPr/>
            <p:nvPr/>
          </p:nvSpPr>
          <p:spPr>
            <a:xfrm>
              <a:off x="8509" y="8509"/>
              <a:ext cx="146304" cy="4218432"/>
            </a:xfrm>
            <a:custGeom>
              <a:rect b="b" l="l" r="r" t="t"/>
              <a:pathLst>
                <a:path extrusionOk="0" h="421843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218432"/>
                  </a:lnTo>
                  <a:lnTo>
                    <a:pt x="0" y="4218432"/>
                  </a:ln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</p:sp>
        <p:sp>
          <p:nvSpPr>
            <p:cNvPr id="298" name="Google Shape;298;p28"/>
            <p:cNvSpPr/>
            <p:nvPr/>
          </p:nvSpPr>
          <p:spPr>
            <a:xfrm>
              <a:off x="0" y="0"/>
              <a:ext cx="163322" cy="4235450"/>
            </a:xfrm>
            <a:custGeom>
              <a:rect b="b" l="l" r="r" t="t"/>
              <a:pathLst>
                <a:path extrusionOk="0" h="4235450" w="163322">
                  <a:moveTo>
                    <a:pt x="8509" y="0"/>
                  </a:moveTo>
                  <a:lnTo>
                    <a:pt x="154813" y="0"/>
                  </a:lnTo>
                  <a:cubicBezTo>
                    <a:pt x="159512" y="0"/>
                    <a:pt x="163322" y="3810"/>
                    <a:pt x="163322" y="8509"/>
                  </a:cubicBezTo>
                  <a:lnTo>
                    <a:pt x="163322" y="4226941"/>
                  </a:lnTo>
                  <a:cubicBezTo>
                    <a:pt x="163322" y="4231640"/>
                    <a:pt x="159512" y="4235450"/>
                    <a:pt x="154813" y="4235450"/>
                  </a:cubicBezTo>
                  <a:lnTo>
                    <a:pt x="8509" y="4235450"/>
                  </a:lnTo>
                  <a:cubicBezTo>
                    <a:pt x="3810" y="4235450"/>
                    <a:pt x="0" y="4231640"/>
                    <a:pt x="0" y="4226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226941"/>
                  </a:lnTo>
                  <a:lnTo>
                    <a:pt x="8509" y="4226941"/>
                  </a:lnTo>
                  <a:lnTo>
                    <a:pt x="8509" y="4218432"/>
                  </a:lnTo>
                  <a:lnTo>
                    <a:pt x="154813" y="4218432"/>
                  </a:lnTo>
                  <a:lnTo>
                    <a:pt x="154813" y="4226941"/>
                  </a:lnTo>
                  <a:lnTo>
                    <a:pt x="146304" y="4226941"/>
                  </a:lnTo>
                  <a:lnTo>
                    <a:pt x="146304" y="8509"/>
                  </a:lnTo>
                  <a:lnTo>
                    <a:pt x="154813" y="8509"/>
                  </a:lnTo>
                  <a:lnTo>
                    <a:pt x="1548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9" name="Google Shape;299;p28"/>
          <p:cNvGrpSpPr/>
          <p:nvPr/>
        </p:nvGrpSpPr>
        <p:grpSpPr>
          <a:xfrm>
            <a:off x="2602864" y="3397377"/>
            <a:ext cx="253222" cy="253270"/>
            <a:chOff x="0" y="0"/>
            <a:chExt cx="675259" cy="675386"/>
          </a:xfrm>
        </p:grpSpPr>
        <p:sp>
          <p:nvSpPr>
            <p:cNvPr id="300" name="Google Shape;300;p28"/>
            <p:cNvSpPr/>
            <p:nvPr/>
          </p:nvSpPr>
          <p:spPr>
            <a:xfrm>
              <a:off x="8509" y="8509"/>
              <a:ext cx="658368" cy="658368"/>
            </a:xfrm>
            <a:custGeom>
              <a:rect b="b" l="l" r="r" t="t"/>
              <a:pathLst>
                <a:path extrusionOk="0"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0921" y="658368"/>
                    <a:pt x="329184" y="658368"/>
                  </a:cubicBezTo>
                  <a:cubicBezTo>
                    <a:pt x="147447" y="658368"/>
                    <a:pt x="0" y="510921"/>
                    <a:pt x="0" y="329184"/>
                  </a:cubicBez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8"/>
            <p:cNvSpPr/>
            <p:nvPr/>
          </p:nvSpPr>
          <p:spPr>
            <a:xfrm>
              <a:off x="0" y="0"/>
              <a:ext cx="675259" cy="675386"/>
            </a:xfrm>
            <a:custGeom>
              <a:rect b="b" l="l" r="r" t="t"/>
              <a:pathLst>
                <a:path extrusionOk="0" h="675386" w="675259">
                  <a:moveTo>
                    <a:pt x="0" y="337693"/>
                  </a:moveTo>
                  <a:cubicBezTo>
                    <a:pt x="0" y="151130"/>
                    <a:pt x="151130" y="0"/>
                    <a:pt x="337693" y="0"/>
                  </a:cubicBezTo>
                  <a:lnTo>
                    <a:pt x="337693" y="8509"/>
                  </a:lnTo>
                  <a:lnTo>
                    <a:pt x="337693" y="0"/>
                  </a:lnTo>
                  <a:cubicBezTo>
                    <a:pt x="524129" y="0"/>
                    <a:pt x="675259" y="151130"/>
                    <a:pt x="675259" y="337693"/>
                  </a:cubicBezTo>
                  <a:lnTo>
                    <a:pt x="666750" y="337693"/>
                  </a:lnTo>
                  <a:lnTo>
                    <a:pt x="675259" y="337693"/>
                  </a:lnTo>
                  <a:cubicBezTo>
                    <a:pt x="675259" y="524129"/>
                    <a:pt x="524129" y="675386"/>
                    <a:pt x="337566" y="675386"/>
                  </a:cubicBezTo>
                  <a:lnTo>
                    <a:pt x="337566" y="666877"/>
                  </a:lnTo>
                  <a:lnTo>
                    <a:pt x="337566" y="675386"/>
                  </a:lnTo>
                  <a:cubicBezTo>
                    <a:pt x="151130" y="675259"/>
                    <a:pt x="0" y="524129"/>
                    <a:pt x="0" y="337693"/>
                  </a:cubicBezTo>
                  <a:lnTo>
                    <a:pt x="8509" y="337693"/>
                  </a:lnTo>
                  <a:lnTo>
                    <a:pt x="17018" y="337693"/>
                  </a:lnTo>
                  <a:lnTo>
                    <a:pt x="8509" y="337693"/>
                  </a:lnTo>
                  <a:lnTo>
                    <a:pt x="0" y="337693"/>
                  </a:lnTo>
                  <a:moveTo>
                    <a:pt x="16891" y="337693"/>
                  </a:moveTo>
                  <a:cubicBezTo>
                    <a:pt x="16891" y="342392"/>
                    <a:pt x="13081" y="346202"/>
                    <a:pt x="8382" y="346202"/>
                  </a:cubicBezTo>
                  <a:cubicBezTo>
                    <a:pt x="3683" y="346202"/>
                    <a:pt x="0" y="342265"/>
                    <a:pt x="0" y="337693"/>
                  </a:cubicBezTo>
                  <a:cubicBezTo>
                    <a:pt x="0" y="333121"/>
                    <a:pt x="3810" y="329184"/>
                    <a:pt x="8509" y="329184"/>
                  </a:cubicBezTo>
                  <a:cubicBezTo>
                    <a:pt x="13208" y="329184"/>
                    <a:pt x="17018" y="332994"/>
                    <a:pt x="17018" y="337693"/>
                  </a:cubicBezTo>
                  <a:cubicBezTo>
                    <a:pt x="17018" y="514858"/>
                    <a:pt x="160655" y="658368"/>
                    <a:pt x="337693" y="658368"/>
                  </a:cubicBezTo>
                  <a:cubicBezTo>
                    <a:pt x="514858" y="658368"/>
                    <a:pt x="658368" y="514731"/>
                    <a:pt x="658368" y="337693"/>
                  </a:cubicBezTo>
                  <a:cubicBezTo>
                    <a:pt x="658368" y="160528"/>
                    <a:pt x="514731" y="17018"/>
                    <a:pt x="337693" y="17018"/>
                  </a:cubicBezTo>
                  <a:lnTo>
                    <a:pt x="337693" y="8509"/>
                  </a:lnTo>
                  <a:lnTo>
                    <a:pt x="337693" y="17018"/>
                  </a:lnTo>
                  <a:cubicBezTo>
                    <a:pt x="160528" y="16891"/>
                    <a:pt x="16891" y="160528"/>
                    <a:pt x="16891" y="337693"/>
                  </a:cubicBez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" name="Google Shape;302;p28"/>
          <p:cNvGrpSpPr/>
          <p:nvPr/>
        </p:nvGrpSpPr>
        <p:grpSpPr>
          <a:xfrm>
            <a:off x="2625724" y="3430939"/>
            <a:ext cx="207521" cy="159635"/>
            <a:chOff x="0" y="-38100"/>
            <a:chExt cx="553390" cy="425693"/>
          </a:xfrm>
        </p:grpSpPr>
        <p:sp>
          <p:nvSpPr>
            <p:cNvPr id="303" name="Google Shape;303;p28"/>
            <p:cNvSpPr/>
            <p:nvPr/>
          </p:nvSpPr>
          <p:spPr>
            <a:xfrm>
              <a:off x="0" y="0"/>
              <a:ext cx="553384" cy="387593"/>
            </a:xfrm>
            <a:custGeom>
              <a:rect b="b" l="l" r="r" t="t"/>
              <a:pathLst>
                <a:path extrusionOk="0" h="387593" w="553384">
                  <a:moveTo>
                    <a:pt x="0" y="0"/>
                  </a:moveTo>
                  <a:lnTo>
                    <a:pt x="553384" y="0"/>
                  </a:lnTo>
                  <a:lnTo>
                    <a:pt x="553384" y="387593"/>
                  </a:lnTo>
                  <a:lnTo>
                    <a:pt x="0" y="38759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9863" r="-39863" t="0"/>
              </a:stretch>
            </a:blipFill>
            <a:ln>
              <a:noFill/>
            </a:ln>
          </p:spPr>
        </p:sp>
        <p:sp>
          <p:nvSpPr>
            <p:cNvPr id="304" name="Google Shape;304;p28"/>
            <p:cNvSpPr txBox="1"/>
            <p:nvPr/>
          </p:nvSpPr>
          <p:spPr>
            <a:xfrm>
              <a:off x="0" y="-38100"/>
              <a:ext cx="553390" cy="4256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700"/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2904616" y="3410560"/>
            <a:ext cx="1597409" cy="141462"/>
            <a:chOff x="0" y="-38100"/>
            <a:chExt cx="4259758" cy="377231"/>
          </a:xfrm>
        </p:grpSpPr>
        <p:sp>
          <p:nvSpPr>
            <p:cNvPr id="306" name="Google Shape;306;p28"/>
            <p:cNvSpPr/>
            <p:nvPr/>
          </p:nvSpPr>
          <p:spPr>
            <a:xfrm>
              <a:off x="0" y="0"/>
              <a:ext cx="4259752" cy="339131"/>
            </a:xfrm>
            <a:custGeom>
              <a:rect b="b" l="l" r="r" t="t"/>
              <a:pathLst>
                <a:path extrusionOk="0" h="339131" w="4259752">
                  <a:moveTo>
                    <a:pt x="0" y="0"/>
                  </a:moveTo>
                  <a:lnTo>
                    <a:pt x="4259752" y="0"/>
                  </a:lnTo>
                  <a:lnTo>
                    <a:pt x="4259752" y="339131"/>
                  </a:lnTo>
                  <a:lnTo>
                    <a:pt x="0" y="3391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4738" l="0" r="0" t="-194738"/>
              </a:stretch>
            </a:blipFill>
            <a:ln>
              <a:noFill/>
            </a:ln>
          </p:spPr>
        </p:sp>
        <p:sp>
          <p:nvSpPr>
            <p:cNvPr id="307" name="Google Shape;307;p28"/>
            <p:cNvSpPr txBox="1"/>
            <p:nvPr/>
          </p:nvSpPr>
          <p:spPr>
            <a:xfrm>
              <a:off x="0" y="-38100"/>
              <a:ext cx="4259758" cy="37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00695C"/>
                  </a:solidFill>
                  <a:latin typeface="Calibri"/>
                  <a:ea typeface="Calibri"/>
                  <a:cs typeface="Calibri"/>
                  <a:sym typeface="Calibri"/>
                </a:rPr>
                <a:t>DPI-Native Architecture</a:t>
              </a:r>
              <a:endParaRPr sz="700"/>
            </a:p>
          </p:txBody>
        </p:sp>
      </p:grpSp>
      <p:sp>
        <p:nvSpPr>
          <p:cNvPr id="308" name="Google Shape;308;p28"/>
          <p:cNvSpPr txBox="1"/>
          <p:nvPr/>
        </p:nvSpPr>
        <p:spPr>
          <a:xfrm>
            <a:off x="2648584" y="3658234"/>
            <a:ext cx="181686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37474F"/>
                </a:solidFill>
                <a:latin typeface="Calibri"/>
                <a:ea typeface="Calibri"/>
                <a:cs typeface="Calibri"/>
                <a:sym typeface="Calibri"/>
              </a:rPr>
              <a:t>Explicitly built for India's Digital Public Infrastructure. Leverages Account Aggregator (AA) framework for consent-based real-time financial data ingestion. Aligns with RBI Real-time FRM mandate and DPDP Act 2023 data minimisation principles.</a:t>
            </a:r>
            <a:endParaRPr sz="700"/>
          </a:p>
        </p:txBody>
      </p:sp>
      <p:grpSp>
        <p:nvGrpSpPr>
          <p:cNvPr id="309" name="Google Shape;309;p28"/>
          <p:cNvGrpSpPr/>
          <p:nvPr/>
        </p:nvGrpSpPr>
        <p:grpSpPr>
          <a:xfrm>
            <a:off x="2604135" y="4560951"/>
            <a:ext cx="1905762" cy="332994"/>
            <a:chOff x="0" y="0"/>
            <a:chExt cx="5082032" cy="887984"/>
          </a:xfrm>
        </p:grpSpPr>
        <p:sp>
          <p:nvSpPr>
            <p:cNvPr id="310" name="Google Shape;310;p28"/>
            <p:cNvSpPr/>
            <p:nvPr/>
          </p:nvSpPr>
          <p:spPr>
            <a:xfrm>
              <a:off x="5080" y="5080"/>
              <a:ext cx="5071872" cy="877824"/>
            </a:xfrm>
            <a:custGeom>
              <a:rect b="b" l="l" r="r" t="t"/>
              <a:pathLst>
                <a:path extrusionOk="0" h="877824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3F4FF"/>
            </a:solidFill>
            <a:ln>
              <a:noFill/>
            </a:ln>
          </p:spPr>
        </p:sp>
        <p:sp>
          <p:nvSpPr>
            <p:cNvPr id="311" name="Google Shape;311;p28"/>
            <p:cNvSpPr/>
            <p:nvPr/>
          </p:nvSpPr>
          <p:spPr>
            <a:xfrm>
              <a:off x="0" y="0"/>
              <a:ext cx="5082032" cy="887984"/>
            </a:xfrm>
            <a:custGeom>
              <a:rect b="b" l="l" r="r" t="t"/>
              <a:pathLst>
                <a:path extrusionOk="0" h="887984" w="5082032">
                  <a:moveTo>
                    <a:pt x="5080" y="0"/>
                  </a:moveTo>
                  <a:lnTo>
                    <a:pt x="5076952" y="0"/>
                  </a:lnTo>
                  <a:cubicBezTo>
                    <a:pt x="5079746" y="0"/>
                    <a:pt x="5082032" y="2286"/>
                    <a:pt x="5082032" y="5080"/>
                  </a:cubicBezTo>
                  <a:lnTo>
                    <a:pt x="5082032" y="882904"/>
                  </a:lnTo>
                  <a:cubicBezTo>
                    <a:pt x="5082032" y="885698"/>
                    <a:pt x="5079746" y="887984"/>
                    <a:pt x="5076952" y="887984"/>
                  </a:cubicBezTo>
                  <a:lnTo>
                    <a:pt x="5080" y="887984"/>
                  </a:lnTo>
                  <a:cubicBezTo>
                    <a:pt x="2286" y="887984"/>
                    <a:pt x="0" y="885698"/>
                    <a:pt x="0" y="88290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882904"/>
                  </a:lnTo>
                  <a:lnTo>
                    <a:pt x="5080" y="882904"/>
                  </a:lnTo>
                  <a:lnTo>
                    <a:pt x="5080" y="877824"/>
                  </a:lnTo>
                  <a:lnTo>
                    <a:pt x="5076952" y="877824"/>
                  </a:lnTo>
                  <a:lnTo>
                    <a:pt x="5076952" y="882904"/>
                  </a:lnTo>
                  <a:lnTo>
                    <a:pt x="5071872" y="882904"/>
                  </a:lnTo>
                  <a:lnTo>
                    <a:pt x="5071872" y="5080"/>
                  </a:lnTo>
                  <a:lnTo>
                    <a:pt x="5076952" y="5080"/>
                  </a:lnTo>
                  <a:lnTo>
                    <a:pt x="5076952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2" name="Google Shape;312;p28"/>
          <p:cNvGrpSpPr/>
          <p:nvPr/>
        </p:nvGrpSpPr>
        <p:grpSpPr>
          <a:xfrm>
            <a:off x="2662300" y="4611867"/>
            <a:ext cx="737873" cy="216871"/>
            <a:chOff x="0" y="-38100"/>
            <a:chExt cx="1967662" cy="578324"/>
          </a:xfrm>
        </p:grpSpPr>
        <p:sp>
          <p:nvSpPr>
            <p:cNvPr id="313" name="Google Shape;313;p28"/>
            <p:cNvSpPr/>
            <p:nvPr/>
          </p:nvSpPr>
          <p:spPr>
            <a:xfrm>
              <a:off x="0" y="0"/>
              <a:ext cx="1967656" cy="540224"/>
            </a:xfrm>
            <a:custGeom>
              <a:rect b="b" l="l" r="r" t="t"/>
              <a:pathLst>
                <a:path extrusionOk="0" h="540224" w="1967656">
                  <a:moveTo>
                    <a:pt x="0" y="0"/>
                  </a:moveTo>
                  <a:lnTo>
                    <a:pt x="1967656" y="0"/>
                  </a:lnTo>
                  <a:lnTo>
                    <a:pt x="1967656" y="540224"/>
                  </a:lnTo>
                  <a:lnTo>
                    <a:pt x="0" y="5402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970" l="0" r="0" t="-20970"/>
              </a:stretch>
            </a:blipFill>
            <a:ln>
              <a:noFill/>
            </a:ln>
          </p:spPr>
        </p:sp>
        <p:sp>
          <p:nvSpPr>
            <p:cNvPr id="314" name="Google Shape;314;p28"/>
            <p:cNvSpPr txBox="1"/>
            <p:nvPr/>
          </p:nvSpPr>
          <p:spPr>
            <a:xfrm>
              <a:off x="0" y="-38100"/>
              <a:ext cx="1967662" cy="578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200" u="none" cap="none" strike="noStrike">
                  <a:solidFill>
                    <a:srgbClr val="00695C"/>
                  </a:solidFill>
                  <a:latin typeface="Calibri"/>
                  <a:ea typeface="Calibri"/>
                  <a:cs typeface="Calibri"/>
                  <a:sym typeface="Calibri"/>
                </a:rPr>
                <a:t>PMLA</a:t>
              </a:r>
              <a:endParaRPr sz="700"/>
            </a:p>
          </p:txBody>
        </p:sp>
      </p:grpSp>
      <p:grpSp>
        <p:nvGrpSpPr>
          <p:cNvPr id="315" name="Google Shape;315;p28"/>
          <p:cNvGrpSpPr/>
          <p:nvPr/>
        </p:nvGrpSpPr>
        <p:grpSpPr>
          <a:xfrm>
            <a:off x="3457828" y="4643356"/>
            <a:ext cx="1030481" cy="157465"/>
            <a:chOff x="0" y="-28575"/>
            <a:chExt cx="2747950" cy="419906"/>
          </a:xfrm>
        </p:grpSpPr>
        <p:sp>
          <p:nvSpPr>
            <p:cNvPr id="316" name="Google Shape;316;p28"/>
            <p:cNvSpPr/>
            <p:nvPr/>
          </p:nvSpPr>
          <p:spPr>
            <a:xfrm>
              <a:off x="0" y="0"/>
              <a:ext cx="2747944" cy="391331"/>
            </a:xfrm>
            <a:custGeom>
              <a:rect b="b" l="l" r="r" t="t"/>
              <a:pathLst>
                <a:path extrusionOk="0" h="391331" w="2747944">
                  <a:moveTo>
                    <a:pt x="0" y="0"/>
                  </a:moveTo>
                  <a:lnTo>
                    <a:pt x="2747944" y="0"/>
                  </a:lnTo>
                  <a:lnTo>
                    <a:pt x="2747944" y="391331"/>
                  </a:lnTo>
                  <a:lnTo>
                    <a:pt x="0" y="3913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824" l="0" r="0" t="-86826"/>
              </a:stretch>
            </a:blipFill>
            <a:ln>
              <a:noFill/>
            </a:ln>
          </p:spPr>
        </p:sp>
        <p:sp>
          <p:nvSpPr>
            <p:cNvPr id="317" name="Google Shape;317;p28"/>
            <p:cNvSpPr txBox="1"/>
            <p:nvPr/>
          </p:nvSpPr>
          <p:spPr>
            <a:xfrm>
              <a:off x="0" y="-28575"/>
              <a:ext cx="2747950" cy="41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Auto section citations</a:t>
              </a:r>
              <a:endParaRPr sz="700"/>
            </a:p>
          </p:txBody>
        </p:sp>
      </p:grpSp>
      <p:grpSp>
        <p:nvGrpSpPr>
          <p:cNvPr id="318" name="Google Shape;318;p28"/>
          <p:cNvGrpSpPr/>
          <p:nvPr/>
        </p:nvGrpSpPr>
        <p:grpSpPr>
          <a:xfrm>
            <a:off x="4633469" y="3362449"/>
            <a:ext cx="2108168" cy="1586960"/>
            <a:chOff x="0" y="0"/>
            <a:chExt cx="5621782" cy="4231894"/>
          </a:xfrm>
        </p:grpSpPr>
        <p:sp>
          <p:nvSpPr>
            <p:cNvPr id="319" name="Google Shape;319;p28"/>
            <p:cNvSpPr/>
            <p:nvPr/>
          </p:nvSpPr>
          <p:spPr>
            <a:xfrm>
              <a:off x="6731" y="6731"/>
              <a:ext cx="5608320" cy="4218432"/>
            </a:xfrm>
            <a:custGeom>
              <a:rect b="b" l="l" r="r" t="t"/>
              <a:pathLst>
                <a:path extrusionOk="0" h="421843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4218432"/>
                  </a:lnTo>
                  <a:lnTo>
                    <a:pt x="0" y="42184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20" name="Google Shape;320;p28"/>
            <p:cNvSpPr/>
            <p:nvPr/>
          </p:nvSpPr>
          <p:spPr>
            <a:xfrm>
              <a:off x="0" y="0"/>
              <a:ext cx="5621782" cy="4231894"/>
            </a:xfrm>
            <a:custGeom>
              <a:rect b="b" l="l" r="r" t="t"/>
              <a:pathLst>
                <a:path extrusionOk="0" h="4231894" w="5621782">
                  <a:moveTo>
                    <a:pt x="6731" y="0"/>
                  </a:moveTo>
                  <a:lnTo>
                    <a:pt x="5615051" y="0"/>
                  </a:lnTo>
                  <a:cubicBezTo>
                    <a:pt x="5618734" y="0"/>
                    <a:pt x="5621782" y="3048"/>
                    <a:pt x="5621782" y="6731"/>
                  </a:cubicBezTo>
                  <a:lnTo>
                    <a:pt x="5621782" y="4225163"/>
                  </a:lnTo>
                  <a:cubicBezTo>
                    <a:pt x="5621782" y="4228846"/>
                    <a:pt x="5618734" y="4231894"/>
                    <a:pt x="5615051" y="4231894"/>
                  </a:cubicBezTo>
                  <a:lnTo>
                    <a:pt x="6731" y="4231894"/>
                  </a:lnTo>
                  <a:cubicBezTo>
                    <a:pt x="3048" y="4231894"/>
                    <a:pt x="0" y="4228846"/>
                    <a:pt x="0" y="4225163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4225163"/>
                  </a:lnTo>
                  <a:lnTo>
                    <a:pt x="6731" y="4225163"/>
                  </a:lnTo>
                  <a:lnTo>
                    <a:pt x="6731" y="4218432"/>
                  </a:lnTo>
                  <a:lnTo>
                    <a:pt x="5615051" y="4218432"/>
                  </a:lnTo>
                  <a:lnTo>
                    <a:pt x="5615051" y="4225163"/>
                  </a:lnTo>
                  <a:lnTo>
                    <a:pt x="5608320" y="4225163"/>
                  </a:lnTo>
                  <a:lnTo>
                    <a:pt x="5608320" y="6731"/>
                  </a:lnTo>
                  <a:lnTo>
                    <a:pt x="5615051" y="6731"/>
                  </a:lnTo>
                  <a:lnTo>
                    <a:pt x="561505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E0E6F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1" name="Google Shape;321;p28"/>
          <p:cNvGrpSpPr/>
          <p:nvPr/>
        </p:nvGrpSpPr>
        <p:grpSpPr>
          <a:xfrm>
            <a:off x="4632832" y="3361816"/>
            <a:ext cx="61245" cy="1588293"/>
            <a:chOff x="0" y="0"/>
            <a:chExt cx="163322" cy="4235450"/>
          </a:xfrm>
        </p:grpSpPr>
        <p:sp>
          <p:nvSpPr>
            <p:cNvPr id="322" name="Google Shape;322;p28"/>
            <p:cNvSpPr/>
            <p:nvPr/>
          </p:nvSpPr>
          <p:spPr>
            <a:xfrm>
              <a:off x="8509" y="8509"/>
              <a:ext cx="146304" cy="4218432"/>
            </a:xfrm>
            <a:custGeom>
              <a:rect b="b" l="l" r="r" t="t"/>
              <a:pathLst>
                <a:path extrusionOk="0" h="421843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218432"/>
                  </a:lnTo>
                  <a:lnTo>
                    <a:pt x="0" y="4218432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sp>
          <p:nvSpPr>
            <p:cNvPr id="323" name="Google Shape;323;p28"/>
            <p:cNvSpPr/>
            <p:nvPr/>
          </p:nvSpPr>
          <p:spPr>
            <a:xfrm>
              <a:off x="0" y="0"/>
              <a:ext cx="163322" cy="4235450"/>
            </a:xfrm>
            <a:custGeom>
              <a:rect b="b" l="l" r="r" t="t"/>
              <a:pathLst>
                <a:path extrusionOk="0" h="4235450" w="163322">
                  <a:moveTo>
                    <a:pt x="8509" y="0"/>
                  </a:moveTo>
                  <a:lnTo>
                    <a:pt x="154813" y="0"/>
                  </a:lnTo>
                  <a:cubicBezTo>
                    <a:pt x="159512" y="0"/>
                    <a:pt x="163322" y="3810"/>
                    <a:pt x="163322" y="8509"/>
                  </a:cubicBezTo>
                  <a:lnTo>
                    <a:pt x="163322" y="4226941"/>
                  </a:lnTo>
                  <a:cubicBezTo>
                    <a:pt x="163322" y="4231640"/>
                    <a:pt x="159512" y="4235450"/>
                    <a:pt x="154813" y="4235450"/>
                  </a:cubicBezTo>
                  <a:lnTo>
                    <a:pt x="8509" y="4235450"/>
                  </a:lnTo>
                  <a:cubicBezTo>
                    <a:pt x="3810" y="4235450"/>
                    <a:pt x="0" y="4231640"/>
                    <a:pt x="0" y="4226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226941"/>
                  </a:lnTo>
                  <a:lnTo>
                    <a:pt x="8509" y="4226941"/>
                  </a:lnTo>
                  <a:lnTo>
                    <a:pt x="8509" y="4218432"/>
                  </a:lnTo>
                  <a:lnTo>
                    <a:pt x="154813" y="4218432"/>
                  </a:lnTo>
                  <a:lnTo>
                    <a:pt x="154813" y="4226941"/>
                  </a:lnTo>
                  <a:lnTo>
                    <a:pt x="146304" y="4226941"/>
                  </a:lnTo>
                  <a:lnTo>
                    <a:pt x="146304" y="8509"/>
                  </a:lnTo>
                  <a:lnTo>
                    <a:pt x="154813" y="8509"/>
                  </a:lnTo>
                  <a:lnTo>
                    <a:pt x="1548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4" name="Google Shape;324;p28"/>
          <p:cNvGrpSpPr/>
          <p:nvPr/>
        </p:nvGrpSpPr>
        <p:grpSpPr>
          <a:xfrm>
            <a:off x="4760848" y="3397377"/>
            <a:ext cx="253222" cy="253270"/>
            <a:chOff x="0" y="0"/>
            <a:chExt cx="675259" cy="675386"/>
          </a:xfrm>
        </p:grpSpPr>
        <p:sp>
          <p:nvSpPr>
            <p:cNvPr id="325" name="Google Shape;325;p28"/>
            <p:cNvSpPr/>
            <p:nvPr/>
          </p:nvSpPr>
          <p:spPr>
            <a:xfrm>
              <a:off x="8509" y="8509"/>
              <a:ext cx="658368" cy="658368"/>
            </a:xfrm>
            <a:custGeom>
              <a:rect b="b" l="l" r="r" t="t"/>
              <a:pathLst>
                <a:path extrusionOk="0"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0921" y="658368"/>
                    <a:pt x="329184" y="658368"/>
                  </a:cubicBezTo>
                  <a:cubicBezTo>
                    <a:pt x="147447" y="658368"/>
                    <a:pt x="0" y="510921"/>
                    <a:pt x="0" y="329184"/>
                  </a:cubicBez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8"/>
            <p:cNvSpPr/>
            <p:nvPr/>
          </p:nvSpPr>
          <p:spPr>
            <a:xfrm>
              <a:off x="0" y="0"/>
              <a:ext cx="675259" cy="675386"/>
            </a:xfrm>
            <a:custGeom>
              <a:rect b="b" l="l" r="r" t="t"/>
              <a:pathLst>
                <a:path extrusionOk="0" h="675386" w="675259">
                  <a:moveTo>
                    <a:pt x="0" y="337693"/>
                  </a:moveTo>
                  <a:cubicBezTo>
                    <a:pt x="0" y="151130"/>
                    <a:pt x="151130" y="0"/>
                    <a:pt x="337693" y="0"/>
                  </a:cubicBezTo>
                  <a:lnTo>
                    <a:pt x="337693" y="8509"/>
                  </a:lnTo>
                  <a:lnTo>
                    <a:pt x="337693" y="0"/>
                  </a:lnTo>
                  <a:cubicBezTo>
                    <a:pt x="524129" y="0"/>
                    <a:pt x="675259" y="151130"/>
                    <a:pt x="675259" y="337693"/>
                  </a:cubicBezTo>
                  <a:lnTo>
                    <a:pt x="666750" y="337693"/>
                  </a:lnTo>
                  <a:lnTo>
                    <a:pt x="675259" y="337693"/>
                  </a:lnTo>
                  <a:cubicBezTo>
                    <a:pt x="675259" y="524129"/>
                    <a:pt x="524129" y="675386"/>
                    <a:pt x="337566" y="675386"/>
                  </a:cubicBezTo>
                  <a:lnTo>
                    <a:pt x="337566" y="666877"/>
                  </a:lnTo>
                  <a:lnTo>
                    <a:pt x="337566" y="675386"/>
                  </a:lnTo>
                  <a:cubicBezTo>
                    <a:pt x="151130" y="675259"/>
                    <a:pt x="0" y="524129"/>
                    <a:pt x="0" y="337693"/>
                  </a:cubicBezTo>
                  <a:lnTo>
                    <a:pt x="8509" y="337693"/>
                  </a:lnTo>
                  <a:lnTo>
                    <a:pt x="17018" y="337693"/>
                  </a:lnTo>
                  <a:lnTo>
                    <a:pt x="8509" y="337693"/>
                  </a:lnTo>
                  <a:lnTo>
                    <a:pt x="0" y="337693"/>
                  </a:lnTo>
                  <a:moveTo>
                    <a:pt x="16891" y="337693"/>
                  </a:moveTo>
                  <a:cubicBezTo>
                    <a:pt x="16891" y="342392"/>
                    <a:pt x="13081" y="346202"/>
                    <a:pt x="8382" y="346202"/>
                  </a:cubicBezTo>
                  <a:cubicBezTo>
                    <a:pt x="3683" y="346202"/>
                    <a:pt x="0" y="342265"/>
                    <a:pt x="0" y="337693"/>
                  </a:cubicBezTo>
                  <a:cubicBezTo>
                    <a:pt x="0" y="333121"/>
                    <a:pt x="3810" y="329184"/>
                    <a:pt x="8509" y="329184"/>
                  </a:cubicBezTo>
                  <a:cubicBezTo>
                    <a:pt x="13208" y="329184"/>
                    <a:pt x="17018" y="332994"/>
                    <a:pt x="17018" y="337693"/>
                  </a:cubicBezTo>
                  <a:cubicBezTo>
                    <a:pt x="17018" y="514858"/>
                    <a:pt x="160655" y="658368"/>
                    <a:pt x="337693" y="658368"/>
                  </a:cubicBezTo>
                  <a:cubicBezTo>
                    <a:pt x="514858" y="658368"/>
                    <a:pt x="658368" y="514731"/>
                    <a:pt x="658368" y="337693"/>
                  </a:cubicBezTo>
                  <a:cubicBezTo>
                    <a:pt x="658368" y="160528"/>
                    <a:pt x="514731" y="17018"/>
                    <a:pt x="337693" y="17018"/>
                  </a:cubicBezTo>
                  <a:lnTo>
                    <a:pt x="337693" y="8509"/>
                  </a:lnTo>
                  <a:lnTo>
                    <a:pt x="337693" y="17018"/>
                  </a:lnTo>
                  <a:cubicBezTo>
                    <a:pt x="160528" y="16891"/>
                    <a:pt x="16891" y="160528"/>
                    <a:pt x="16891" y="337693"/>
                  </a:cubicBez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7" name="Google Shape;327;p28"/>
          <p:cNvGrpSpPr/>
          <p:nvPr/>
        </p:nvGrpSpPr>
        <p:grpSpPr>
          <a:xfrm>
            <a:off x="4783708" y="3437035"/>
            <a:ext cx="207521" cy="159635"/>
            <a:chOff x="0" y="-38100"/>
            <a:chExt cx="553390" cy="425693"/>
          </a:xfrm>
        </p:grpSpPr>
        <p:sp>
          <p:nvSpPr>
            <p:cNvPr id="328" name="Google Shape;328;p28"/>
            <p:cNvSpPr/>
            <p:nvPr/>
          </p:nvSpPr>
          <p:spPr>
            <a:xfrm>
              <a:off x="0" y="0"/>
              <a:ext cx="553384" cy="387593"/>
            </a:xfrm>
            <a:custGeom>
              <a:rect b="b" l="l" r="r" t="t"/>
              <a:pathLst>
                <a:path extrusionOk="0" h="387593" w="553384">
                  <a:moveTo>
                    <a:pt x="0" y="0"/>
                  </a:moveTo>
                  <a:lnTo>
                    <a:pt x="553384" y="0"/>
                  </a:lnTo>
                  <a:lnTo>
                    <a:pt x="553384" y="387593"/>
                  </a:lnTo>
                  <a:lnTo>
                    <a:pt x="0" y="38759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9863" r="-39863" t="0"/>
              </a:stretch>
            </a:blipFill>
            <a:ln>
              <a:noFill/>
            </a:ln>
          </p:spPr>
        </p:sp>
        <p:sp>
          <p:nvSpPr>
            <p:cNvPr id="329" name="Google Shape;329;p28"/>
            <p:cNvSpPr txBox="1"/>
            <p:nvPr/>
          </p:nvSpPr>
          <p:spPr>
            <a:xfrm>
              <a:off x="0" y="-38100"/>
              <a:ext cx="553390" cy="4256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700"/>
            </a:p>
          </p:txBody>
        </p:sp>
      </p:grpSp>
      <p:grpSp>
        <p:nvGrpSpPr>
          <p:cNvPr id="330" name="Google Shape;330;p28"/>
          <p:cNvGrpSpPr/>
          <p:nvPr/>
        </p:nvGrpSpPr>
        <p:grpSpPr>
          <a:xfrm>
            <a:off x="5062599" y="3410560"/>
            <a:ext cx="1597409" cy="141462"/>
            <a:chOff x="0" y="-38100"/>
            <a:chExt cx="4259758" cy="377231"/>
          </a:xfrm>
        </p:grpSpPr>
        <p:sp>
          <p:nvSpPr>
            <p:cNvPr id="331" name="Google Shape;331;p28"/>
            <p:cNvSpPr/>
            <p:nvPr/>
          </p:nvSpPr>
          <p:spPr>
            <a:xfrm>
              <a:off x="0" y="0"/>
              <a:ext cx="4259752" cy="339131"/>
            </a:xfrm>
            <a:custGeom>
              <a:rect b="b" l="l" r="r" t="t"/>
              <a:pathLst>
                <a:path extrusionOk="0" h="339131" w="4259752">
                  <a:moveTo>
                    <a:pt x="0" y="0"/>
                  </a:moveTo>
                  <a:lnTo>
                    <a:pt x="4259752" y="0"/>
                  </a:lnTo>
                  <a:lnTo>
                    <a:pt x="4259752" y="339131"/>
                  </a:lnTo>
                  <a:lnTo>
                    <a:pt x="0" y="3391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4738" l="0" r="0" t="-194738"/>
              </a:stretch>
            </a:blipFill>
            <a:ln>
              <a:noFill/>
            </a:ln>
          </p:spPr>
        </p:sp>
        <p:sp>
          <p:nvSpPr>
            <p:cNvPr id="332" name="Google Shape;332;p28"/>
            <p:cNvSpPr txBox="1"/>
            <p:nvPr/>
          </p:nvSpPr>
          <p:spPr>
            <a:xfrm>
              <a:off x="0" y="-38100"/>
              <a:ext cx="4259758" cy="37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C62828"/>
                  </a:solidFill>
                  <a:latin typeface="Calibri"/>
                  <a:ea typeface="Calibri"/>
                  <a:cs typeface="Calibri"/>
                  <a:sym typeface="Calibri"/>
                </a:rPr>
                <a:t>Auto FIU Evidence Package</a:t>
              </a:r>
              <a:endParaRPr sz="700"/>
            </a:p>
          </p:txBody>
        </p:sp>
      </p:grpSp>
      <p:sp>
        <p:nvSpPr>
          <p:cNvPr id="333" name="Google Shape;333;p28"/>
          <p:cNvSpPr txBox="1"/>
          <p:nvPr/>
        </p:nvSpPr>
        <p:spPr>
          <a:xfrm>
            <a:off x="4806567" y="3658234"/>
            <a:ext cx="181686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37474F"/>
                </a:solidFill>
                <a:latin typeface="Calibri"/>
                <a:ea typeface="Calibri"/>
                <a:cs typeface="Calibri"/>
                <a:sym typeface="Calibri"/>
              </a:rPr>
              <a:t>When a pattern is confirmed, the system autonomously generates: SAR narrative (Gemini RAG over ChromaDB), fund trace subgraph export, full transaction chain PDF, and regulatory filing citations — eliminating manual SAR drafting entirely.</a:t>
            </a:r>
            <a:endParaRPr sz="700"/>
          </a:p>
        </p:txBody>
      </p:sp>
      <p:grpSp>
        <p:nvGrpSpPr>
          <p:cNvPr id="334" name="Google Shape;334;p28"/>
          <p:cNvGrpSpPr/>
          <p:nvPr/>
        </p:nvGrpSpPr>
        <p:grpSpPr>
          <a:xfrm>
            <a:off x="4762119" y="4560951"/>
            <a:ext cx="1905762" cy="332994"/>
            <a:chOff x="0" y="0"/>
            <a:chExt cx="5082032" cy="887984"/>
          </a:xfrm>
        </p:grpSpPr>
        <p:sp>
          <p:nvSpPr>
            <p:cNvPr id="335" name="Google Shape;335;p28"/>
            <p:cNvSpPr/>
            <p:nvPr/>
          </p:nvSpPr>
          <p:spPr>
            <a:xfrm>
              <a:off x="5080" y="5080"/>
              <a:ext cx="5071872" cy="877824"/>
            </a:xfrm>
            <a:custGeom>
              <a:rect b="b" l="l" r="r" t="t"/>
              <a:pathLst>
                <a:path extrusionOk="0" h="877824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3F4FF"/>
            </a:solidFill>
            <a:ln>
              <a:noFill/>
            </a:ln>
          </p:spPr>
        </p:sp>
        <p:sp>
          <p:nvSpPr>
            <p:cNvPr id="336" name="Google Shape;336;p28"/>
            <p:cNvSpPr/>
            <p:nvPr/>
          </p:nvSpPr>
          <p:spPr>
            <a:xfrm>
              <a:off x="0" y="0"/>
              <a:ext cx="5082032" cy="887984"/>
            </a:xfrm>
            <a:custGeom>
              <a:rect b="b" l="l" r="r" t="t"/>
              <a:pathLst>
                <a:path extrusionOk="0" h="887984" w="5082032">
                  <a:moveTo>
                    <a:pt x="5080" y="0"/>
                  </a:moveTo>
                  <a:lnTo>
                    <a:pt x="5076952" y="0"/>
                  </a:lnTo>
                  <a:cubicBezTo>
                    <a:pt x="5079746" y="0"/>
                    <a:pt x="5082032" y="2286"/>
                    <a:pt x="5082032" y="5080"/>
                  </a:cubicBezTo>
                  <a:lnTo>
                    <a:pt x="5082032" y="882904"/>
                  </a:lnTo>
                  <a:cubicBezTo>
                    <a:pt x="5082032" y="885698"/>
                    <a:pt x="5079746" y="887984"/>
                    <a:pt x="5076952" y="887984"/>
                  </a:cubicBezTo>
                  <a:lnTo>
                    <a:pt x="5080" y="887984"/>
                  </a:lnTo>
                  <a:cubicBezTo>
                    <a:pt x="2286" y="887984"/>
                    <a:pt x="0" y="885698"/>
                    <a:pt x="0" y="88290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882904"/>
                  </a:lnTo>
                  <a:lnTo>
                    <a:pt x="5080" y="882904"/>
                  </a:lnTo>
                  <a:lnTo>
                    <a:pt x="5080" y="877824"/>
                  </a:lnTo>
                  <a:lnTo>
                    <a:pt x="5076952" y="877824"/>
                  </a:lnTo>
                  <a:lnTo>
                    <a:pt x="5076952" y="882904"/>
                  </a:lnTo>
                  <a:lnTo>
                    <a:pt x="5071872" y="882904"/>
                  </a:lnTo>
                  <a:lnTo>
                    <a:pt x="5071872" y="5080"/>
                  </a:lnTo>
                  <a:lnTo>
                    <a:pt x="5076952" y="5080"/>
                  </a:lnTo>
                  <a:lnTo>
                    <a:pt x="5076952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7" name="Google Shape;337;p28"/>
          <p:cNvGrpSpPr/>
          <p:nvPr/>
        </p:nvGrpSpPr>
        <p:grpSpPr>
          <a:xfrm>
            <a:off x="4820283" y="4611867"/>
            <a:ext cx="737873" cy="216871"/>
            <a:chOff x="0" y="-38100"/>
            <a:chExt cx="1967662" cy="578324"/>
          </a:xfrm>
        </p:grpSpPr>
        <p:sp>
          <p:nvSpPr>
            <p:cNvPr id="338" name="Google Shape;338;p28"/>
            <p:cNvSpPr/>
            <p:nvPr/>
          </p:nvSpPr>
          <p:spPr>
            <a:xfrm>
              <a:off x="0" y="0"/>
              <a:ext cx="1967657" cy="540224"/>
            </a:xfrm>
            <a:custGeom>
              <a:rect b="b" l="l" r="r" t="t"/>
              <a:pathLst>
                <a:path extrusionOk="0" h="540224" w="1967657">
                  <a:moveTo>
                    <a:pt x="0" y="0"/>
                  </a:moveTo>
                  <a:lnTo>
                    <a:pt x="1967657" y="0"/>
                  </a:lnTo>
                  <a:lnTo>
                    <a:pt x="1967657" y="540224"/>
                  </a:lnTo>
                  <a:lnTo>
                    <a:pt x="0" y="5402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970" l="0" r="0" t="-20970"/>
              </a:stretch>
            </a:blipFill>
            <a:ln>
              <a:noFill/>
            </a:ln>
          </p:spPr>
        </p:sp>
        <p:sp>
          <p:nvSpPr>
            <p:cNvPr id="339" name="Google Shape;339;p28"/>
            <p:cNvSpPr txBox="1"/>
            <p:nvPr/>
          </p:nvSpPr>
          <p:spPr>
            <a:xfrm>
              <a:off x="0" y="-38100"/>
              <a:ext cx="1967662" cy="578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200" u="none" cap="none" strike="noStrike">
                  <a:solidFill>
                    <a:srgbClr val="C62828"/>
                  </a:solidFill>
                  <a:latin typeface="Calibri"/>
                  <a:ea typeface="Calibri"/>
                  <a:cs typeface="Calibri"/>
                  <a:sym typeface="Calibri"/>
                </a:rPr>
                <a:t>&lt;5s</a:t>
              </a:r>
              <a:endParaRPr sz="700"/>
            </a:p>
          </p:txBody>
        </p:sp>
      </p:grpSp>
      <p:grpSp>
        <p:nvGrpSpPr>
          <p:cNvPr id="340" name="Google Shape;340;p28"/>
          <p:cNvGrpSpPr/>
          <p:nvPr/>
        </p:nvGrpSpPr>
        <p:grpSpPr>
          <a:xfrm>
            <a:off x="5615811" y="4643356"/>
            <a:ext cx="1030481" cy="157465"/>
            <a:chOff x="0" y="-28575"/>
            <a:chExt cx="2747950" cy="419906"/>
          </a:xfrm>
        </p:grpSpPr>
        <p:sp>
          <p:nvSpPr>
            <p:cNvPr id="341" name="Google Shape;341;p28"/>
            <p:cNvSpPr/>
            <p:nvPr/>
          </p:nvSpPr>
          <p:spPr>
            <a:xfrm>
              <a:off x="0" y="0"/>
              <a:ext cx="2747944" cy="391331"/>
            </a:xfrm>
            <a:custGeom>
              <a:rect b="b" l="l" r="r" t="t"/>
              <a:pathLst>
                <a:path extrusionOk="0" h="391331" w="2747944">
                  <a:moveTo>
                    <a:pt x="0" y="0"/>
                  </a:moveTo>
                  <a:lnTo>
                    <a:pt x="2747944" y="0"/>
                  </a:lnTo>
                  <a:lnTo>
                    <a:pt x="2747944" y="391331"/>
                  </a:lnTo>
                  <a:lnTo>
                    <a:pt x="0" y="3913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6824" l="0" r="0" t="-86826"/>
              </a:stretch>
            </a:blipFill>
            <a:ln>
              <a:noFill/>
            </a:ln>
          </p:spPr>
        </p:sp>
        <p:sp>
          <p:nvSpPr>
            <p:cNvPr id="342" name="Google Shape;342;p28"/>
            <p:cNvSpPr txBox="1"/>
            <p:nvPr/>
          </p:nvSpPr>
          <p:spPr>
            <a:xfrm>
              <a:off x="0" y="-28575"/>
              <a:ext cx="2747950" cy="41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Full package generation</a:t>
              </a:r>
              <a:endParaRPr sz="700"/>
            </a:p>
          </p:txBody>
        </p:sp>
      </p:grpSp>
      <p:grpSp>
        <p:nvGrpSpPr>
          <p:cNvPr id="343" name="Google Shape;343;p28"/>
          <p:cNvGrpSpPr/>
          <p:nvPr/>
        </p:nvGrpSpPr>
        <p:grpSpPr>
          <a:xfrm>
            <a:off x="6791454" y="3362449"/>
            <a:ext cx="2108168" cy="1586960"/>
            <a:chOff x="0" y="0"/>
            <a:chExt cx="5621782" cy="4231894"/>
          </a:xfrm>
        </p:grpSpPr>
        <p:sp>
          <p:nvSpPr>
            <p:cNvPr id="344" name="Google Shape;344;p28"/>
            <p:cNvSpPr/>
            <p:nvPr/>
          </p:nvSpPr>
          <p:spPr>
            <a:xfrm>
              <a:off x="6731" y="6731"/>
              <a:ext cx="5608320" cy="4218432"/>
            </a:xfrm>
            <a:custGeom>
              <a:rect b="b" l="l" r="r" t="t"/>
              <a:pathLst>
                <a:path extrusionOk="0" h="421843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4218432"/>
                  </a:lnTo>
                  <a:lnTo>
                    <a:pt x="0" y="42184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45" name="Google Shape;345;p28"/>
            <p:cNvSpPr/>
            <p:nvPr/>
          </p:nvSpPr>
          <p:spPr>
            <a:xfrm>
              <a:off x="0" y="0"/>
              <a:ext cx="5621782" cy="4231894"/>
            </a:xfrm>
            <a:custGeom>
              <a:rect b="b" l="l" r="r" t="t"/>
              <a:pathLst>
                <a:path extrusionOk="0" h="4231894" w="5621782">
                  <a:moveTo>
                    <a:pt x="6731" y="0"/>
                  </a:moveTo>
                  <a:lnTo>
                    <a:pt x="5615051" y="0"/>
                  </a:lnTo>
                  <a:cubicBezTo>
                    <a:pt x="5618734" y="0"/>
                    <a:pt x="5621782" y="3048"/>
                    <a:pt x="5621782" y="6731"/>
                  </a:cubicBezTo>
                  <a:lnTo>
                    <a:pt x="5621782" y="4225163"/>
                  </a:lnTo>
                  <a:cubicBezTo>
                    <a:pt x="5621782" y="4228846"/>
                    <a:pt x="5618734" y="4231894"/>
                    <a:pt x="5615051" y="4231894"/>
                  </a:cubicBezTo>
                  <a:lnTo>
                    <a:pt x="6731" y="4231894"/>
                  </a:lnTo>
                  <a:cubicBezTo>
                    <a:pt x="3048" y="4231894"/>
                    <a:pt x="0" y="4228846"/>
                    <a:pt x="0" y="4225163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4225163"/>
                  </a:lnTo>
                  <a:lnTo>
                    <a:pt x="6731" y="4225163"/>
                  </a:lnTo>
                  <a:lnTo>
                    <a:pt x="6731" y="4218432"/>
                  </a:lnTo>
                  <a:lnTo>
                    <a:pt x="5615051" y="4218432"/>
                  </a:lnTo>
                  <a:lnTo>
                    <a:pt x="5615051" y="4225163"/>
                  </a:lnTo>
                  <a:lnTo>
                    <a:pt x="5608320" y="4225163"/>
                  </a:lnTo>
                  <a:lnTo>
                    <a:pt x="5608320" y="6731"/>
                  </a:lnTo>
                  <a:lnTo>
                    <a:pt x="5615051" y="6731"/>
                  </a:lnTo>
                  <a:lnTo>
                    <a:pt x="5615051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E0E6F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6" name="Google Shape;346;p28"/>
          <p:cNvGrpSpPr/>
          <p:nvPr/>
        </p:nvGrpSpPr>
        <p:grpSpPr>
          <a:xfrm>
            <a:off x="6790816" y="3361816"/>
            <a:ext cx="61245" cy="1588293"/>
            <a:chOff x="0" y="0"/>
            <a:chExt cx="163322" cy="4235450"/>
          </a:xfrm>
        </p:grpSpPr>
        <p:sp>
          <p:nvSpPr>
            <p:cNvPr id="347" name="Google Shape;347;p28"/>
            <p:cNvSpPr/>
            <p:nvPr/>
          </p:nvSpPr>
          <p:spPr>
            <a:xfrm>
              <a:off x="8509" y="8509"/>
              <a:ext cx="146304" cy="4218432"/>
            </a:xfrm>
            <a:custGeom>
              <a:rect b="b" l="l" r="r" t="t"/>
              <a:pathLst>
                <a:path extrusionOk="0" h="4218432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218432"/>
                  </a:lnTo>
                  <a:lnTo>
                    <a:pt x="0" y="4218432"/>
                  </a:lnTo>
                  <a:close/>
                </a:path>
              </a:pathLst>
            </a:custGeom>
            <a:solidFill>
              <a:srgbClr val="E65100"/>
            </a:solidFill>
            <a:ln>
              <a:noFill/>
            </a:ln>
          </p:spPr>
        </p:sp>
        <p:sp>
          <p:nvSpPr>
            <p:cNvPr id="348" name="Google Shape;348;p28"/>
            <p:cNvSpPr/>
            <p:nvPr/>
          </p:nvSpPr>
          <p:spPr>
            <a:xfrm>
              <a:off x="0" y="0"/>
              <a:ext cx="163322" cy="4235450"/>
            </a:xfrm>
            <a:custGeom>
              <a:rect b="b" l="l" r="r" t="t"/>
              <a:pathLst>
                <a:path extrusionOk="0" h="4235450" w="163322">
                  <a:moveTo>
                    <a:pt x="8509" y="0"/>
                  </a:moveTo>
                  <a:lnTo>
                    <a:pt x="154813" y="0"/>
                  </a:lnTo>
                  <a:cubicBezTo>
                    <a:pt x="159512" y="0"/>
                    <a:pt x="163322" y="3810"/>
                    <a:pt x="163322" y="8509"/>
                  </a:cubicBezTo>
                  <a:lnTo>
                    <a:pt x="163322" y="4226941"/>
                  </a:lnTo>
                  <a:cubicBezTo>
                    <a:pt x="163322" y="4231640"/>
                    <a:pt x="159512" y="4235450"/>
                    <a:pt x="154813" y="4235450"/>
                  </a:cubicBezTo>
                  <a:lnTo>
                    <a:pt x="8509" y="4235450"/>
                  </a:lnTo>
                  <a:cubicBezTo>
                    <a:pt x="3810" y="4235450"/>
                    <a:pt x="0" y="4231640"/>
                    <a:pt x="0" y="422694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4226941"/>
                  </a:lnTo>
                  <a:lnTo>
                    <a:pt x="8509" y="4226941"/>
                  </a:lnTo>
                  <a:lnTo>
                    <a:pt x="8509" y="4218432"/>
                  </a:lnTo>
                  <a:lnTo>
                    <a:pt x="154813" y="4218432"/>
                  </a:lnTo>
                  <a:lnTo>
                    <a:pt x="154813" y="4226941"/>
                  </a:lnTo>
                  <a:lnTo>
                    <a:pt x="146304" y="4226941"/>
                  </a:lnTo>
                  <a:lnTo>
                    <a:pt x="146304" y="8509"/>
                  </a:lnTo>
                  <a:lnTo>
                    <a:pt x="154813" y="8509"/>
                  </a:lnTo>
                  <a:lnTo>
                    <a:pt x="15481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E651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" name="Google Shape;349;p28"/>
          <p:cNvGrpSpPr/>
          <p:nvPr/>
        </p:nvGrpSpPr>
        <p:grpSpPr>
          <a:xfrm>
            <a:off x="6918832" y="3391029"/>
            <a:ext cx="253222" cy="253270"/>
            <a:chOff x="0" y="0"/>
            <a:chExt cx="675259" cy="675386"/>
          </a:xfrm>
        </p:grpSpPr>
        <p:sp>
          <p:nvSpPr>
            <p:cNvPr id="350" name="Google Shape;350;p28"/>
            <p:cNvSpPr/>
            <p:nvPr/>
          </p:nvSpPr>
          <p:spPr>
            <a:xfrm>
              <a:off x="8509" y="8509"/>
              <a:ext cx="658368" cy="658368"/>
            </a:xfrm>
            <a:custGeom>
              <a:rect b="b" l="l" r="r" t="t"/>
              <a:pathLst>
                <a:path extrusionOk="0"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0921" y="658368"/>
                    <a:pt x="329184" y="658368"/>
                  </a:cubicBezTo>
                  <a:cubicBezTo>
                    <a:pt x="147447" y="658368"/>
                    <a:pt x="0" y="510921"/>
                    <a:pt x="0" y="329184"/>
                  </a:cubicBezTo>
                  <a:close/>
                </a:path>
              </a:pathLst>
            </a:custGeom>
            <a:solidFill>
              <a:srgbClr val="E651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8"/>
            <p:cNvSpPr/>
            <p:nvPr/>
          </p:nvSpPr>
          <p:spPr>
            <a:xfrm>
              <a:off x="0" y="0"/>
              <a:ext cx="675259" cy="675386"/>
            </a:xfrm>
            <a:custGeom>
              <a:rect b="b" l="l" r="r" t="t"/>
              <a:pathLst>
                <a:path extrusionOk="0" h="675386" w="675259">
                  <a:moveTo>
                    <a:pt x="0" y="337693"/>
                  </a:moveTo>
                  <a:cubicBezTo>
                    <a:pt x="0" y="151130"/>
                    <a:pt x="151130" y="0"/>
                    <a:pt x="337693" y="0"/>
                  </a:cubicBezTo>
                  <a:lnTo>
                    <a:pt x="337693" y="8509"/>
                  </a:lnTo>
                  <a:lnTo>
                    <a:pt x="337693" y="0"/>
                  </a:lnTo>
                  <a:cubicBezTo>
                    <a:pt x="524129" y="0"/>
                    <a:pt x="675259" y="151130"/>
                    <a:pt x="675259" y="337693"/>
                  </a:cubicBezTo>
                  <a:lnTo>
                    <a:pt x="666750" y="337693"/>
                  </a:lnTo>
                  <a:lnTo>
                    <a:pt x="675259" y="337693"/>
                  </a:lnTo>
                  <a:cubicBezTo>
                    <a:pt x="675259" y="524129"/>
                    <a:pt x="524129" y="675386"/>
                    <a:pt x="337566" y="675386"/>
                  </a:cubicBezTo>
                  <a:lnTo>
                    <a:pt x="337566" y="666877"/>
                  </a:lnTo>
                  <a:lnTo>
                    <a:pt x="337566" y="675386"/>
                  </a:lnTo>
                  <a:cubicBezTo>
                    <a:pt x="151130" y="675259"/>
                    <a:pt x="0" y="524129"/>
                    <a:pt x="0" y="337693"/>
                  </a:cubicBezTo>
                  <a:lnTo>
                    <a:pt x="8509" y="337693"/>
                  </a:lnTo>
                  <a:lnTo>
                    <a:pt x="17018" y="337693"/>
                  </a:lnTo>
                  <a:lnTo>
                    <a:pt x="8509" y="337693"/>
                  </a:lnTo>
                  <a:lnTo>
                    <a:pt x="0" y="337693"/>
                  </a:lnTo>
                  <a:moveTo>
                    <a:pt x="16891" y="337693"/>
                  </a:moveTo>
                  <a:cubicBezTo>
                    <a:pt x="16891" y="342392"/>
                    <a:pt x="13081" y="346202"/>
                    <a:pt x="8382" y="346202"/>
                  </a:cubicBezTo>
                  <a:cubicBezTo>
                    <a:pt x="3683" y="346202"/>
                    <a:pt x="0" y="342265"/>
                    <a:pt x="0" y="337693"/>
                  </a:cubicBezTo>
                  <a:cubicBezTo>
                    <a:pt x="0" y="333121"/>
                    <a:pt x="3810" y="329184"/>
                    <a:pt x="8509" y="329184"/>
                  </a:cubicBezTo>
                  <a:cubicBezTo>
                    <a:pt x="13208" y="329184"/>
                    <a:pt x="17018" y="332994"/>
                    <a:pt x="17018" y="337693"/>
                  </a:cubicBezTo>
                  <a:cubicBezTo>
                    <a:pt x="17018" y="514858"/>
                    <a:pt x="160655" y="658368"/>
                    <a:pt x="337693" y="658368"/>
                  </a:cubicBezTo>
                  <a:cubicBezTo>
                    <a:pt x="514858" y="658368"/>
                    <a:pt x="658368" y="514731"/>
                    <a:pt x="658368" y="337693"/>
                  </a:cubicBezTo>
                  <a:cubicBezTo>
                    <a:pt x="658368" y="160528"/>
                    <a:pt x="514731" y="17018"/>
                    <a:pt x="337693" y="17018"/>
                  </a:cubicBezTo>
                  <a:lnTo>
                    <a:pt x="337693" y="8509"/>
                  </a:lnTo>
                  <a:lnTo>
                    <a:pt x="337693" y="17018"/>
                  </a:lnTo>
                  <a:cubicBezTo>
                    <a:pt x="160528" y="16891"/>
                    <a:pt x="16891" y="160528"/>
                    <a:pt x="16891" y="337693"/>
                  </a:cubicBezTo>
                  <a:close/>
                </a:path>
              </a:pathLst>
            </a:custGeom>
            <a:solidFill>
              <a:srgbClr val="E651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2" name="Google Shape;352;p28"/>
          <p:cNvGrpSpPr/>
          <p:nvPr/>
        </p:nvGrpSpPr>
        <p:grpSpPr>
          <a:xfrm>
            <a:off x="6941691" y="3435258"/>
            <a:ext cx="207521" cy="159635"/>
            <a:chOff x="0" y="-38100"/>
            <a:chExt cx="553390" cy="425693"/>
          </a:xfrm>
        </p:grpSpPr>
        <p:sp>
          <p:nvSpPr>
            <p:cNvPr id="353" name="Google Shape;353;p28"/>
            <p:cNvSpPr/>
            <p:nvPr/>
          </p:nvSpPr>
          <p:spPr>
            <a:xfrm>
              <a:off x="0" y="0"/>
              <a:ext cx="553384" cy="387593"/>
            </a:xfrm>
            <a:custGeom>
              <a:rect b="b" l="l" r="r" t="t"/>
              <a:pathLst>
                <a:path extrusionOk="0" h="387593" w="553384">
                  <a:moveTo>
                    <a:pt x="0" y="0"/>
                  </a:moveTo>
                  <a:lnTo>
                    <a:pt x="553384" y="0"/>
                  </a:lnTo>
                  <a:lnTo>
                    <a:pt x="553384" y="387593"/>
                  </a:lnTo>
                  <a:lnTo>
                    <a:pt x="0" y="38759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9863" r="-39863" t="0"/>
              </a:stretch>
            </a:blipFill>
            <a:ln>
              <a:noFill/>
            </a:ln>
          </p:spPr>
        </p:sp>
        <p:sp>
          <p:nvSpPr>
            <p:cNvPr id="354" name="Google Shape;354;p28"/>
            <p:cNvSpPr txBox="1"/>
            <p:nvPr/>
          </p:nvSpPr>
          <p:spPr>
            <a:xfrm>
              <a:off x="0" y="-38100"/>
              <a:ext cx="553390" cy="4256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 sz="700"/>
            </a:p>
          </p:txBody>
        </p:sp>
      </p:grpSp>
      <p:grpSp>
        <p:nvGrpSpPr>
          <p:cNvPr id="355" name="Google Shape;355;p28"/>
          <p:cNvGrpSpPr/>
          <p:nvPr/>
        </p:nvGrpSpPr>
        <p:grpSpPr>
          <a:xfrm>
            <a:off x="7220584" y="3410560"/>
            <a:ext cx="1597409" cy="141462"/>
            <a:chOff x="0" y="-38100"/>
            <a:chExt cx="4259758" cy="377231"/>
          </a:xfrm>
        </p:grpSpPr>
        <p:sp>
          <p:nvSpPr>
            <p:cNvPr id="356" name="Google Shape;356;p28"/>
            <p:cNvSpPr/>
            <p:nvPr/>
          </p:nvSpPr>
          <p:spPr>
            <a:xfrm>
              <a:off x="0" y="0"/>
              <a:ext cx="4259752" cy="339131"/>
            </a:xfrm>
            <a:custGeom>
              <a:rect b="b" l="l" r="r" t="t"/>
              <a:pathLst>
                <a:path extrusionOk="0" h="339131" w="4259752">
                  <a:moveTo>
                    <a:pt x="0" y="0"/>
                  </a:moveTo>
                  <a:lnTo>
                    <a:pt x="4259752" y="0"/>
                  </a:lnTo>
                  <a:lnTo>
                    <a:pt x="4259752" y="339131"/>
                  </a:lnTo>
                  <a:lnTo>
                    <a:pt x="0" y="3391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94738" l="0" r="0" t="-194738"/>
              </a:stretch>
            </a:blipFill>
            <a:ln>
              <a:noFill/>
            </a:ln>
          </p:spPr>
        </p:sp>
        <p:sp>
          <p:nvSpPr>
            <p:cNvPr id="357" name="Google Shape;357;p28"/>
            <p:cNvSpPr txBox="1"/>
            <p:nvPr/>
          </p:nvSpPr>
          <p:spPr>
            <a:xfrm>
              <a:off x="0" y="-38100"/>
              <a:ext cx="4259758" cy="37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E65100"/>
                  </a:solidFill>
                  <a:latin typeface="Calibri"/>
                  <a:ea typeface="Calibri"/>
                  <a:cs typeface="Calibri"/>
                  <a:sym typeface="Calibri"/>
                </a:rPr>
                <a:t>Unified White-Space Layer</a:t>
              </a:r>
              <a:endParaRPr sz="700"/>
            </a:p>
          </p:txBody>
        </p:sp>
      </p:grpSp>
      <p:sp>
        <p:nvSpPr>
          <p:cNvPr id="358" name="Google Shape;358;p28"/>
          <p:cNvSpPr txBox="1"/>
          <p:nvPr/>
        </p:nvSpPr>
        <p:spPr>
          <a:xfrm>
            <a:off x="6964551" y="3658234"/>
            <a:ext cx="1816865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800" u="none" cap="none" strike="noStrike">
                <a:solidFill>
                  <a:srgbClr val="37474F"/>
                </a:solidFill>
                <a:latin typeface="Calibri"/>
                <a:ea typeface="Calibri"/>
                <a:cs typeface="Calibri"/>
                <a:sym typeface="Calibri"/>
              </a:rPr>
              <a:t>Eliminates the 'spaghetti stack' of disconnected KYC, fraud, and credit vendors. A single shared middleware where a mule pattern from the fraud module immediately influences credit underwriting and KYC status — all in one real-time state.</a:t>
            </a:r>
            <a:endParaRPr sz="700"/>
          </a:p>
        </p:txBody>
      </p:sp>
      <p:grpSp>
        <p:nvGrpSpPr>
          <p:cNvPr id="359" name="Google Shape;359;p28"/>
          <p:cNvGrpSpPr/>
          <p:nvPr/>
        </p:nvGrpSpPr>
        <p:grpSpPr>
          <a:xfrm>
            <a:off x="6920103" y="4560951"/>
            <a:ext cx="1905762" cy="332994"/>
            <a:chOff x="0" y="0"/>
            <a:chExt cx="5082032" cy="887984"/>
          </a:xfrm>
        </p:grpSpPr>
        <p:sp>
          <p:nvSpPr>
            <p:cNvPr id="360" name="Google Shape;360;p28"/>
            <p:cNvSpPr/>
            <p:nvPr/>
          </p:nvSpPr>
          <p:spPr>
            <a:xfrm>
              <a:off x="5080" y="5080"/>
              <a:ext cx="5071872" cy="877824"/>
            </a:xfrm>
            <a:custGeom>
              <a:rect b="b" l="l" r="r" t="t"/>
              <a:pathLst>
                <a:path extrusionOk="0" h="877824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877824"/>
                  </a:lnTo>
                  <a:lnTo>
                    <a:pt x="0" y="877824"/>
                  </a:lnTo>
                  <a:close/>
                </a:path>
              </a:pathLst>
            </a:custGeom>
            <a:solidFill>
              <a:srgbClr val="F3F4FF"/>
            </a:solidFill>
            <a:ln>
              <a:noFill/>
            </a:ln>
          </p:spPr>
        </p:sp>
        <p:sp>
          <p:nvSpPr>
            <p:cNvPr id="361" name="Google Shape;361;p28"/>
            <p:cNvSpPr/>
            <p:nvPr/>
          </p:nvSpPr>
          <p:spPr>
            <a:xfrm>
              <a:off x="0" y="0"/>
              <a:ext cx="5082032" cy="887984"/>
            </a:xfrm>
            <a:custGeom>
              <a:rect b="b" l="l" r="r" t="t"/>
              <a:pathLst>
                <a:path extrusionOk="0" h="887984" w="5082032">
                  <a:moveTo>
                    <a:pt x="5080" y="0"/>
                  </a:moveTo>
                  <a:lnTo>
                    <a:pt x="5076952" y="0"/>
                  </a:lnTo>
                  <a:cubicBezTo>
                    <a:pt x="5079746" y="0"/>
                    <a:pt x="5082032" y="2286"/>
                    <a:pt x="5082032" y="5080"/>
                  </a:cubicBezTo>
                  <a:lnTo>
                    <a:pt x="5082032" y="882904"/>
                  </a:lnTo>
                  <a:cubicBezTo>
                    <a:pt x="5082032" y="885698"/>
                    <a:pt x="5079746" y="887984"/>
                    <a:pt x="5076952" y="887984"/>
                  </a:cubicBezTo>
                  <a:lnTo>
                    <a:pt x="5080" y="887984"/>
                  </a:lnTo>
                  <a:cubicBezTo>
                    <a:pt x="2286" y="887984"/>
                    <a:pt x="0" y="885698"/>
                    <a:pt x="0" y="88290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moveTo>
                    <a:pt x="5080" y="10160"/>
                  </a:moveTo>
                  <a:lnTo>
                    <a:pt x="5080" y="5080"/>
                  </a:lnTo>
                  <a:lnTo>
                    <a:pt x="10160" y="5080"/>
                  </a:lnTo>
                  <a:lnTo>
                    <a:pt x="10160" y="882904"/>
                  </a:lnTo>
                  <a:lnTo>
                    <a:pt x="5080" y="882904"/>
                  </a:lnTo>
                  <a:lnTo>
                    <a:pt x="5080" y="877824"/>
                  </a:lnTo>
                  <a:lnTo>
                    <a:pt x="5076952" y="877824"/>
                  </a:lnTo>
                  <a:lnTo>
                    <a:pt x="5076952" y="882904"/>
                  </a:lnTo>
                  <a:lnTo>
                    <a:pt x="5071872" y="882904"/>
                  </a:lnTo>
                  <a:lnTo>
                    <a:pt x="5071872" y="5080"/>
                  </a:lnTo>
                  <a:lnTo>
                    <a:pt x="5076952" y="5080"/>
                  </a:lnTo>
                  <a:lnTo>
                    <a:pt x="5076952" y="10160"/>
                  </a:lnTo>
                  <a:lnTo>
                    <a:pt x="5080" y="10160"/>
                  </a:lnTo>
                  <a:close/>
                </a:path>
              </a:pathLst>
            </a:custGeom>
            <a:solidFill>
              <a:srgbClr val="E651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" name="Google Shape;362;p28"/>
          <p:cNvGrpSpPr/>
          <p:nvPr/>
        </p:nvGrpSpPr>
        <p:grpSpPr>
          <a:xfrm>
            <a:off x="6978268" y="4611867"/>
            <a:ext cx="737873" cy="216871"/>
            <a:chOff x="0" y="-38100"/>
            <a:chExt cx="1967662" cy="578324"/>
          </a:xfrm>
        </p:grpSpPr>
        <p:sp>
          <p:nvSpPr>
            <p:cNvPr id="363" name="Google Shape;363;p28"/>
            <p:cNvSpPr/>
            <p:nvPr/>
          </p:nvSpPr>
          <p:spPr>
            <a:xfrm>
              <a:off x="0" y="0"/>
              <a:ext cx="1967656" cy="540224"/>
            </a:xfrm>
            <a:custGeom>
              <a:rect b="b" l="l" r="r" t="t"/>
              <a:pathLst>
                <a:path extrusionOk="0" h="540224" w="1967656">
                  <a:moveTo>
                    <a:pt x="0" y="0"/>
                  </a:moveTo>
                  <a:lnTo>
                    <a:pt x="1967656" y="0"/>
                  </a:lnTo>
                  <a:lnTo>
                    <a:pt x="1967656" y="540224"/>
                  </a:lnTo>
                  <a:lnTo>
                    <a:pt x="0" y="54022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970" l="0" r="0" t="-20970"/>
              </a:stretch>
            </a:blipFill>
            <a:ln>
              <a:noFill/>
            </a:ln>
          </p:spPr>
        </p:sp>
        <p:sp>
          <p:nvSpPr>
            <p:cNvPr id="364" name="Google Shape;364;p28"/>
            <p:cNvSpPr txBox="1"/>
            <p:nvPr/>
          </p:nvSpPr>
          <p:spPr>
            <a:xfrm>
              <a:off x="0" y="-38100"/>
              <a:ext cx="1967662" cy="578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200" u="none" cap="none" strike="noStrike">
                  <a:solidFill>
                    <a:srgbClr val="E65100"/>
                  </a:solidFill>
                  <a:latin typeface="Calibri"/>
                  <a:ea typeface="Calibri"/>
                  <a:cs typeface="Calibri"/>
                  <a:sym typeface="Calibri"/>
                </a:rPr>
                <a:t>3-in-1</a:t>
              </a:r>
              <a:endParaRPr sz="700"/>
            </a:p>
          </p:txBody>
        </p:sp>
      </p:grpSp>
      <p:grpSp>
        <p:nvGrpSpPr>
          <p:cNvPr id="365" name="Google Shape;365;p28"/>
          <p:cNvGrpSpPr/>
          <p:nvPr/>
        </p:nvGrpSpPr>
        <p:grpSpPr>
          <a:xfrm>
            <a:off x="7773796" y="4586206"/>
            <a:ext cx="1030481" cy="271765"/>
            <a:chOff x="0" y="-28575"/>
            <a:chExt cx="2747950" cy="724706"/>
          </a:xfrm>
        </p:grpSpPr>
        <p:sp>
          <p:nvSpPr>
            <p:cNvPr id="366" name="Google Shape;366;p28"/>
            <p:cNvSpPr/>
            <p:nvPr/>
          </p:nvSpPr>
          <p:spPr>
            <a:xfrm>
              <a:off x="0" y="0"/>
              <a:ext cx="2747944" cy="696131"/>
            </a:xfrm>
            <a:custGeom>
              <a:rect b="b" l="l" r="r" t="t"/>
              <a:pathLst>
                <a:path extrusionOk="0" h="696131" w="2747944">
                  <a:moveTo>
                    <a:pt x="0" y="0"/>
                  </a:moveTo>
                  <a:lnTo>
                    <a:pt x="2747944" y="0"/>
                  </a:lnTo>
                  <a:lnTo>
                    <a:pt x="2747944" y="696131"/>
                  </a:lnTo>
                  <a:lnTo>
                    <a:pt x="0" y="6961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6916" l="0" r="0" t="-26916"/>
              </a:stretch>
            </a:blipFill>
            <a:ln>
              <a:noFill/>
            </a:ln>
          </p:spPr>
        </p:sp>
        <p:sp>
          <p:nvSpPr>
            <p:cNvPr id="367" name="Google Shape;367;p28"/>
            <p:cNvSpPr txBox="1"/>
            <p:nvPr/>
          </p:nvSpPr>
          <p:spPr>
            <a:xfrm>
              <a:off x="0" y="-28575"/>
              <a:ext cx="2747950" cy="72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KYC + Fraud + Credit unified</a:t>
              </a:r>
              <a:endParaRPr sz="700"/>
            </a:p>
          </p:txBody>
        </p:sp>
      </p:grpSp>
      <p:sp>
        <p:nvSpPr>
          <p:cNvPr id="368" name="Google Shape;368;p28"/>
          <p:cNvSpPr/>
          <p:nvPr/>
        </p:nvSpPr>
        <p:spPr>
          <a:xfrm>
            <a:off x="14" y="14"/>
            <a:ext cx="9144000" cy="848582"/>
          </a:xfrm>
          <a:custGeom>
            <a:rect b="b" l="l" r="r" t="t"/>
            <a:pathLst>
              <a:path extrusionOk="0" h="2262886" w="24384001">
                <a:moveTo>
                  <a:pt x="0" y="0"/>
                </a:moveTo>
                <a:lnTo>
                  <a:pt x="24384001" y="0"/>
                </a:lnTo>
                <a:lnTo>
                  <a:pt x="24384001" y="2262886"/>
                </a:lnTo>
                <a:lnTo>
                  <a:pt x="0" y="22628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9" name="Google Shape;369;p28"/>
          <p:cNvSpPr/>
          <p:nvPr/>
        </p:nvSpPr>
        <p:spPr>
          <a:xfrm>
            <a:off x="3359944" y="12714"/>
            <a:ext cx="1586715" cy="823168"/>
          </a:xfrm>
          <a:custGeom>
            <a:rect b="b" l="l" r="r" t="t"/>
            <a:pathLst>
              <a:path extrusionOk="0" h="2195114" w="4231240">
                <a:moveTo>
                  <a:pt x="0" y="0"/>
                </a:moveTo>
                <a:lnTo>
                  <a:pt x="4231240" y="0"/>
                </a:lnTo>
                <a:lnTo>
                  <a:pt x="4231240" y="2195115"/>
                </a:lnTo>
                <a:lnTo>
                  <a:pt x="0" y="2195115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6491" l="-218" r="-215" t="-47101"/>
            </a:stretch>
          </a:blipFill>
          <a:ln>
            <a:noFill/>
          </a:ln>
        </p:spPr>
      </p:sp>
      <p:sp>
        <p:nvSpPr>
          <p:cNvPr id="370" name="Google Shape;370;p28"/>
          <p:cNvSpPr/>
          <p:nvPr/>
        </p:nvSpPr>
        <p:spPr>
          <a:xfrm>
            <a:off x="5484943" y="294465"/>
            <a:ext cx="2511219" cy="374571"/>
          </a:xfrm>
          <a:custGeom>
            <a:rect b="b" l="l" r="r" t="t"/>
            <a:pathLst>
              <a:path extrusionOk="0" h="998855" w="6696583">
                <a:moveTo>
                  <a:pt x="0" y="0"/>
                </a:moveTo>
                <a:lnTo>
                  <a:pt x="6696583" y="0"/>
                </a:lnTo>
                <a:lnTo>
                  <a:pt x="6696583" y="998855"/>
                </a:lnTo>
                <a:lnTo>
                  <a:pt x="0" y="998855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844" l="-563" r="-562" t="-851"/>
            </a:stretch>
          </a:blipFill>
          <a:ln>
            <a:noFill/>
          </a:ln>
        </p:spPr>
      </p:sp>
      <p:sp>
        <p:nvSpPr>
          <p:cNvPr id="371" name="Google Shape;371;p28"/>
          <p:cNvSpPr/>
          <p:nvPr/>
        </p:nvSpPr>
        <p:spPr>
          <a:xfrm>
            <a:off x="1581674" y="261861"/>
            <a:ext cx="1345264" cy="439769"/>
          </a:xfrm>
          <a:custGeom>
            <a:rect b="b" l="l" r="r" t="t"/>
            <a:pathLst>
              <a:path extrusionOk="0" h="1172718" w="3587369">
                <a:moveTo>
                  <a:pt x="0" y="0"/>
                </a:moveTo>
                <a:lnTo>
                  <a:pt x="3587369" y="0"/>
                </a:lnTo>
                <a:lnTo>
                  <a:pt x="3587369" y="1172718"/>
                </a:lnTo>
                <a:lnTo>
                  <a:pt x="0" y="1172718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724" l="-723" r="-720" t="-725"/>
            </a:stretch>
          </a:blipFill>
          <a:ln>
            <a:noFill/>
          </a:ln>
        </p:spPr>
      </p:sp>
      <p:sp>
        <p:nvSpPr>
          <p:cNvPr id="372" name="Google Shape;372;p28"/>
          <p:cNvSpPr/>
          <p:nvPr/>
        </p:nvSpPr>
        <p:spPr>
          <a:xfrm>
            <a:off x="200754" y="140613"/>
            <a:ext cx="1222915" cy="611457"/>
          </a:xfrm>
          <a:custGeom>
            <a:rect b="b" l="l" r="r" t="t"/>
            <a:pathLst>
              <a:path extrusionOk="0" h="1630553" w="3261106">
                <a:moveTo>
                  <a:pt x="0" y="0"/>
                </a:moveTo>
                <a:lnTo>
                  <a:pt x="3261106" y="0"/>
                </a:lnTo>
                <a:lnTo>
                  <a:pt x="3261106" y="1630553"/>
                </a:lnTo>
                <a:lnTo>
                  <a:pt x="0" y="1630553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518" l="-520" r="-520" t="-521"/>
            </a:stretch>
          </a:blipFill>
          <a:ln>
            <a:noFill/>
          </a:ln>
        </p:spPr>
      </p:sp>
      <p:sp>
        <p:nvSpPr>
          <p:cNvPr id="373" name="Google Shape;373;p28"/>
          <p:cNvSpPr txBox="1"/>
          <p:nvPr/>
        </p:nvSpPr>
        <p:spPr>
          <a:xfrm>
            <a:off x="398311" y="868465"/>
            <a:ext cx="8286331" cy="417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700" u="sng" cap="none" strike="noStrike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OUTLINE OF UNIQUE &amp; INNOVAITVE SOLUTION</a:t>
            </a:r>
            <a:endParaRPr sz="700"/>
          </a:p>
        </p:txBody>
      </p:sp>
      <p:sp>
        <p:nvSpPr>
          <p:cNvPr id="374" name="Google Shape;374;p28"/>
          <p:cNvSpPr/>
          <p:nvPr/>
        </p:nvSpPr>
        <p:spPr>
          <a:xfrm>
            <a:off x="8369617" y="235625"/>
            <a:ext cx="520065" cy="516445"/>
          </a:xfrm>
          <a:custGeom>
            <a:rect b="b" l="l" r="r" t="t"/>
            <a:pathLst>
              <a:path extrusionOk="0" h="1377188" w="1386840">
                <a:moveTo>
                  <a:pt x="0" y="0"/>
                </a:moveTo>
                <a:lnTo>
                  <a:pt x="1386840" y="0"/>
                </a:lnTo>
                <a:lnTo>
                  <a:pt x="1386840" y="1377188"/>
                </a:lnTo>
                <a:lnTo>
                  <a:pt x="0" y="1377188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966" l="-613" r="-613" t="-97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9"/>
          <p:cNvSpPr/>
          <p:nvPr/>
        </p:nvSpPr>
        <p:spPr>
          <a:xfrm>
            <a:off x="309101" y="1300391"/>
            <a:ext cx="8503920" cy="5096"/>
          </a:xfrm>
          <a:custGeom>
            <a:rect b="b" l="l" r="r" t="t"/>
            <a:pathLst>
              <a:path extrusionOk="0" h="13589" w="22677120">
                <a:moveTo>
                  <a:pt x="0" y="0"/>
                </a:moveTo>
                <a:lnTo>
                  <a:pt x="22677120" y="0"/>
                </a:lnTo>
                <a:lnTo>
                  <a:pt x="22677120" y="13589"/>
                </a:lnTo>
                <a:lnTo>
                  <a:pt x="0" y="13589"/>
                </a:lnTo>
                <a:close/>
              </a:path>
            </a:pathLst>
          </a:custGeom>
          <a:solidFill>
            <a:srgbClr val="DDEEFF"/>
          </a:solidFill>
          <a:ln>
            <a:noFill/>
          </a:ln>
        </p:spPr>
      </p:sp>
      <p:grpSp>
        <p:nvGrpSpPr>
          <p:cNvPr id="380" name="Google Shape;380;p29"/>
          <p:cNvGrpSpPr/>
          <p:nvPr/>
        </p:nvGrpSpPr>
        <p:grpSpPr>
          <a:xfrm>
            <a:off x="306896" y="1364718"/>
            <a:ext cx="1686973" cy="1266348"/>
            <a:chOff x="0" y="0"/>
            <a:chExt cx="4498594" cy="3376930"/>
          </a:xfrm>
        </p:grpSpPr>
        <p:sp>
          <p:nvSpPr>
            <p:cNvPr id="381" name="Google Shape;381;p29"/>
            <p:cNvSpPr/>
            <p:nvPr/>
          </p:nvSpPr>
          <p:spPr>
            <a:xfrm>
              <a:off x="5969" y="5969"/>
              <a:ext cx="4486656" cy="3364992"/>
            </a:xfrm>
            <a:custGeom>
              <a:rect b="b" l="l" r="r" t="t"/>
              <a:pathLst>
                <a:path extrusionOk="0" h="336499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82" name="Google Shape;382;p29"/>
            <p:cNvSpPr/>
            <p:nvPr/>
          </p:nvSpPr>
          <p:spPr>
            <a:xfrm>
              <a:off x="0" y="0"/>
              <a:ext cx="4498594" cy="3376930"/>
            </a:xfrm>
            <a:custGeom>
              <a:rect b="b" l="l" r="r" t="t"/>
              <a:pathLst>
                <a:path extrusionOk="0" h="3376930" w="4498594">
                  <a:moveTo>
                    <a:pt x="5969" y="0"/>
                  </a:moveTo>
                  <a:lnTo>
                    <a:pt x="4492625" y="0"/>
                  </a:lnTo>
                  <a:cubicBezTo>
                    <a:pt x="4495927" y="0"/>
                    <a:pt x="4498594" y="2667"/>
                    <a:pt x="4498594" y="5969"/>
                  </a:cubicBezTo>
                  <a:lnTo>
                    <a:pt x="4498594" y="3370961"/>
                  </a:lnTo>
                  <a:cubicBezTo>
                    <a:pt x="4498594" y="3374263"/>
                    <a:pt x="4495927" y="3376930"/>
                    <a:pt x="4492625" y="3376930"/>
                  </a:cubicBezTo>
                  <a:lnTo>
                    <a:pt x="5969" y="3376930"/>
                  </a:lnTo>
                  <a:cubicBezTo>
                    <a:pt x="2667" y="3376930"/>
                    <a:pt x="0" y="3374263"/>
                    <a:pt x="0" y="3370961"/>
                  </a:cubicBezTo>
                  <a:lnTo>
                    <a:pt x="0" y="5969"/>
                  </a:lnTo>
                  <a:cubicBezTo>
                    <a:pt x="0" y="2667"/>
                    <a:pt x="2667" y="0"/>
                    <a:pt x="5969" y="0"/>
                  </a:cubicBezTo>
                  <a:moveTo>
                    <a:pt x="5969" y="11811"/>
                  </a:moveTo>
                  <a:lnTo>
                    <a:pt x="5969" y="5969"/>
                  </a:lnTo>
                  <a:lnTo>
                    <a:pt x="11811" y="5969"/>
                  </a:lnTo>
                  <a:lnTo>
                    <a:pt x="11811" y="3370961"/>
                  </a:lnTo>
                  <a:lnTo>
                    <a:pt x="5969" y="3370961"/>
                  </a:lnTo>
                  <a:lnTo>
                    <a:pt x="5969" y="3364992"/>
                  </a:lnTo>
                  <a:lnTo>
                    <a:pt x="4492625" y="3364992"/>
                  </a:lnTo>
                  <a:lnTo>
                    <a:pt x="4492625" y="3370961"/>
                  </a:lnTo>
                  <a:lnTo>
                    <a:pt x="4486656" y="3370961"/>
                  </a:lnTo>
                  <a:lnTo>
                    <a:pt x="4486656" y="5969"/>
                  </a:lnTo>
                  <a:lnTo>
                    <a:pt x="4492625" y="5969"/>
                  </a:lnTo>
                  <a:lnTo>
                    <a:pt x="4492625" y="11811"/>
                  </a:lnTo>
                  <a:lnTo>
                    <a:pt x="5969" y="11811"/>
                  </a:lnTo>
                  <a:close/>
                </a:path>
              </a:pathLst>
            </a:custGeom>
            <a:solidFill>
              <a:srgbClr val="E0E6F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3" name="Google Shape;383;p29"/>
          <p:cNvGrpSpPr/>
          <p:nvPr/>
        </p:nvGrpSpPr>
        <p:grpSpPr>
          <a:xfrm>
            <a:off x="305943" y="1363766"/>
            <a:ext cx="1688878" cy="253270"/>
            <a:chOff x="0" y="0"/>
            <a:chExt cx="4503674" cy="675386"/>
          </a:xfrm>
        </p:grpSpPr>
        <p:sp>
          <p:nvSpPr>
            <p:cNvPr id="384" name="Google Shape;384;p29"/>
            <p:cNvSpPr/>
            <p:nvPr/>
          </p:nvSpPr>
          <p:spPr>
            <a:xfrm>
              <a:off x="8509" y="8509"/>
              <a:ext cx="4486656" cy="658368"/>
            </a:xfrm>
            <a:custGeom>
              <a:rect b="b" l="l" r="r" t="t"/>
              <a:pathLst>
                <a:path extrusionOk="0" h="658368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658368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385" name="Google Shape;385;p29"/>
            <p:cNvSpPr/>
            <p:nvPr/>
          </p:nvSpPr>
          <p:spPr>
            <a:xfrm>
              <a:off x="0" y="0"/>
              <a:ext cx="4503674" cy="675386"/>
            </a:xfrm>
            <a:custGeom>
              <a:rect b="b" l="l" r="r" t="t"/>
              <a:pathLst>
                <a:path extrusionOk="0" h="675386" w="4503674">
                  <a:moveTo>
                    <a:pt x="8509" y="0"/>
                  </a:moveTo>
                  <a:lnTo>
                    <a:pt x="4495165" y="0"/>
                  </a:lnTo>
                  <a:cubicBezTo>
                    <a:pt x="4499864" y="0"/>
                    <a:pt x="4503674" y="3810"/>
                    <a:pt x="4503674" y="8509"/>
                  </a:cubicBezTo>
                  <a:lnTo>
                    <a:pt x="4503674" y="666877"/>
                  </a:lnTo>
                  <a:cubicBezTo>
                    <a:pt x="4503674" y="671576"/>
                    <a:pt x="4499864" y="675386"/>
                    <a:pt x="4495165" y="675386"/>
                  </a:cubicBezTo>
                  <a:lnTo>
                    <a:pt x="8509" y="675386"/>
                  </a:lnTo>
                  <a:cubicBezTo>
                    <a:pt x="3810" y="675386"/>
                    <a:pt x="0" y="671576"/>
                    <a:pt x="0" y="6668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66877"/>
                  </a:lnTo>
                  <a:lnTo>
                    <a:pt x="8509" y="666877"/>
                  </a:lnTo>
                  <a:lnTo>
                    <a:pt x="8509" y="658368"/>
                  </a:lnTo>
                  <a:lnTo>
                    <a:pt x="4495165" y="658368"/>
                  </a:lnTo>
                  <a:lnTo>
                    <a:pt x="4495165" y="666877"/>
                  </a:lnTo>
                  <a:lnTo>
                    <a:pt x="4486656" y="666877"/>
                  </a:lnTo>
                  <a:lnTo>
                    <a:pt x="4486656" y="8509"/>
                  </a:lnTo>
                  <a:lnTo>
                    <a:pt x="4495165" y="8509"/>
                  </a:lnTo>
                  <a:lnTo>
                    <a:pt x="449516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6" name="Google Shape;386;p29"/>
          <p:cNvGrpSpPr/>
          <p:nvPr/>
        </p:nvGrpSpPr>
        <p:grpSpPr>
          <a:xfrm>
            <a:off x="379095" y="1418158"/>
            <a:ext cx="1542542" cy="130164"/>
            <a:chOff x="0" y="-38100"/>
            <a:chExt cx="4113445" cy="347104"/>
          </a:xfrm>
        </p:grpSpPr>
        <p:sp>
          <p:nvSpPr>
            <p:cNvPr id="387" name="Google Shape;387;p29"/>
            <p:cNvSpPr/>
            <p:nvPr/>
          </p:nvSpPr>
          <p:spPr>
            <a:xfrm>
              <a:off x="0" y="0"/>
              <a:ext cx="4113445" cy="309001"/>
            </a:xfrm>
            <a:custGeom>
              <a:rect b="b" l="l" r="r" t="t"/>
              <a:pathLst>
                <a:path extrusionOk="0" h="309001" w="4113445">
                  <a:moveTo>
                    <a:pt x="0" y="0"/>
                  </a:moveTo>
                  <a:lnTo>
                    <a:pt x="4113445" y="0"/>
                  </a:lnTo>
                  <a:lnTo>
                    <a:pt x="4113445" y="309001"/>
                  </a:lnTo>
                  <a:lnTo>
                    <a:pt x="0" y="30900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9390" l="0" r="0" t="-209390"/>
              </a:stretch>
            </a:blipFill>
            <a:ln>
              <a:noFill/>
            </a:ln>
          </p:spPr>
        </p:sp>
        <p:sp>
          <p:nvSpPr>
            <p:cNvPr id="388" name="Google Shape;388;p29"/>
            <p:cNvSpPr txBox="1"/>
            <p:nvPr/>
          </p:nvSpPr>
          <p:spPr>
            <a:xfrm>
              <a:off x="0" y="-38100"/>
              <a:ext cx="4113441" cy="347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Streaming Engine</a:t>
              </a:r>
              <a:endParaRPr sz="700"/>
            </a:p>
          </p:txBody>
        </p:sp>
      </p:grpSp>
      <p:grpSp>
        <p:nvGrpSpPr>
          <p:cNvPr id="389" name="Google Shape;389;p29"/>
          <p:cNvGrpSpPr/>
          <p:nvPr/>
        </p:nvGrpSpPr>
        <p:grpSpPr>
          <a:xfrm>
            <a:off x="399283" y="1676562"/>
            <a:ext cx="1502187" cy="194595"/>
            <a:chOff x="0" y="0"/>
            <a:chExt cx="4005834" cy="518922"/>
          </a:xfrm>
        </p:grpSpPr>
        <p:sp>
          <p:nvSpPr>
            <p:cNvPr id="390" name="Google Shape;390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E3F2FD"/>
            </a:solidFill>
            <a:ln>
              <a:noFill/>
            </a:ln>
          </p:spPr>
        </p:sp>
        <p:sp>
          <p:nvSpPr>
            <p:cNvPr id="391" name="Google Shape;391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" name="Google Shape;392;p29"/>
          <p:cNvGrpSpPr/>
          <p:nvPr/>
        </p:nvGrpSpPr>
        <p:grpSpPr>
          <a:xfrm>
            <a:off x="424815" y="1709747"/>
            <a:ext cx="1451105" cy="113916"/>
            <a:chOff x="0" y="-38100"/>
            <a:chExt cx="3869614" cy="303776"/>
          </a:xfrm>
        </p:grpSpPr>
        <p:sp>
          <p:nvSpPr>
            <p:cNvPr id="393" name="Google Shape;393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394" name="Google Shape;394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1565C0"/>
                  </a:solidFill>
                  <a:latin typeface="Calibri"/>
                  <a:ea typeface="Calibri"/>
                  <a:cs typeface="Calibri"/>
                  <a:sym typeface="Calibri"/>
                </a:rPr>
                <a:t>Pathway</a:t>
              </a:r>
              <a:endParaRPr sz="700"/>
            </a:p>
          </p:txBody>
        </p:sp>
      </p:grpSp>
      <p:grpSp>
        <p:nvGrpSpPr>
          <p:cNvPr id="395" name="Google Shape;395;p29"/>
          <p:cNvGrpSpPr/>
          <p:nvPr/>
        </p:nvGrpSpPr>
        <p:grpSpPr>
          <a:xfrm>
            <a:off x="399283" y="1909734"/>
            <a:ext cx="1502187" cy="194595"/>
            <a:chOff x="0" y="0"/>
            <a:chExt cx="4005834" cy="518922"/>
          </a:xfrm>
        </p:grpSpPr>
        <p:sp>
          <p:nvSpPr>
            <p:cNvPr id="396" name="Google Shape;396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E3F2FD"/>
            </a:solidFill>
            <a:ln>
              <a:noFill/>
            </a:ln>
          </p:spPr>
        </p:sp>
        <p:sp>
          <p:nvSpPr>
            <p:cNvPr id="397" name="Google Shape;397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8" name="Google Shape;398;p29"/>
          <p:cNvGrpSpPr/>
          <p:nvPr/>
        </p:nvGrpSpPr>
        <p:grpSpPr>
          <a:xfrm>
            <a:off x="424815" y="1942919"/>
            <a:ext cx="1451105" cy="113916"/>
            <a:chOff x="0" y="-38100"/>
            <a:chExt cx="3869614" cy="303776"/>
          </a:xfrm>
        </p:grpSpPr>
        <p:sp>
          <p:nvSpPr>
            <p:cNvPr id="399" name="Google Shape;399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400" name="Google Shape;400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1565C0"/>
                  </a:solidFill>
                  <a:latin typeface="Calibri"/>
                  <a:ea typeface="Calibri"/>
                  <a:cs typeface="Calibri"/>
                  <a:sym typeface="Calibri"/>
                </a:rPr>
                <a:t>Kafka / NATS</a:t>
              </a:r>
              <a:endParaRPr sz="700"/>
            </a:p>
          </p:txBody>
        </p:sp>
      </p:grpSp>
      <p:grpSp>
        <p:nvGrpSpPr>
          <p:cNvPr id="401" name="Google Shape;401;p29"/>
          <p:cNvGrpSpPr/>
          <p:nvPr/>
        </p:nvGrpSpPr>
        <p:grpSpPr>
          <a:xfrm>
            <a:off x="399283" y="2142911"/>
            <a:ext cx="1502187" cy="194595"/>
            <a:chOff x="0" y="0"/>
            <a:chExt cx="4005834" cy="518922"/>
          </a:xfrm>
        </p:grpSpPr>
        <p:sp>
          <p:nvSpPr>
            <p:cNvPr id="402" name="Google Shape;402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E3F2FD"/>
            </a:solidFill>
            <a:ln>
              <a:noFill/>
            </a:ln>
          </p:spPr>
        </p:sp>
        <p:sp>
          <p:nvSpPr>
            <p:cNvPr id="403" name="Google Shape;403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4" name="Google Shape;404;p29"/>
          <p:cNvGrpSpPr/>
          <p:nvPr/>
        </p:nvGrpSpPr>
        <p:grpSpPr>
          <a:xfrm>
            <a:off x="424815" y="2176091"/>
            <a:ext cx="1451105" cy="113916"/>
            <a:chOff x="0" y="-38100"/>
            <a:chExt cx="3869614" cy="303776"/>
          </a:xfrm>
        </p:grpSpPr>
        <p:sp>
          <p:nvSpPr>
            <p:cNvPr id="405" name="Google Shape;405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406" name="Google Shape;406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1565C0"/>
                  </a:solidFill>
                  <a:latin typeface="Calibri"/>
                  <a:ea typeface="Calibri"/>
                  <a:cs typeface="Calibri"/>
                  <a:sym typeface="Calibri"/>
                </a:rPr>
                <a:t>Apache Flink</a:t>
              </a:r>
              <a:endParaRPr sz="700"/>
            </a:p>
          </p:txBody>
        </p:sp>
      </p:grpSp>
      <p:grpSp>
        <p:nvGrpSpPr>
          <p:cNvPr id="407" name="Google Shape;407;p29"/>
          <p:cNvGrpSpPr/>
          <p:nvPr/>
        </p:nvGrpSpPr>
        <p:grpSpPr>
          <a:xfrm>
            <a:off x="2035112" y="1364718"/>
            <a:ext cx="1686972" cy="1266348"/>
            <a:chOff x="0" y="0"/>
            <a:chExt cx="4498594" cy="3376930"/>
          </a:xfrm>
        </p:grpSpPr>
        <p:sp>
          <p:nvSpPr>
            <p:cNvPr id="408" name="Google Shape;408;p29"/>
            <p:cNvSpPr/>
            <p:nvPr/>
          </p:nvSpPr>
          <p:spPr>
            <a:xfrm>
              <a:off x="5969" y="5969"/>
              <a:ext cx="4486656" cy="3364992"/>
            </a:xfrm>
            <a:custGeom>
              <a:rect b="b" l="l" r="r" t="t"/>
              <a:pathLst>
                <a:path extrusionOk="0" h="336499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09" name="Google Shape;409;p29"/>
            <p:cNvSpPr/>
            <p:nvPr/>
          </p:nvSpPr>
          <p:spPr>
            <a:xfrm>
              <a:off x="0" y="0"/>
              <a:ext cx="4498594" cy="3376930"/>
            </a:xfrm>
            <a:custGeom>
              <a:rect b="b" l="l" r="r" t="t"/>
              <a:pathLst>
                <a:path extrusionOk="0" h="3376930" w="4498594">
                  <a:moveTo>
                    <a:pt x="5969" y="0"/>
                  </a:moveTo>
                  <a:lnTo>
                    <a:pt x="4492625" y="0"/>
                  </a:lnTo>
                  <a:cubicBezTo>
                    <a:pt x="4495927" y="0"/>
                    <a:pt x="4498594" y="2667"/>
                    <a:pt x="4498594" y="5969"/>
                  </a:cubicBezTo>
                  <a:lnTo>
                    <a:pt x="4498594" y="3370961"/>
                  </a:lnTo>
                  <a:cubicBezTo>
                    <a:pt x="4498594" y="3374263"/>
                    <a:pt x="4495927" y="3376930"/>
                    <a:pt x="4492625" y="3376930"/>
                  </a:cubicBezTo>
                  <a:lnTo>
                    <a:pt x="5969" y="3376930"/>
                  </a:lnTo>
                  <a:cubicBezTo>
                    <a:pt x="2667" y="3376930"/>
                    <a:pt x="0" y="3374263"/>
                    <a:pt x="0" y="3370961"/>
                  </a:cubicBezTo>
                  <a:lnTo>
                    <a:pt x="0" y="5969"/>
                  </a:lnTo>
                  <a:cubicBezTo>
                    <a:pt x="0" y="2667"/>
                    <a:pt x="2667" y="0"/>
                    <a:pt x="5969" y="0"/>
                  </a:cubicBezTo>
                  <a:moveTo>
                    <a:pt x="5969" y="11811"/>
                  </a:moveTo>
                  <a:lnTo>
                    <a:pt x="5969" y="5969"/>
                  </a:lnTo>
                  <a:lnTo>
                    <a:pt x="11811" y="5969"/>
                  </a:lnTo>
                  <a:lnTo>
                    <a:pt x="11811" y="3370961"/>
                  </a:lnTo>
                  <a:lnTo>
                    <a:pt x="5969" y="3370961"/>
                  </a:lnTo>
                  <a:lnTo>
                    <a:pt x="5969" y="3364992"/>
                  </a:lnTo>
                  <a:lnTo>
                    <a:pt x="4492625" y="3364992"/>
                  </a:lnTo>
                  <a:lnTo>
                    <a:pt x="4492625" y="3370961"/>
                  </a:lnTo>
                  <a:lnTo>
                    <a:pt x="4486656" y="3370961"/>
                  </a:lnTo>
                  <a:lnTo>
                    <a:pt x="4486656" y="5969"/>
                  </a:lnTo>
                  <a:lnTo>
                    <a:pt x="4492625" y="5969"/>
                  </a:lnTo>
                  <a:lnTo>
                    <a:pt x="4492625" y="11811"/>
                  </a:lnTo>
                  <a:lnTo>
                    <a:pt x="5969" y="11811"/>
                  </a:lnTo>
                  <a:close/>
                </a:path>
              </a:pathLst>
            </a:custGeom>
            <a:solidFill>
              <a:srgbClr val="E0E6F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0" name="Google Shape;410;p29"/>
          <p:cNvGrpSpPr/>
          <p:nvPr/>
        </p:nvGrpSpPr>
        <p:grpSpPr>
          <a:xfrm>
            <a:off x="2034159" y="1363766"/>
            <a:ext cx="1688877" cy="253270"/>
            <a:chOff x="0" y="0"/>
            <a:chExt cx="4503674" cy="675386"/>
          </a:xfrm>
        </p:grpSpPr>
        <p:sp>
          <p:nvSpPr>
            <p:cNvPr id="411" name="Google Shape;411;p29"/>
            <p:cNvSpPr/>
            <p:nvPr/>
          </p:nvSpPr>
          <p:spPr>
            <a:xfrm>
              <a:off x="8509" y="8509"/>
              <a:ext cx="4486656" cy="658368"/>
            </a:xfrm>
            <a:custGeom>
              <a:rect b="b" l="l" r="r" t="t"/>
              <a:pathLst>
                <a:path extrusionOk="0" h="658368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658368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</p:sp>
        <p:sp>
          <p:nvSpPr>
            <p:cNvPr id="412" name="Google Shape;412;p29"/>
            <p:cNvSpPr/>
            <p:nvPr/>
          </p:nvSpPr>
          <p:spPr>
            <a:xfrm>
              <a:off x="0" y="0"/>
              <a:ext cx="4503674" cy="675386"/>
            </a:xfrm>
            <a:custGeom>
              <a:rect b="b" l="l" r="r" t="t"/>
              <a:pathLst>
                <a:path extrusionOk="0" h="675386" w="4503674">
                  <a:moveTo>
                    <a:pt x="8509" y="0"/>
                  </a:moveTo>
                  <a:lnTo>
                    <a:pt x="4495165" y="0"/>
                  </a:lnTo>
                  <a:cubicBezTo>
                    <a:pt x="4499864" y="0"/>
                    <a:pt x="4503674" y="3810"/>
                    <a:pt x="4503674" y="8509"/>
                  </a:cubicBezTo>
                  <a:lnTo>
                    <a:pt x="4503674" y="666877"/>
                  </a:lnTo>
                  <a:cubicBezTo>
                    <a:pt x="4503674" y="671576"/>
                    <a:pt x="4499864" y="675386"/>
                    <a:pt x="4495165" y="675386"/>
                  </a:cubicBezTo>
                  <a:lnTo>
                    <a:pt x="8509" y="675386"/>
                  </a:lnTo>
                  <a:cubicBezTo>
                    <a:pt x="3810" y="675386"/>
                    <a:pt x="0" y="671576"/>
                    <a:pt x="0" y="6668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66877"/>
                  </a:lnTo>
                  <a:lnTo>
                    <a:pt x="8509" y="666877"/>
                  </a:lnTo>
                  <a:lnTo>
                    <a:pt x="8509" y="658368"/>
                  </a:lnTo>
                  <a:lnTo>
                    <a:pt x="4495165" y="658368"/>
                  </a:lnTo>
                  <a:lnTo>
                    <a:pt x="4495165" y="666877"/>
                  </a:lnTo>
                  <a:lnTo>
                    <a:pt x="4486656" y="666877"/>
                  </a:lnTo>
                  <a:lnTo>
                    <a:pt x="4486656" y="8509"/>
                  </a:lnTo>
                  <a:lnTo>
                    <a:pt x="4495165" y="8509"/>
                  </a:lnTo>
                  <a:lnTo>
                    <a:pt x="449516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3" name="Google Shape;413;p29"/>
          <p:cNvGrpSpPr/>
          <p:nvPr/>
        </p:nvGrpSpPr>
        <p:grpSpPr>
          <a:xfrm>
            <a:off x="2107306" y="1418158"/>
            <a:ext cx="1542545" cy="130164"/>
            <a:chOff x="0" y="-38100"/>
            <a:chExt cx="4113454" cy="347104"/>
          </a:xfrm>
        </p:grpSpPr>
        <p:sp>
          <p:nvSpPr>
            <p:cNvPr id="414" name="Google Shape;414;p29"/>
            <p:cNvSpPr/>
            <p:nvPr/>
          </p:nvSpPr>
          <p:spPr>
            <a:xfrm>
              <a:off x="0" y="0"/>
              <a:ext cx="4113448" cy="309001"/>
            </a:xfrm>
            <a:custGeom>
              <a:rect b="b" l="l" r="r" t="t"/>
              <a:pathLst>
                <a:path extrusionOk="0" h="309001" w="4113448">
                  <a:moveTo>
                    <a:pt x="0" y="0"/>
                  </a:moveTo>
                  <a:lnTo>
                    <a:pt x="4113448" y="0"/>
                  </a:lnTo>
                  <a:lnTo>
                    <a:pt x="4113448" y="309001"/>
                  </a:lnTo>
                  <a:lnTo>
                    <a:pt x="0" y="30900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9390" l="0" r="0" t="-209390"/>
              </a:stretch>
            </a:blipFill>
            <a:ln>
              <a:noFill/>
            </a:ln>
          </p:spPr>
        </p:sp>
        <p:sp>
          <p:nvSpPr>
            <p:cNvPr id="415" name="Google Shape;415;p29"/>
            <p:cNvSpPr txBox="1"/>
            <p:nvPr/>
          </p:nvSpPr>
          <p:spPr>
            <a:xfrm>
              <a:off x="0" y="-38100"/>
              <a:ext cx="4113454" cy="347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Graph ML</a:t>
              </a:r>
              <a:endParaRPr sz="700"/>
            </a:p>
          </p:txBody>
        </p:sp>
      </p:grpSp>
      <p:grpSp>
        <p:nvGrpSpPr>
          <p:cNvPr id="416" name="Google Shape;416;p29"/>
          <p:cNvGrpSpPr/>
          <p:nvPr/>
        </p:nvGrpSpPr>
        <p:grpSpPr>
          <a:xfrm>
            <a:off x="2127499" y="1676562"/>
            <a:ext cx="1502187" cy="194595"/>
            <a:chOff x="0" y="0"/>
            <a:chExt cx="4005834" cy="518922"/>
          </a:xfrm>
        </p:grpSpPr>
        <p:sp>
          <p:nvSpPr>
            <p:cNvPr id="417" name="Google Shape;417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EDE7F6"/>
            </a:solidFill>
            <a:ln>
              <a:noFill/>
            </a:ln>
          </p:spPr>
        </p:sp>
        <p:sp>
          <p:nvSpPr>
            <p:cNvPr id="418" name="Google Shape;418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9" name="Google Shape;419;p29"/>
          <p:cNvGrpSpPr/>
          <p:nvPr/>
        </p:nvGrpSpPr>
        <p:grpSpPr>
          <a:xfrm>
            <a:off x="2153031" y="1709747"/>
            <a:ext cx="1451105" cy="113916"/>
            <a:chOff x="0" y="-38100"/>
            <a:chExt cx="3869614" cy="303776"/>
          </a:xfrm>
        </p:grpSpPr>
        <p:sp>
          <p:nvSpPr>
            <p:cNvPr id="420" name="Google Shape;420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421" name="Google Shape;421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4527A0"/>
                  </a:solidFill>
                  <a:latin typeface="Calibri"/>
                  <a:ea typeface="Calibri"/>
                  <a:cs typeface="Calibri"/>
                  <a:sym typeface="Calibri"/>
                </a:rPr>
                <a:t>PyTorch Geometric</a:t>
              </a:r>
              <a:endParaRPr sz="700"/>
            </a:p>
          </p:txBody>
        </p:sp>
      </p:grpSp>
      <p:grpSp>
        <p:nvGrpSpPr>
          <p:cNvPr id="422" name="Google Shape;422;p29"/>
          <p:cNvGrpSpPr/>
          <p:nvPr/>
        </p:nvGrpSpPr>
        <p:grpSpPr>
          <a:xfrm>
            <a:off x="2127499" y="1909734"/>
            <a:ext cx="1502187" cy="194595"/>
            <a:chOff x="0" y="0"/>
            <a:chExt cx="4005834" cy="518922"/>
          </a:xfrm>
        </p:grpSpPr>
        <p:sp>
          <p:nvSpPr>
            <p:cNvPr id="423" name="Google Shape;423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EDE7F6"/>
            </a:solidFill>
            <a:ln>
              <a:noFill/>
            </a:ln>
          </p:spPr>
        </p:sp>
        <p:sp>
          <p:nvSpPr>
            <p:cNvPr id="424" name="Google Shape;424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5" name="Google Shape;425;p29"/>
          <p:cNvGrpSpPr/>
          <p:nvPr/>
        </p:nvGrpSpPr>
        <p:grpSpPr>
          <a:xfrm>
            <a:off x="2153031" y="1942919"/>
            <a:ext cx="1451105" cy="113916"/>
            <a:chOff x="0" y="-38100"/>
            <a:chExt cx="3869614" cy="303776"/>
          </a:xfrm>
        </p:grpSpPr>
        <p:sp>
          <p:nvSpPr>
            <p:cNvPr id="426" name="Google Shape;426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427" name="Google Shape;427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4527A0"/>
                  </a:solidFill>
                  <a:latin typeface="Calibri"/>
                  <a:ea typeface="Calibri"/>
                  <a:cs typeface="Calibri"/>
                  <a:sym typeface="Calibri"/>
                </a:rPr>
                <a:t>FraudGT (Graph Transformer)</a:t>
              </a:r>
              <a:endParaRPr sz="700"/>
            </a:p>
          </p:txBody>
        </p:sp>
      </p:grpSp>
      <p:grpSp>
        <p:nvGrpSpPr>
          <p:cNvPr id="428" name="Google Shape;428;p29"/>
          <p:cNvGrpSpPr/>
          <p:nvPr/>
        </p:nvGrpSpPr>
        <p:grpSpPr>
          <a:xfrm>
            <a:off x="2127499" y="2142911"/>
            <a:ext cx="1502187" cy="194595"/>
            <a:chOff x="0" y="0"/>
            <a:chExt cx="4005834" cy="518922"/>
          </a:xfrm>
        </p:grpSpPr>
        <p:sp>
          <p:nvSpPr>
            <p:cNvPr id="429" name="Google Shape;429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EDE7F6"/>
            </a:solidFill>
            <a:ln>
              <a:noFill/>
            </a:ln>
          </p:spPr>
        </p:sp>
        <p:sp>
          <p:nvSpPr>
            <p:cNvPr id="430" name="Google Shape;430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1" name="Google Shape;431;p29"/>
          <p:cNvGrpSpPr/>
          <p:nvPr/>
        </p:nvGrpSpPr>
        <p:grpSpPr>
          <a:xfrm>
            <a:off x="2153031" y="2176091"/>
            <a:ext cx="1451105" cy="113916"/>
            <a:chOff x="0" y="-38100"/>
            <a:chExt cx="3869614" cy="303776"/>
          </a:xfrm>
        </p:grpSpPr>
        <p:sp>
          <p:nvSpPr>
            <p:cNvPr id="432" name="Google Shape;432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433" name="Google Shape;433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4527A0"/>
                  </a:solidFill>
                  <a:latin typeface="Calibri"/>
                  <a:ea typeface="Calibri"/>
                  <a:cs typeface="Calibri"/>
                  <a:sym typeface="Calibri"/>
                </a:rPr>
                <a:t>BDH Model</a:t>
              </a:r>
              <a:endParaRPr sz="700"/>
            </a:p>
          </p:txBody>
        </p:sp>
      </p:grpSp>
      <p:grpSp>
        <p:nvGrpSpPr>
          <p:cNvPr id="434" name="Google Shape;434;p29"/>
          <p:cNvGrpSpPr/>
          <p:nvPr/>
        </p:nvGrpSpPr>
        <p:grpSpPr>
          <a:xfrm>
            <a:off x="2127499" y="2376083"/>
            <a:ext cx="1502187" cy="194595"/>
            <a:chOff x="0" y="0"/>
            <a:chExt cx="4005834" cy="518922"/>
          </a:xfrm>
        </p:grpSpPr>
        <p:sp>
          <p:nvSpPr>
            <p:cNvPr id="435" name="Google Shape;435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EDE7F6"/>
            </a:solidFill>
            <a:ln>
              <a:noFill/>
            </a:ln>
          </p:spPr>
        </p:sp>
        <p:sp>
          <p:nvSpPr>
            <p:cNvPr id="436" name="Google Shape;436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7" name="Google Shape;437;p29"/>
          <p:cNvGrpSpPr/>
          <p:nvPr/>
        </p:nvGrpSpPr>
        <p:grpSpPr>
          <a:xfrm>
            <a:off x="2153031" y="2409263"/>
            <a:ext cx="1451105" cy="113916"/>
            <a:chOff x="0" y="-38100"/>
            <a:chExt cx="3869614" cy="303776"/>
          </a:xfrm>
        </p:grpSpPr>
        <p:sp>
          <p:nvSpPr>
            <p:cNvPr id="438" name="Google Shape;438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439" name="Google Shape;439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4527A0"/>
                  </a:solidFill>
                  <a:latin typeface="Calibri"/>
                  <a:ea typeface="Calibri"/>
                  <a:cs typeface="Calibri"/>
                  <a:sym typeface="Calibri"/>
                </a:rPr>
                <a:t>XGBoost</a:t>
              </a:r>
              <a:endParaRPr sz="700"/>
            </a:p>
          </p:txBody>
        </p:sp>
      </p:grpSp>
      <p:grpSp>
        <p:nvGrpSpPr>
          <p:cNvPr id="440" name="Google Shape;440;p29"/>
          <p:cNvGrpSpPr/>
          <p:nvPr/>
        </p:nvGrpSpPr>
        <p:grpSpPr>
          <a:xfrm>
            <a:off x="3763327" y="1364718"/>
            <a:ext cx="1686972" cy="1266348"/>
            <a:chOff x="0" y="0"/>
            <a:chExt cx="4498594" cy="3376930"/>
          </a:xfrm>
        </p:grpSpPr>
        <p:sp>
          <p:nvSpPr>
            <p:cNvPr id="441" name="Google Shape;441;p29"/>
            <p:cNvSpPr/>
            <p:nvPr/>
          </p:nvSpPr>
          <p:spPr>
            <a:xfrm>
              <a:off x="5969" y="5969"/>
              <a:ext cx="4486656" cy="3364992"/>
            </a:xfrm>
            <a:custGeom>
              <a:rect b="b" l="l" r="r" t="t"/>
              <a:pathLst>
                <a:path extrusionOk="0" h="336499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42" name="Google Shape;442;p29"/>
            <p:cNvSpPr/>
            <p:nvPr/>
          </p:nvSpPr>
          <p:spPr>
            <a:xfrm>
              <a:off x="0" y="0"/>
              <a:ext cx="4498594" cy="3376930"/>
            </a:xfrm>
            <a:custGeom>
              <a:rect b="b" l="l" r="r" t="t"/>
              <a:pathLst>
                <a:path extrusionOk="0" h="3376930" w="4498594">
                  <a:moveTo>
                    <a:pt x="5969" y="0"/>
                  </a:moveTo>
                  <a:lnTo>
                    <a:pt x="4492625" y="0"/>
                  </a:lnTo>
                  <a:cubicBezTo>
                    <a:pt x="4495927" y="0"/>
                    <a:pt x="4498594" y="2667"/>
                    <a:pt x="4498594" y="5969"/>
                  </a:cubicBezTo>
                  <a:lnTo>
                    <a:pt x="4498594" y="3370961"/>
                  </a:lnTo>
                  <a:cubicBezTo>
                    <a:pt x="4498594" y="3374263"/>
                    <a:pt x="4495927" y="3376930"/>
                    <a:pt x="4492625" y="3376930"/>
                  </a:cubicBezTo>
                  <a:lnTo>
                    <a:pt x="5969" y="3376930"/>
                  </a:lnTo>
                  <a:cubicBezTo>
                    <a:pt x="2667" y="3376930"/>
                    <a:pt x="0" y="3374263"/>
                    <a:pt x="0" y="3370961"/>
                  </a:cubicBezTo>
                  <a:lnTo>
                    <a:pt x="0" y="5969"/>
                  </a:lnTo>
                  <a:cubicBezTo>
                    <a:pt x="0" y="2667"/>
                    <a:pt x="2667" y="0"/>
                    <a:pt x="5969" y="0"/>
                  </a:cubicBezTo>
                  <a:moveTo>
                    <a:pt x="5969" y="11811"/>
                  </a:moveTo>
                  <a:lnTo>
                    <a:pt x="5969" y="5969"/>
                  </a:lnTo>
                  <a:lnTo>
                    <a:pt x="11811" y="5969"/>
                  </a:lnTo>
                  <a:lnTo>
                    <a:pt x="11811" y="3370961"/>
                  </a:lnTo>
                  <a:lnTo>
                    <a:pt x="5969" y="3370961"/>
                  </a:lnTo>
                  <a:lnTo>
                    <a:pt x="5969" y="3364992"/>
                  </a:lnTo>
                  <a:lnTo>
                    <a:pt x="4492625" y="3364992"/>
                  </a:lnTo>
                  <a:lnTo>
                    <a:pt x="4492625" y="3370961"/>
                  </a:lnTo>
                  <a:lnTo>
                    <a:pt x="4486656" y="3370961"/>
                  </a:lnTo>
                  <a:lnTo>
                    <a:pt x="4486656" y="5969"/>
                  </a:lnTo>
                  <a:lnTo>
                    <a:pt x="4492625" y="5969"/>
                  </a:lnTo>
                  <a:lnTo>
                    <a:pt x="4492625" y="11811"/>
                  </a:lnTo>
                  <a:lnTo>
                    <a:pt x="5969" y="11811"/>
                  </a:lnTo>
                  <a:close/>
                </a:path>
              </a:pathLst>
            </a:custGeom>
            <a:solidFill>
              <a:srgbClr val="E0E6F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3" name="Google Shape;443;p29"/>
          <p:cNvGrpSpPr/>
          <p:nvPr/>
        </p:nvGrpSpPr>
        <p:grpSpPr>
          <a:xfrm>
            <a:off x="3762375" y="1363766"/>
            <a:ext cx="1688877" cy="253270"/>
            <a:chOff x="0" y="0"/>
            <a:chExt cx="4503674" cy="675386"/>
          </a:xfrm>
        </p:grpSpPr>
        <p:sp>
          <p:nvSpPr>
            <p:cNvPr id="444" name="Google Shape;444;p29"/>
            <p:cNvSpPr/>
            <p:nvPr/>
          </p:nvSpPr>
          <p:spPr>
            <a:xfrm>
              <a:off x="8509" y="8509"/>
              <a:ext cx="4486656" cy="658368"/>
            </a:xfrm>
            <a:custGeom>
              <a:rect b="b" l="l" r="r" t="t"/>
              <a:pathLst>
                <a:path extrusionOk="0" h="658368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658368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</p:sp>
        <p:sp>
          <p:nvSpPr>
            <p:cNvPr id="445" name="Google Shape;445;p29"/>
            <p:cNvSpPr/>
            <p:nvPr/>
          </p:nvSpPr>
          <p:spPr>
            <a:xfrm>
              <a:off x="0" y="0"/>
              <a:ext cx="4503674" cy="675386"/>
            </a:xfrm>
            <a:custGeom>
              <a:rect b="b" l="l" r="r" t="t"/>
              <a:pathLst>
                <a:path extrusionOk="0" h="675386" w="4503674">
                  <a:moveTo>
                    <a:pt x="8509" y="0"/>
                  </a:moveTo>
                  <a:lnTo>
                    <a:pt x="4495165" y="0"/>
                  </a:lnTo>
                  <a:cubicBezTo>
                    <a:pt x="4499864" y="0"/>
                    <a:pt x="4503674" y="3810"/>
                    <a:pt x="4503674" y="8509"/>
                  </a:cubicBezTo>
                  <a:lnTo>
                    <a:pt x="4503674" y="666877"/>
                  </a:lnTo>
                  <a:cubicBezTo>
                    <a:pt x="4503674" y="671576"/>
                    <a:pt x="4499864" y="675386"/>
                    <a:pt x="4495165" y="675386"/>
                  </a:cubicBezTo>
                  <a:lnTo>
                    <a:pt x="8509" y="675386"/>
                  </a:lnTo>
                  <a:cubicBezTo>
                    <a:pt x="3810" y="675386"/>
                    <a:pt x="0" y="671576"/>
                    <a:pt x="0" y="6668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66877"/>
                  </a:lnTo>
                  <a:lnTo>
                    <a:pt x="8509" y="666877"/>
                  </a:lnTo>
                  <a:lnTo>
                    <a:pt x="8509" y="658368"/>
                  </a:lnTo>
                  <a:lnTo>
                    <a:pt x="4495165" y="658368"/>
                  </a:lnTo>
                  <a:lnTo>
                    <a:pt x="4495165" y="666877"/>
                  </a:lnTo>
                  <a:lnTo>
                    <a:pt x="4486656" y="666877"/>
                  </a:lnTo>
                  <a:lnTo>
                    <a:pt x="4486656" y="8509"/>
                  </a:lnTo>
                  <a:lnTo>
                    <a:pt x="4495165" y="8509"/>
                  </a:lnTo>
                  <a:lnTo>
                    <a:pt x="449516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6" name="Google Shape;446;p29"/>
          <p:cNvGrpSpPr/>
          <p:nvPr/>
        </p:nvGrpSpPr>
        <p:grpSpPr>
          <a:xfrm>
            <a:off x="3835527" y="1418158"/>
            <a:ext cx="1542545" cy="130164"/>
            <a:chOff x="0" y="-38100"/>
            <a:chExt cx="4113454" cy="347104"/>
          </a:xfrm>
        </p:grpSpPr>
        <p:sp>
          <p:nvSpPr>
            <p:cNvPr id="447" name="Google Shape;447;p29"/>
            <p:cNvSpPr/>
            <p:nvPr/>
          </p:nvSpPr>
          <p:spPr>
            <a:xfrm>
              <a:off x="0" y="0"/>
              <a:ext cx="4113448" cy="309001"/>
            </a:xfrm>
            <a:custGeom>
              <a:rect b="b" l="l" r="r" t="t"/>
              <a:pathLst>
                <a:path extrusionOk="0" h="309001" w="4113448">
                  <a:moveTo>
                    <a:pt x="0" y="0"/>
                  </a:moveTo>
                  <a:lnTo>
                    <a:pt x="4113448" y="0"/>
                  </a:lnTo>
                  <a:lnTo>
                    <a:pt x="4113448" y="309001"/>
                  </a:lnTo>
                  <a:lnTo>
                    <a:pt x="0" y="30900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9390" l="0" r="0" t="-209390"/>
              </a:stretch>
            </a:blipFill>
            <a:ln>
              <a:noFill/>
            </a:ln>
          </p:spPr>
        </p:sp>
        <p:sp>
          <p:nvSpPr>
            <p:cNvPr id="448" name="Google Shape;448;p29"/>
            <p:cNvSpPr txBox="1"/>
            <p:nvPr/>
          </p:nvSpPr>
          <p:spPr>
            <a:xfrm>
              <a:off x="0" y="-38100"/>
              <a:ext cx="4113454" cy="347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LLM / AI</a:t>
              </a:r>
              <a:endParaRPr sz="700"/>
            </a:p>
          </p:txBody>
        </p:sp>
      </p:grpSp>
      <p:grpSp>
        <p:nvGrpSpPr>
          <p:cNvPr id="449" name="Google Shape;449;p29"/>
          <p:cNvGrpSpPr/>
          <p:nvPr/>
        </p:nvGrpSpPr>
        <p:grpSpPr>
          <a:xfrm>
            <a:off x="3855715" y="1676562"/>
            <a:ext cx="1502187" cy="194595"/>
            <a:chOff x="0" y="0"/>
            <a:chExt cx="4005834" cy="518922"/>
          </a:xfrm>
        </p:grpSpPr>
        <p:sp>
          <p:nvSpPr>
            <p:cNvPr id="450" name="Google Shape;450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E0F2F1"/>
            </a:solidFill>
            <a:ln>
              <a:noFill/>
            </a:ln>
          </p:spPr>
        </p:sp>
        <p:sp>
          <p:nvSpPr>
            <p:cNvPr id="451" name="Google Shape;451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2" name="Google Shape;452;p29"/>
          <p:cNvGrpSpPr/>
          <p:nvPr/>
        </p:nvGrpSpPr>
        <p:grpSpPr>
          <a:xfrm>
            <a:off x="3855715" y="1909734"/>
            <a:ext cx="1502187" cy="194595"/>
            <a:chOff x="0" y="0"/>
            <a:chExt cx="4005834" cy="518922"/>
          </a:xfrm>
        </p:grpSpPr>
        <p:sp>
          <p:nvSpPr>
            <p:cNvPr id="453" name="Google Shape;453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E0F2F1"/>
            </a:solidFill>
            <a:ln>
              <a:noFill/>
            </a:ln>
          </p:spPr>
        </p:sp>
        <p:sp>
          <p:nvSpPr>
            <p:cNvPr id="454" name="Google Shape;454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5" name="Google Shape;455;p29"/>
          <p:cNvGrpSpPr/>
          <p:nvPr/>
        </p:nvGrpSpPr>
        <p:grpSpPr>
          <a:xfrm>
            <a:off x="3881242" y="1942919"/>
            <a:ext cx="1451105" cy="113916"/>
            <a:chOff x="0" y="-38100"/>
            <a:chExt cx="3869614" cy="303776"/>
          </a:xfrm>
        </p:grpSpPr>
        <p:sp>
          <p:nvSpPr>
            <p:cNvPr id="456" name="Google Shape;456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457" name="Google Shape;457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00695C"/>
                  </a:solidFill>
                  <a:latin typeface="Calibri"/>
                  <a:ea typeface="Calibri"/>
                  <a:cs typeface="Calibri"/>
                  <a:sym typeface="Calibri"/>
                </a:rPr>
                <a:t>ChromaDB (RAG)</a:t>
              </a:r>
              <a:endParaRPr sz="700"/>
            </a:p>
          </p:txBody>
        </p:sp>
      </p:grpSp>
      <p:grpSp>
        <p:nvGrpSpPr>
          <p:cNvPr id="458" name="Google Shape;458;p29"/>
          <p:cNvGrpSpPr/>
          <p:nvPr/>
        </p:nvGrpSpPr>
        <p:grpSpPr>
          <a:xfrm>
            <a:off x="3855715" y="2142911"/>
            <a:ext cx="1502187" cy="194595"/>
            <a:chOff x="0" y="0"/>
            <a:chExt cx="4005834" cy="518922"/>
          </a:xfrm>
        </p:grpSpPr>
        <p:sp>
          <p:nvSpPr>
            <p:cNvPr id="459" name="Google Shape;459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E0F2F1"/>
            </a:solidFill>
            <a:ln>
              <a:noFill/>
            </a:ln>
          </p:spPr>
        </p:sp>
        <p:sp>
          <p:nvSpPr>
            <p:cNvPr id="460" name="Google Shape;460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1" name="Google Shape;461;p29"/>
          <p:cNvGrpSpPr/>
          <p:nvPr/>
        </p:nvGrpSpPr>
        <p:grpSpPr>
          <a:xfrm>
            <a:off x="3881242" y="2176091"/>
            <a:ext cx="1451105" cy="113916"/>
            <a:chOff x="0" y="-38100"/>
            <a:chExt cx="3869614" cy="303776"/>
          </a:xfrm>
        </p:grpSpPr>
        <p:sp>
          <p:nvSpPr>
            <p:cNvPr id="462" name="Google Shape;462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463" name="Google Shape;463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00695C"/>
                  </a:solidFill>
                  <a:latin typeface="Calibri"/>
                  <a:ea typeface="Calibri"/>
                  <a:cs typeface="Calibri"/>
                  <a:sym typeface="Calibri"/>
                </a:rPr>
                <a:t>Qwen (local explainer)</a:t>
              </a:r>
              <a:endParaRPr sz="700"/>
            </a:p>
          </p:txBody>
        </p:sp>
      </p:grpSp>
      <p:grpSp>
        <p:nvGrpSpPr>
          <p:cNvPr id="464" name="Google Shape;464;p29"/>
          <p:cNvGrpSpPr/>
          <p:nvPr/>
        </p:nvGrpSpPr>
        <p:grpSpPr>
          <a:xfrm>
            <a:off x="3855715" y="2376083"/>
            <a:ext cx="1502187" cy="194595"/>
            <a:chOff x="0" y="0"/>
            <a:chExt cx="4005834" cy="518922"/>
          </a:xfrm>
        </p:grpSpPr>
        <p:sp>
          <p:nvSpPr>
            <p:cNvPr id="465" name="Google Shape;465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E0F2F1"/>
            </a:solidFill>
            <a:ln>
              <a:noFill/>
            </a:ln>
          </p:spPr>
        </p:sp>
        <p:sp>
          <p:nvSpPr>
            <p:cNvPr id="466" name="Google Shape;466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7" name="Google Shape;467;p29"/>
          <p:cNvGrpSpPr/>
          <p:nvPr/>
        </p:nvGrpSpPr>
        <p:grpSpPr>
          <a:xfrm>
            <a:off x="3881242" y="2409263"/>
            <a:ext cx="1451105" cy="113916"/>
            <a:chOff x="0" y="-38100"/>
            <a:chExt cx="3869614" cy="303776"/>
          </a:xfrm>
        </p:grpSpPr>
        <p:sp>
          <p:nvSpPr>
            <p:cNvPr id="468" name="Google Shape;468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469" name="Google Shape;469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00695C"/>
                  </a:solidFill>
                  <a:latin typeface="Calibri"/>
                  <a:ea typeface="Calibri"/>
                  <a:cs typeface="Calibri"/>
                  <a:sym typeface="Calibri"/>
                </a:rPr>
                <a:t>all-MiniLM-L6-v2</a:t>
              </a:r>
              <a:endParaRPr sz="700"/>
            </a:p>
          </p:txBody>
        </p:sp>
      </p:grpSp>
      <p:grpSp>
        <p:nvGrpSpPr>
          <p:cNvPr id="470" name="Google Shape;470;p29"/>
          <p:cNvGrpSpPr/>
          <p:nvPr/>
        </p:nvGrpSpPr>
        <p:grpSpPr>
          <a:xfrm>
            <a:off x="5491538" y="1364718"/>
            <a:ext cx="1686972" cy="1266348"/>
            <a:chOff x="0" y="0"/>
            <a:chExt cx="4498594" cy="3376930"/>
          </a:xfrm>
        </p:grpSpPr>
        <p:sp>
          <p:nvSpPr>
            <p:cNvPr id="471" name="Google Shape;471;p29"/>
            <p:cNvSpPr/>
            <p:nvPr/>
          </p:nvSpPr>
          <p:spPr>
            <a:xfrm>
              <a:off x="5969" y="5969"/>
              <a:ext cx="4486656" cy="3364992"/>
            </a:xfrm>
            <a:custGeom>
              <a:rect b="b" l="l" r="r" t="t"/>
              <a:pathLst>
                <a:path extrusionOk="0" h="336499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72" name="Google Shape;472;p29"/>
            <p:cNvSpPr/>
            <p:nvPr/>
          </p:nvSpPr>
          <p:spPr>
            <a:xfrm>
              <a:off x="0" y="0"/>
              <a:ext cx="4498594" cy="3376930"/>
            </a:xfrm>
            <a:custGeom>
              <a:rect b="b" l="l" r="r" t="t"/>
              <a:pathLst>
                <a:path extrusionOk="0" h="3376930" w="4498594">
                  <a:moveTo>
                    <a:pt x="5969" y="0"/>
                  </a:moveTo>
                  <a:lnTo>
                    <a:pt x="4492625" y="0"/>
                  </a:lnTo>
                  <a:cubicBezTo>
                    <a:pt x="4495927" y="0"/>
                    <a:pt x="4498594" y="2667"/>
                    <a:pt x="4498594" y="5969"/>
                  </a:cubicBezTo>
                  <a:lnTo>
                    <a:pt x="4498594" y="3370961"/>
                  </a:lnTo>
                  <a:cubicBezTo>
                    <a:pt x="4498594" y="3374263"/>
                    <a:pt x="4495927" y="3376930"/>
                    <a:pt x="4492625" y="3376930"/>
                  </a:cubicBezTo>
                  <a:lnTo>
                    <a:pt x="5969" y="3376930"/>
                  </a:lnTo>
                  <a:cubicBezTo>
                    <a:pt x="2667" y="3376930"/>
                    <a:pt x="0" y="3374263"/>
                    <a:pt x="0" y="3370961"/>
                  </a:cubicBezTo>
                  <a:lnTo>
                    <a:pt x="0" y="5969"/>
                  </a:lnTo>
                  <a:cubicBezTo>
                    <a:pt x="0" y="2667"/>
                    <a:pt x="2667" y="0"/>
                    <a:pt x="5969" y="0"/>
                  </a:cubicBezTo>
                  <a:moveTo>
                    <a:pt x="5969" y="11811"/>
                  </a:moveTo>
                  <a:lnTo>
                    <a:pt x="5969" y="5969"/>
                  </a:lnTo>
                  <a:lnTo>
                    <a:pt x="11811" y="5969"/>
                  </a:lnTo>
                  <a:lnTo>
                    <a:pt x="11811" y="3370961"/>
                  </a:lnTo>
                  <a:lnTo>
                    <a:pt x="5969" y="3370961"/>
                  </a:lnTo>
                  <a:lnTo>
                    <a:pt x="5969" y="3364992"/>
                  </a:lnTo>
                  <a:lnTo>
                    <a:pt x="4492625" y="3364992"/>
                  </a:lnTo>
                  <a:lnTo>
                    <a:pt x="4492625" y="3370961"/>
                  </a:lnTo>
                  <a:lnTo>
                    <a:pt x="4486656" y="3370961"/>
                  </a:lnTo>
                  <a:lnTo>
                    <a:pt x="4486656" y="5969"/>
                  </a:lnTo>
                  <a:lnTo>
                    <a:pt x="4492625" y="5969"/>
                  </a:lnTo>
                  <a:lnTo>
                    <a:pt x="4492625" y="11811"/>
                  </a:lnTo>
                  <a:lnTo>
                    <a:pt x="5969" y="11811"/>
                  </a:lnTo>
                  <a:close/>
                </a:path>
              </a:pathLst>
            </a:custGeom>
            <a:solidFill>
              <a:srgbClr val="E0E6F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3" name="Google Shape;473;p29"/>
          <p:cNvGrpSpPr/>
          <p:nvPr/>
        </p:nvGrpSpPr>
        <p:grpSpPr>
          <a:xfrm>
            <a:off x="5490586" y="1363766"/>
            <a:ext cx="1688877" cy="253270"/>
            <a:chOff x="0" y="0"/>
            <a:chExt cx="4503674" cy="675386"/>
          </a:xfrm>
        </p:grpSpPr>
        <p:sp>
          <p:nvSpPr>
            <p:cNvPr id="474" name="Google Shape;474;p29"/>
            <p:cNvSpPr/>
            <p:nvPr/>
          </p:nvSpPr>
          <p:spPr>
            <a:xfrm>
              <a:off x="8509" y="8509"/>
              <a:ext cx="4486656" cy="658368"/>
            </a:xfrm>
            <a:custGeom>
              <a:rect b="b" l="l" r="r" t="t"/>
              <a:pathLst>
                <a:path extrusionOk="0" h="658368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658368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BF360C"/>
            </a:solidFill>
            <a:ln>
              <a:noFill/>
            </a:ln>
          </p:spPr>
        </p:sp>
        <p:sp>
          <p:nvSpPr>
            <p:cNvPr id="475" name="Google Shape;475;p29"/>
            <p:cNvSpPr/>
            <p:nvPr/>
          </p:nvSpPr>
          <p:spPr>
            <a:xfrm>
              <a:off x="0" y="0"/>
              <a:ext cx="4503674" cy="675386"/>
            </a:xfrm>
            <a:custGeom>
              <a:rect b="b" l="l" r="r" t="t"/>
              <a:pathLst>
                <a:path extrusionOk="0" h="675386" w="4503674">
                  <a:moveTo>
                    <a:pt x="8509" y="0"/>
                  </a:moveTo>
                  <a:lnTo>
                    <a:pt x="4495165" y="0"/>
                  </a:lnTo>
                  <a:cubicBezTo>
                    <a:pt x="4499864" y="0"/>
                    <a:pt x="4503674" y="3810"/>
                    <a:pt x="4503674" y="8509"/>
                  </a:cubicBezTo>
                  <a:lnTo>
                    <a:pt x="4503674" y="666877"/>
                  </a:lnTo>
                  <a:cubicBezTo>
                    <a:pt x="4503674" y="671576"/>
                    <a:pt x="4499864" y="675386"/>
                    <a:pt x="4495165" y="675386"/>
                  </a:cubicBezTo>
                  <a:lnTo>
                    <a:pt x="8509" y="675386"/>
                  </a:lnTo>
                  <a:cubicBezTo>
                    <a:pt x="3810" y="675386"/>
                    <a:pt x="0" y="671576"/>
                    <a:pt x="0" y="6668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66877"/>
                  </a:lnTo>
                  <a:lnTo>
                    <a:pt x="8509" y="666877"/>
                  </a:lnTo>
                  <a:lnTo>
                    <a:pt x="8509" y="658368"/>
                  </a:lnTo>
                  <a:lnTo>
                    <a:pt x="4495165" y="658368"/>
                  </a:lnTo>
                  <a:lnTo>
                    <a:pt x="4495165" y="666877"/>
                  </a:lnTo>
                  <a:lnTo>
                    <a:pt x="4486656" y="666877"/>
                  </a:lnTo>
                  <a:lnTo>
                    <a:pt x="4486656" y="8509"/>
                  </a:lnTo>
                  <a:lnTo>
                    <a:pt x="4495165" y="8509"/>
                  </a:lnTo>
                  <a:lnTo>
                    <a:pt x="449516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BF36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6" name="Google Shape;476;p29"/>
          <p:cNvGrpSpPr/>
          <p:nvPr/>
        </p:nvGrpSpPr>
        <p:grpSpPr>
          <a:xfrm>
            <a:off x="5563738" y="1418158"/>
            <a:ext cx="1542545" cy="130164"/>
            <a:chOff x="0" y="-38100"/>
            <a:chExt cx="4113454" cy="347104"/>
          </a:xfrm>
        </p:grpSpPr>
        <p:sp>
          <p:nvSpPr>
            <p:cNvPr id="477" name="Google Shape;477;p29"/>
            <p:cNvSpPr/>
            <p:nvPr/>
          </p:nvSpPr>
          <p:spPr>
            <a:xfrm>
              <a:off x="0" y="0"/>
              <a:ext cx="4113449" cy="309001"/>
            </a:xfrm>
            <a:custGeom>
              <a:rect b="b" l="l" r="r" t="t"/>
              <a:pathLst>
                <a:path extrusionOk="0" h="309001" w="4113449">
                  <a:moveTo>
                    <a:pt x="0" y="0"/>
                  </a:moveTo>
                  <a:lnTo>
                    <a:pt x="4113449" y="0"/>
                  </a:lnTo>
                  <a:lnTo>
                    <a:pt x="4113449" y="309001"/>
                  </a:lnTo>
                  <a:lnTo>
                    <a:pt x="0" y="30900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9390" l="0" r="0" t="-209390"/>
              </a:stretch>
            </a:blipFill>
            <a:ln>
              <a:noFill/>
            </a:ln>
          </p:spPr>
        </p:sp>
        <p:sp>
          <p:nvSpPr>
            <p:cNvPr id="478" name="Google Shape;478;p29"/>
            <p:cNvSpPr txBox="1"/>
            <p:nvPr/>
          </p:nvSpPr>
          <p:spPr>
            <a:xfrm>
              <a:off x="0" y="-38100"/>
              <a:ext cx="4113454" cy="347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Backend / API</a:t>
              </a:r>
              <a:endParaRPr sz="700"/>
            </a:p>
          </p:txBody>
        </p:sp>
      </p:grpSp>
      <p:grpSp>
        <p:nvGrpSpPr>
          <p:cNvPr id="479" name="Google Shape;479;p29"/>
          <p:cNvGrpSpPr/>
          <p:nvPr/>
        </p:nvGrpSpPr>
        <p:grpSpPr>
          <a:xfrm>
            <a:off x="5583936" y="1676562"/>
            <a:ext cx="1502187" cy="194595"/>
            <a:chOff x="0" y="0"/>
            <a:chExt cx="4005834" cy="518922"/>
          </a:xfrm>
        </p:grpSpPr>
        <p:sp>
          <p:nvSpPr>
            <p:cNvPr id="480" name="Google Shape;480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FBE9E7"/>
            </a:solidFill>
            <a:ln>
              <a:noFill/>
            </a:ln>
          </p:spPr>
        </p:sp>
        <p:sp>
          <p:nvSpPr>
            <p:cNvPr id="481" name="Google Shape;481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BF36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2" name="Google Shape;482;p29"/>
          <p:cNvGrpSpPr/>
          <p:nvPr/>
        </p:nvGrpSpPr>
        <p:grpSpPr>
          <a:xfrm>
            <a:off x="5609463" y="1709747"/>
            <a:ext cx="1451105" cy="113916"/>
            <a:chOff x="0" y="-38100"/>
            <a:chExt cx="3869614" cy="303776"/>
          </a:xfrm>
        </p:grpSpPr>
        <p:sp>
          <p:nvSpPr>
            <p:cNvPr id="483" name="Google Shape;483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484" name="Google Shape;484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BF360C"/>
                  </a:solidFill>
                  <a:latin typeface="Calibri"/>
                  <a:ea typeface="Calibri"/>
                  <a:cs typeface="Calibri"/>
                  <a:sym typeface="Calibri"/>
                </a:rPr>
                <a:t>FastAPI (Python)</a:t>
              </a:r>
              <a:endParaRPr sz="700"/>
            </a:p>
          </p:txBody>
        </p:sp>
      </p:grpSp>
      <p:grpSp>
        <p:nvGrpSpPr>
          <p:cNvPr id="485" name="Google Shape;485;p29"/>
          <p:cNvGrpSpPr/>
          <p:nvPr/>
        </p:nvGrpSpPr>
        <p:grpSpPr>
          <a:xfrm>
            <a:off x="5583936" y="1909734"/>
            <a:ext cx="1502187" cy="194595"/>
            <a:chOff x="0" y="0"/>
            <a:chExt cx="4005834" cy="518922"/>
          </a:xfrm>
        </p:grpSpPr>
        <p:sp>
          <p:nvSpPr>
            <p:cNvPr id="486" name="Google Shape;486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FBE9E7"/>
            </a:solidFill>
            <a:ln>
              <a:noFill/>
            </a:ln>
          </p:spPr>
        </p:sp>
        <p:sp>
          <p:nvSpPr>
            <p:cNvPr id="487" name="Google Shape;487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BF36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29"/>
          <p:cNvGrpSpPr/>
          <p:nvPr/>
        </p:nvGrpSpPr>
        <p:grpSpPr>
          <a:xfrm>
            <a:off x="5609463" y="1942919"/>
            <a:ext cx="1451105" cy="113916"/>
            <a:chOff x="0" y="-38100"/>
            <a:chExt cx="3869614" cy="303776"/>
          </a:xfrm>
        </p:grpSpPr>
        <p:sp>
          <p:nvSpPr>
            <p:cNvPr id="489" name="Google Shape;489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490" name="Google Shape;490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BF360C"/>
                  </a:solidFill>
                  <a:latin typeface="Calibri"/>
                  <a:ea typeface="Calibri"/>
                  <a:cs typeface="Calibri"/>
                  <a:sym typeface="Calibri"/>
                </a:rPr>
                <a:t>PostgreSQL / AWS RDS</a:t>
              </a:r>
              <a:endParaRPr sz="700"/>
            </a:p>
          </p:txBody>
        </p:sp>
      </p:grpSp>
      <p:grpSp>
        <p:nvGrpSpPr>
          <p:cNvPr id="491" name="Google Shape;491;p29"/>
          <p:cNvGrpSpPr/>
          <p:nvPr/>
        </p:nvGrpSpPr>
        <p:grpSpPr>
          <a:xfrm>
            <a:off x="5583936" y="2142911"/>
            <a:ext cx="1502187" cy="194595"/>
            <a:chOff x="0" y="0"/>
            <a:chExt cx="4005834" cy="518922"/>
          </a:xfrm>
        </p:grpSpPr>
        <p:sp>
          <p:nvSpPr>
            <p:cNvPr id="492" name="Google Shape;492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FBE9E7"/>
            </a:solidFill>
            <a:ln>
              <a:noFill/>
            </a:ln>
          </p:spPr>
        </p:sp>
        <p:sp>
          <p:nvSpPr>
            <p:cNvPr id="493" name="Google Shape;493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BF36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" name="Google Shape;494;p29"/>
          <p:cNvGrpSpPr/>
          <p:nvPr/>
        </p:nvGrpSpPr>
        <p:grpSpPr>
          <a:xfrm>
            <a:off x="5609463" y="2176091"/>
            <a:ext cx="1451105" cy="113916"/>
            <a:chOff x="0" y="-38100"/>
            <a:chExt cx="3869614" cy="303776"/>
          </a:xfrm>
        </p:grpSpPr>
        <p:sp>
          <p:nvSpPr>
            <p:cNvPr id="495" name="Google Shape;495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496" name="Google Shape;496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BF360C"/>
                  </a:solidFill>
                  <a:latin typeface="Calibri"/>
                  <a:ea typeface="Calibri"/>
                  <a:cs typeface="Calibri"/>
                  <a:sym typeface="Calibri"/>
                </a:rPr>
                <a:t>SQLite audit DB</a:t>
              </a:r>
              <a:endParaRPr sz="700"/>
            </a:p>
          </p:txBody>
        </p:sp>
      </p:grpSp>
      <p:grpSp>
        <p:nvGrpSpPr>
          <p:cNvPr id="497" name="Google Shape;497;p29"/>
          <p:cNvGrpSpPr/>
          <p:nvPr/>
        </p:nvGrpSpPr>
        <p:grpSpPr>
          <a:xfrm>
            <a:off x="5583936" y="2376083"/>
            <a:ext cx="1502187" cy="194595"/>
            <a:chOff x="0" y="0"/>
            <a:chExt cx="4005834" cy="518922"/>
          </a:xfrm>
        </p:grpSpPr>
        <p:sp>
          <p:nvSpPr>
            <p:cNvPr id="498" name="Google Shape;498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FBE9E7"/>
            </a:solidFill>
            <a:ln>
              <a:noFill/>
            </a:ln>
          </p:spPr>
        </p:sp>
        <p:sp>
          <p:nvSpPr>
            <p:cNvPr id="499" name="Google Shape;499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BF36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0" name="Google Shape;500;p29"/>
          <p:cNvGrpSpPr/>
          <p:nvPr/>
        </p:nvGrpSpPr>
        <p:grpSpPr>
          <a:xfrm>
            <a:off x="5609463" y="2409263"/>
            <a:ext cx="1451105" cy="113916"/>
            <a:chOff x="0" y="-38100"/>
            <a:chExt cx="3869614" cy="303776"/>
          </a:xfrm>
        </p:grpSpPr>
        <p:sp>
          <p:nvSpPr>
            <p:cNvPr id="501" name="Google Shape;501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502" name="Google Shape;502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BF360C"/>
                  </a:solidFill>
                  <a:latin typeface="Calibri"/>
                  <a:ea typeface="Calibri"/>
                  <a:cs typeface="Calibri"/>
                  <a:sym typeface="Calibri"/>
                </a:rPr>
                <a:t>AWS (deployment)</a:t>
              </a:r>
              <a:endParaRPr sz="700"/>
            </a:p>
          </p:txBody>
        </p:sp>
      </p:grpSp>
      <p:grpSp>
        <p:nvGrpSpPr>
          <p:cNvPr id="503" name="Google Shape;503;p29"/>
          <p:cNvGrpSpPr/>
          <p:nvPr/>
        </p:nvGrpSpPr>
        <p:grpSpPr>
          <a:xfrm>
            <a:off x="7219760" y="1364718"/>
            <a:ext cx="1686972" cy="1266348"/>
            <a:chOff x="0" y="0"/>
            <a:chExt cx="4498594" cy="3376930"/>
          </a:xfrm>
        </p:grpSpPr>
        <p:sp>
          <p:nvSpPr>
            <p:cNvPr id="504" name="Google Shape;504;p29"/>
            <p:cNvSpPr/>
            <p:nvPr/>
          </p:nvSpPr>
          <p:spPr>
            <a:xfrm>
              <a:off x="5969" y="5969"/>
              <a:ext cx="4486656" cy="3364992"/>
            </a:xfrm>
            <a:custGeom>
              <a:rect b="b" l="l" r="r" t="t"/>
              <a:pathLst>
                <a:path extrusionOk="0" h="336499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3364992"/>
                  </a:lnTo>
                  <a:lnTo>
                    <a:pt x="0" y="33649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05" name="Google Shape;505;p29"/>
            <p:cNvSpPr/>
            <p:nvPr/>
          </p:nvSpPr>
          <p:spPr>
            <a:xfrm>
              <a:off x="0" y="0"/>
              <a:ext cx="4498594" cy="3376930"/>
            </a:xfrm>
            <a:custGeom>
              <a:rect b="b" l="l" r="r" t="t"/>
              <a:pathLst>
                <a:path extrusionOk="0" h="3376930" w="4498594">
                  <a:moveTo>
                    <a:pt x="5969" y="0"/>
                  </a:moveTo>
                  <a:lnTo>
                    <a:pt x="4492625" y="0"/>
                  </a:lnTo>
                  <a:cubicBezTo>
                    <a:pt x="4495927" y="0"/>
                    <a:pt x="4498594" y="2667"/>
                    <a:pt x="4498594" y="5969"/>
                  </a:cubicBezTo>
                  <a:lnTo>
                    <a:pt x="4498594" y="3370961"/>
                  </a:lnTo>
                  <a:cubicBezTo>
                    <a:pt x="4498594" y="3374263"/>
                    <a:pt x="4495927" y="3376930"/>
                    <a:pt x="4492625" y="3376930"/>
                  </a:cubicBezTo>
                  <a:lnTo>
                    <a:pt x="5969" y="3376930"/>
                  </a:lnTo>
                  <a:cubicBezTo>
                    <a:pt x="2667" y="3376930"/>
                    <a:pt x="0" y="3374263"/>
                    <a:pt x="0" y="3370961"/>
                  </a:cubicBezTo>
                  <a:lnTo>
                    <a:pt x="0" y="5969"/>
                  </a:lnTo>
                  <a:cubicBezTo>
                    <a:pt x="0" y="2667"/>
                    <a:pt x="2667" y="0"/>
                    <a:pt x="5969" y="0"/>
                  </a:cubicBezTo>
                  <a:moveTo>
                    <a:pt x="5969" y="11811"/>
                  </a:moveTo>
                  <a:lnTo>
                    <a:pt x="5969" y="5969"/>
                  </a:lnTo>
                  <a:lnTo>
                    <a:pt x="11811" y="5969"/>
                  </a:lnTo>
                  <a:lnTo>
                    <a:pt x="11811" y="3370961"/>
                  </a:lnTo>
                  <a:lnTo>
                    <a:pt x="5969" y="3370961"/>
                  </a:lnTo>
                  <a:lnTo>
                    <a:pt x="5969" y="3364992"/>
                  </a:lnTo>
                  <a:lnTo>
                    <a:pt x="4492625" y="3364992"/>
                  </a:lnTo>
                  <a:lnTo>
                    <a:pt x="4492625" y="3370961"/>
                  </a:lnTo>
                  <a:lnTo>
                    <a:pt x="4486656" y="3370961"/>
                  </a:lnTo>
                  <a:lnTo>
                    <a:pt x="4486656" y="5969"/>
                  </a:lnTo>
                  <a:lnTo>
                    <a:pt x="4492625" y="5969"/>
                  </a:lnTo>
                  <a:lnTo>
                    <a:pt x="4492625" y="11811"/>
                  </a:lnTo>
                  <a:lnTo>
                    <a:pt x="5969" y="11811"/>
                  </a:lnTo>
                  <a:close/>
                </a:path>
              </a:pathLst>
            </a:custGeom>
            <a:solidFill>
              <a:srgbClr val="E0E6F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6" name="Google Shape;506;p29"/>
          <p:cNvGrpSpPr/>
          <p:nvPr/>
        </p:nvGrpSpPr>
        <p:grpSpPr>
          <a:xfrm>
            <a:off x="7218807" y="1363766"/>
            <a:ext cx="1688877" cy="253270"/>
            <a:chOff x="0" y="0"/>
            <a:chExt cx="4503674" cy="675386"/>
          </a:xfrm>
        </p:grpSpPr>
        <p:sp>
          <p:nvSpPr>
            <p:cNvPr id="507" name="Google Shape;507;p29"/>
            <p:cNvSpPr/>
            <p:nvPr/>
          </p:nvSpPr>
          <p:spPr>
            <a:xfrm>
              <a:off x="8509" y="8509"/>
              <a:ext cx="4486656" cy="658368"/>
            </a:xfrm>
            <a:custGeom>
              <a:rect b="b" l="l" r="r" t="t"/>
              <a:pathLst>
                <a:path extrusionOk="0" h="658368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658368"/>
                  </a:lnTo>
                  <a:lnTo>
                    <a:pt x="0" y="658368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508" name="Google Shape;508;p29"/>
            <p:cNvSpPr/>
            <p:nvPr/>
          </p:nvSpPr>
          <p:spPr>
            <a:xfrm>
              <a:off x="0" y="0"/>
              <a:ext cx="4503674" cy="675386"/>
            </a:xfrm>
            <a:custGeom>
              <a:rect b="b" l="l" r="r" t="t"/>
              <a:pathLst>
                <a:path extrusionOk="0" h="675386" w="4503674">
                  <a:moveTo>
                    <a:pt x="8509" y="0"/>
                  </a:moveTo>
                  <a:lnTo>
                    <a:pt x="4495165" y="0"/>
                  </a:lnTo>
                  <a:cubicBezTo>
                    <a:pt x="4499864" y="0"/>
                    <a:pt x="4503674" y="3810"/>
                    <a:pt x="4503674" y="8509"/>
                  </a:cubicBezTo>
                  <a:lnTo>
                    <a:pt x="4503674" y="666877"/>
                  </a:lnTo>
                  <a:cubicBezTo>
                    <a:pt x="4503674" y="671576"/>
                    <a:pt x="4499864" y="675386"/>
                    <a:pt x="4495165" y="675386"/>
                  </a:cubicBezTo>
                  <a:lnTo>
                    <a:pt x="8509" y="675386"/>
                  </a:lnTo>
                  <a:cubicBezTo>
                    <a:pt x="3810" y="675386"/>
                    <a:pt x="0" y="671576"/>
                    <a:pt x="0" y="666877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666877"/>
                  </a:lnTo>
                  <a:lnTo>
                    <a:pt x="8509" y="666877"/>
                  </a:lnTo>
                  <a:lnTo>
                    <a:pt x="8509" y="658368"/>
                  </a:lnTo>
                  <a:lnTo>
                    <a:pt x="4495165" y="658368"/>
                  </a:lnTo>
                  <a:lnTo>
                    <a:pt x="4495165" y="666877"/>
                  </a:lnTo>
                  <a:lnTo>
                    <a:pt x="4486656" y="666877"/>
                  </a:lnTo>
                  <a:lnTo>
                    <a:pt x="4486656" y="8509"/>
                  </a:lnTo>
                  <a:lnTo>
                    <a:pt x="4495165" y="8509"/>
                  </a:lnTo>
                  <a:lnTo>
                    <a:pt x="449516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9" name="Google Shape;509;p29"/>
          <p:cNvGrpSpPr/>
          <p:nvPr/>
        </p:nvGrpSpPr>
        <p:grpSpPr>
          <a:xfrm>
            <a:off x="7291959" y="1418158"/>
            <a:ext cx="1542545" cy="130164"/>
            <a:chOff x="0" y="-38100"/>
            <a:chExt cx="4113454" cy="347104"/>
          </a:xfrm>
        </p:grpSpPr>
        <p:sp>
          <p:nvSpPr>
            <p:cNvPr id="510" name="Google Shape;510;p29"/>
            <p:cNvSpPr/>
            <p:nvPr/>
          </p:nvSpPr>
          <p:spPr>
            <a:xfrm>
              <a:off x="0" y="0"/>
              <a:ext cx="4113448" cy="309001"/>
            </a:xfrm>
            <a:custGeom>
              <a:rect b="b" l="l" r="r" t="t"/>
              <a:pathLst>
                <a:path extrusionOk="0" h="309001" w="4113448">
                  <a:moveTo>
                    <a:pt x="0" y="0"/>
                  </a:moveTo>
                  <a:lnTo>
                    <a:pt x="4113448" y="0"/>
                  </a:lnTo>
                  <a:lnTo>
                    <a:pt x="4113448" y="309001"/>
                  </a:lnTo>
                  <a:lnTo>
                    <a:pt x="0" y="30900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09390" l="0" r="0" t="-209390"/>
              </a:stretch>
            </a:blipFill>
            <a:ln>
              <a:noFill/>
            </a:ln>
          </p:spPr>
        </p:sp>
        <p:sp>
          <p:nvSpPr>
            <p:cNvPr id="511" name="Google Shape;511;p29"/>
            <p:cNvSpPr txBox="1"/>
            <p:nvPr/>
          </p:nvSpPr>
          <p:spPr>
            <a:xfrm>
              <a:off x="0" y="-38100"/>
              <a:ext cx="4113454" cy="347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Data &amp; Compliance</a:t>
              </a:r>
              <a:endParaRPr sz="700"/>
            </a:p>
          </p:txBody>
        </p:sp>
      </p:grpSp>
      <p:grpSp>
        <p:nvGrpSpPr>
          <p:cNvPr id="512" name="Google Shape;512;p29"/>
          <p:cNvGrpSpPr/>
          <p:nvPr/>
        </p:nvGrpSpPr>
        <p:grpSpPr>
          <a:xfrm>
            <a:off x="7312152" y="1676562"/>
            <a:ext cx="1502187" cy="194595"/>
            <a:chOff x="0" y="0"/>
            <a:chExt cx="4005834" cy="518922"/>
          </a:xfrm>
        </p:grpSpPr>
        <p:sp>
          <p:nvSpPr>
            <p:cNvPr id="513" name="Google Shape;513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514" name="Google Shape;514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5" name="Google Shape;515;p29"/>
          <p:cNvGrpSpPr/>
          <p:nvPr/>
        </p:nvGrpSpPr>
        <p:grpSpPr>
          <a:xfrm>
            <a:off x="7337674" y="1709747"/>
            <a:ext cx="1451105" cy="113916"/>
            <a:chOff x="0" y="-38100"/>
            <a:chExt cx="3869614" cy="303776"/>
          </a:xfrm>
        </p:grpSpPr>
        <p:sp>
          <p:nvSpPr>
            <p:cNvPr id="516" name="Google Shape;516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517" name="Google Shape;517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Account Aggregator AA</a:t>
              </a:r>
              <a:endParaRPr sz="700"/>
            </a:p>
          </p:txBody>
        </p:sp>
      </p:grpSp>
      <p:grpSp>
        <p:nvGrpSpPr>
          <p:cNvPr id="518" name="Google Shape;518;p29"/>
          <p:cNvGrpSpPr/>
          <p:nvPr/>
        </p:nvGrpSpPr>
        <p:grpSpPr>
          <a:xfrm>
            <a:off x="7312152" y="1909734"/>
            <a:ext cx="1502187" cy="194595"/>
            <a:chOff x="0" y="0"/>
            <a:chExt cx="4005834" cy="518922"/>
          </a:xfrm>
        </p:grpSpPr>
        <p:sp>
          <p:nvSpPr>
            <p:cNvPr id="519" name="Google Shape;519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520" name="Google Shape;520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1" name="Google Shape;521;p29"/>
          <p:cNvGrpSpPr/>
          <p:nvPr/>
        </p:nvGrpSpPr>
        <p:grpSpPr>
          <a:xfrm>
            <a:off x="7337674" y="1942919"/>
            <a:ext cx="1451105" cy="113916"/>
            <a:chOff x="0" y="-38100"/>
            <a:chExt cx="3869614" cy="303776"/>
          </a:xfrm>
        </p:grpSpPr>
        <p:sp>
          <p:nvSpPr>
            <p:cNvPr id="522" name="Google Shape;522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523" name="Google Shape;523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DiliSense API (KYC)</a:t>
              </a:r>
              <a:endParaRPr sz="700"/>
            </a:p>
          </p:txBody>
        </p:sp>
      </p:grpSp>
      <p:grpSp>
        <p:nvGrpSpPr>
          <p:cNvPr id="524" name="Google Shape;524;p29"/>
          <p:cNvGrpSpPr/>
          <p:nvPr/>
        </p:nvGrpSpPr>
        <p:grpSpPr>
          <a:xfrm>
            <a:off x="7312152" y="2142911"/>
            <a:ext cx="1502187" cy="194595"/>
            <a:chOff x="0" y="0"/>
            <a:chExt cx="4005834" cy="518922"/>
          </a:xfrm>
        </p:grpSpPr>
        <p:sp>
          <p:nvSpPr>
            <p:cNvPr id="525" name="Google Shape;525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526" name="Google Shape;526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29"/>
          <p:cNvGrpSpPr/>
          <p:nvPr/>
        </p:nvGrpSpPr>
        <p:grpSpPr>
          <a:xfrm>
            <a:off x="7337674" y="2176091"/>
            <a:ext cx="1451105" cy="113916"/>
            <a:chOff x="0" y="-38100"/>
            <a:chExt cx="3869614" cy="303776"/>
          </a:xfrm>
        </p:grpSpPr>
        <p:sp>
          <p:nvSpPr>
            <p:cNvPr id="528" name="Google Shape;528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529" name="Google Shape;529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IBM AML-HI-Large</a:t>
              </a:r>
              <a:endParaRPr sz="700"/>
            </a:p>
          </p:txBody>
        </p:sp>
      </p:grpSp>
      <p:grpSp>
        <p:nvGrpSpPr>
          <p:cNvPr id="530" name="Google Shape;530;p29"/>
          <p:cNvGrpSpPr/>
          <p:nvPr/>
        </p:nvGrpSpPr>
        <p:grpSpPr>
          <a:xfrm>
            <a:off x="7312152" y="2376083"/>
            <a:ext cx="1502187" cy="194595"/>
            <a:chOff x="0" y="0"/>
            <a:chExt cx="4005834" cy="518922"/>
          </a:xfrm>
        </p:grpSpPr>
        <p:sp>
          <p:nvSpPr>
            <p:cNvPr id="531" name="Google Shape;531;p29"/>
            <p:cNvSpPr/>
            <p:nvPr/>
          </p:nvSpPr>
          <p:spPr>
            <a:xfrm>
              <a:off x="3429" y="3429"/>
              <a:ext cx="3998976" cy="512064"/>
            </a:xfrm>
            <a:custGeom>
              <a:rect b="b" l="l" r="r" t="t"/>
              <a:pathLst>
                <a:path extrusionOk="0" h="512064" w="3998976">
                  <a:moveTo>
                    <a:pt x="0" y="0"/>
                  </a:moveTo>
                  <a:lnTo>
                    <a:pt x="3998976" y="0"/>
                  </a:lnTo>
                  <a:lnTo>
                    <a:pt x="3998976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E8F5E9"/>
            </a:solidFill>
            <a:ln>
              <a:noFill/>
            </a:ln>
          </p:spPr>
        </p:sp>
        <p:sp>
          <p:nvSpPr>
            <p:cNvPr id="532" name="Google Shape;532;p29"/>
            <p:cNvSpPr/>
            <p:nvPr/>
          </p:nvSpPr>
          <p:spPr>
            <a:xfrm>
              <a:off x="0" y="0"/>
              <a:ext cx="4005834" cy="518922"/>
            </a:xfrm>
            <a:custGeom>
              <a:rect b="b" l="l" r="r" t="t"/>
              <a:pathLst>
                <a:path extrusionOk="0" h="518922" w="4005834">
                  <a:moveTo>
                    <a:pt x="3429" y="0"/>
                  </a:moveTo>
                  <a:lnTo>
                    <a:pt x="4002405" y="0"/>
                  </a:lnTo>
                  <a:cubicBezTo>
                    <a:pt x="4004310" y="0"/>
                    <a:pt x="4005834" y="1524"/>
                    <a:pt x="4005834" y="3429"/>
                  </a:cubicBezTo>
                  <a:lnTo>
                    <a:pt x="4005834" y="515493"/>
                  </a:lnTo>
                  <a:cubicBezTo>
                    <a:pt x="4005834" y="517398"/>
                    <a:pt x="4004310" y="518922"/>
                    <a:pt x="4002405" y="518922"/>
                  </a:cubicBezTo>
                  <a:lnTo>
                    <a:pt x="3429" y="518922"/>
                  </a:lnTo>
                  <a:cubicBezTo>
                    <a:pt x="1524" y="518922"/>
                    <a:pt x="0" y="517398"/>
                    <a:pt x="0" y="515493"/>
                  </a:cubicBezTo>
                  <a:lnTo>
                    <a:pt x="0" y="3429"/>
                  </a:lnTo>
                  <a:cubicBezTo>
                    <a:pt x="0" y="1524"/>
                    <a:pt x="1524" y="0"/>
                    <a:pt x="3429" y="0"/>
                  </a:cubicBezTo>
                  <a:moveTo>
                    <a:pt x="3429" y="6731"/>
                  </a:moveTo>
                  <a:lnTo>
                    <a:pt x="3429" y="3429"/>
                  </a:lnTo>
                  <a:lnTo>
                    <a:pt x="6731" y="3429"/>
                  </a:lnTo>
                  <a:lnTo>
                    <a:pt x="6731" y="515493"/>
                  </a:lnTo>
                  <a:lnTo>
                    <a:pt x="3429" y="515493"/>
                  </a:lnTo>
                  <a:lnTo>
                    <a:pt x="3429" y="512064"/>
                  </a:lnTo>
                  <a:lnTo>
                    <a:pt x="4002405" y="512064"/>
                  </a:lnTo>
                  <a:lnTo>
                    <a:pt x="4002405" y="515493"/>
                  </a:lnTo>
                  <a:lnTo>
                    <a:pt x="3998976" y="515493"/>
                  </a:lnTo>
                  <a:lnTo>
                    <a:pt x="3998976" y="3429"/>
                  </a:lnTo>
                  <a:lnTo>
                    <a:pt x="4002405" y="3429"/>
                  </a:lnTo>
                  <a:lnTo>
                    <a:pt x="4002405" y="6731"/>
                  </a:lnTo>
                  <a:lnTo>
                    <a:pt x="3429" y="6731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3" name="Google Shape;533;p29"/>
          <p:cNvGrpSpPr/>
          <p:nvPr/>
        </p:nvGrpSpPr>
        <p:grpSpPr>
          <a:xfrm>
            <a:off x="7337674" y="2409263"/>
            <a:ext cx="1451105" cy="113916"/>
            <a:chOff x="0" y="-38100"/>
            <a:chExt cx="3869614" cy="303776"/>
          </a:xfrm>
        </p:grpSpPr>
        <p:sp>
          <p:nvSpPr>
            <p:cNvPr id="534" name="Google Shape;534;p29"/>
            <p:cNvSpPr/>
            <p:nvPr/>
          </p:nvSpPr>
          <p:spPr>
            <a:xfrm>
              <a:off x="0" y="0"/>
              <a:ext cx="3869608" cy="265676"/>
            </a:xfrm>
            <a:custGeom>
              <a:rect b="b" l="l" r="r" t="t"/>
              <a:pathLst>
                <a:path extrusionOk="0" h="265676" w="3869608">
                  <a:moveTo>
                    <a:pt x="0" y="0"/>
                  </a:moveTo>
                  <a:lnTo>
                    <a:pt x="3869608" y="0"/>
                  </a:lnTo>
                  <a:lnTo>
                    <a:pt x="3869608" y="265676"/>
                  </a:lnTo>
                  <a:lnTo>
                    <a:pt x="0" y="26567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33801" l="0" r="0" t="-233801"/>
              </a:stretch>
            </a:blipFill>
            <a:ln>
              <a:noFill/>
            </a:ln>
          </p:spPr>
        </p:sp>
        <p:sp>
          <p:nvSpPr>
            <p:cNvPr id="535" name="Google Shape;535;p29"/>
            <p:cNvSpPr txBox="1"/>
            <p:nvPr/>
          </p:nvSpPr>
          <p:spPr>
            <a:xfrm>
              <a:off x="0" y="-38100"/>
              <a:ext cx="3869614" cy="3037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GDELT (adverse media)</a:t>
              </a:r>
              <a:endParaRPr sz="700"/>
            </a:p>
          </p:txBody>
        </p:sp>
      </p:grpSp>
      <p:grpSp>
        <p:nvGrpSpPr>
          <p:cNvPr id="536" name="Google Shape;536;p29"/>
          <p:cNvGrpSpPr/>
          <p:nvPr/>
        </p:nvGrpSpPr>
        <p:grpSpPr>
          <a:xfrm>
            <a:off x="305938" y="2671358"/>
            <a:ext cx="77753" cy="234981"/>
            <a:chOff x="0" y="0"/>
            <a:chExt cx="207340" cy="626618"/>
          </a:xfrm>
        </p:grpSpPr>
        <p:sp>
          <p:nvSpPr>
            <p:cNvPr id="537" name="Google Shape;537;p29"/>
            <p:cNvSpPr/>
            <p:nvPr/>
          </p:nvSpPr>
          <p:spPr>
            <a:xfrm>
              <a:off x="10803" y="8509"/>
              <a:ext cx="185754" cy="609600"/>
            </a:xfrm>
            <a:custGeom>
              <a:rect b="b" l="l" r="r" t="t"/>
              <a:pathLst>
                <a:path extrusionOk="0" h="609600" w="185754">
                  <a:moveTo>
                    <a:pt x="0" y="0"/>
                  </a:moveTo>
                  <a:lnTo>
                    <a:pt x="185754" y="0"/>
                  </a:lnTo>
                  <a:lnTo>
                    <a:pt x="185754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</p:sp>
        <p:sp>
          <p:nvSpPr>
            <p:cNvPr id="538" name="Google Shape;538;p29"/>
            <p:cNvSpPr/>
            <p:nvPr/>
          </p:nvSpPr>
          <p:spPr>
            <a:xfrm>
              <a:off x="0" y="0"/>
              <a:ext cx="207340" cy="626618"/>
            </a:xfrm>
            <a:custGeom>
              <a:rect b="b" l="l" r="r" t="t"/>
              <a:pathLst>
                <a:path extrusionOk="0" h="626618" w="207340">
                  <a:moveTo>
                    <a:pt x="10803" y="0"/>
                  </a:moveTo>
                  <a:lnTo>
                    <a:pt x="196557" y="0"/>
                  </a:lnTo>
                  <a:cubicBezTo>
                    <a:pt x="202523" y="0"/>
                    <a:pt x="207340" y="3810"/>
                    <a:pt x="207340" y="8509"/>
                  </a:cubicBezTo>
                  <a:lnTo>
                    <a:pt x="207340" y="618109"/>
                  </a:lnTo>
                  <a:cubicBezTo>
                    <a:pt x="207340" y="622808"/>
                    <a:pt x="202523" y="626618"/>
                    <a:pt x="196557" y="626618"/>
                  </a:cubicBezTo>
                  <a:lnTo>
                    <a:pt x="10803" y="626618"/>
                  </a:lnTo>
                  <a:cubicBezTo>
                    <a:pt x="4837" y="626618"/>
                    <a:pt x="0" y="622808"/>
                    <a:pt x="0" y="618109"/>
                  </a:cubicBezTo>
                  <a:lnTo>
                    <a:pt x="0" y="8509"/>
                  </a:lnTo>
                  <a:cubicBezTo>
                    <a:pt x="0" y="3810"/>
                    <a:pt x="4837" y="0"/>
                    <a:pt x="10803" y="0"/>
                  </a:cubicBezTo>
                  <a:moveTo>
                    <a:pt x="10803" y="16891"/>
                  </a:moveTo>
                  <a:lnTo>
                    <a:pt x="10803" y="8509"/>
                  </a:lnTo>
                  <a:lnTo>
                    <a:pt x="21607" y="8509"/>
                  </a:lnTo>
                  <a:lnTo>
                    <a:pt x="21607" y="618109"/>
                  </a:lnTo>
                  <a:lnTo>
                    <a:pt x="10803" y="618109"/>
                  </a:lnTo>
                  <a:lnTo>
                    <a:pt x="10803" y="609600"/>
                  </a:lnTo>
                  <a:lnTo>
                    <a:pt x="196557" y="609600"/>
                  </a:lnTo>
                  <a:lnTo>
                    <a:pt x="196557" y="618109"/>
                  </a:lnTo>
                  <a:lnTo>
                    <a:pt x="185754" y="618109"/>
                  </a:lnTo>
                  <a:lnTo>
                    <a:pt x="185754" y="8509"/>
                  </a:lnTo>
                  <a:lnTo>
                    <a:pt x="196557" y="8509"/>
                  </a:lnTo>
                  <a:lnTo>
                    <a:pt x="196557" y="17018"/>
                  </a:lnTo>
                  <a:lnTo>
                    <a:pt x="10803" y="17018"/>
                  </a:lnTo>
                  <a:close/>
                </a:path>
              </a:pathLst>
            </a:custGeom>
            <a:solidFill>
              <a:srgbClr val="C6282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9" name="Google Shape;539;p29"/>
          <p:cNvGrpSpPr/>
          <p:nvPr/>
        </p:nvGrpSpPr>
        <p:grpSpPr>
          <a:xfrm>
            <a:off x="415671" y="2709182"/>
            <a:ext cx="4578351" cy="145008"/>
            <a:chOff x="0" y="-38100"/>
            <a:chExt cx="12208935" cy="386690"/>
          </a:xfrm>
        </p:grpSpPr>
        <p:sp>
          <p:nvSpPr>
            <p:cNvPr id="540" name="Google Shape;540;p29"/>
            <p:cNvSpPr/>
            <p:nvPr/>
          </p:nvSpPr>
          <p:spPr>
            <a:xfrm>
              <a:off x="0" y="0"/>
              <a:ext cx="12208935" cy="348589"/>
            </a:xfrm>
            <a:custGeom>
              <a:rect b="b" l="l" r="r" t="t"/>
              <a:pathLst>
                <a:path extrusionOk="0" h="348589" w="12208935">
                  <a:moveTo>
                    <a:pt x="0" y="0"/>
                  </a:moveTo>
                  <a:lnTo>
                    <a:pt x="12208935" y="0"/>
                  </a:lnTo>
                  <a:lnTo>
                    <a:pt x="12208935" y="348589"/>
                  </a:lnTo>
                  <a:lnTo>
                    <a:pt x="0" y="34858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632501" l="0" r="0" t="-632501"/>
              </a:stretch>
            </a:blipFill>
            <a:ln>
              <a:noFill/>
            </a:ln>
          </p:spPr>
        </p:sp>
        <p:sp>
          <p:nvSpPr>
            <p:cNvPr id="541" name="Google Shape;541;p29"/>
            <p:cNvSpPr txBox="1"/>
            <p:nvPr/>
          </p:nvSpPr>
          <p:spPr>
            <a:xfrm>
              <a:off x="0" y="-38100"/>
              <a:ext cx="12208929" cy="386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 u="none" cap="none" strike="noStrike">
                  <a:solidFill>
                    <a:srgbClr val="B71C1C"/>
                  </a:solidFill>
                  <a:latin typeface="Calibri"/>
                  <a:ea typeface="Calibri"/>
                  <a:cs typeface="Calibri"/>
                  <a:sym typeface="Calibri"/>
                </a:rPr>
                <a:t>Methodology &amp; Implementation Pipeline</a:t>
              </a:r>
              <a:endParaRPr sz="700"/>
            </a:p>
          </p:txBody>
        </p:sp>
      </p:grpSp>
      <p:grpSp>
        <p:nvGrpSpPr>
          <p:cNvPr id="542" name="Google Shape;542;p29"/>
          <p:cNvGrpSpPr/>
          <p:nvPr/>
        </p:nvGrpSpPr>
        <p:grpSpPr>
          <a:xfrm>
            <a:off x="-19307" y="2990760"/>
            <a:ext cx="1342644" cy="1178052"/>
            <a:chOff x="0" y="0"/>
            <a:chExt cx="3580384" cy="3141472"/>
          </a:xfrm>
        </p:grpSpPr>
        <p:sp>
          <p:nvSpPr>
            <p:cNvPr id="543" name="Google Shape;543;p29"/>
            <p:cNvSpPr/>
            <p:nvPr/>
          </p:nvSpPr>
          <p:spPr>
            <a:xfrm>
              <a:off x="10160" y="10160"/>
              <a:ext cx="3560064" cy="3121152"/>
            </a:xfrm>
            <a:custGeom>
              <a:rect b="b" l="l" r="r" t="t"/>
              <a:pathLst>
                <a:path extrusionOk="0" h="3121152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44" name="Google Shape;544;p29"/>
            <p:cNvSpPr/>
            <p:nvPr/>
          </p:nvSpPr>
          <p:spPr>
            <a:xfrm>
              <a:off x="0" y="0"/>
              <a:ext cx="3580384" cy="3141472"/>
            </a:xfrm>
            <a:custGeom>
              <a:rect b="b" l="l" r="r" t="t"/>
              <a:pathLst>
                <a:path extrusionOk="0" h="3141472" w="3580384">
                  <a:moveTo>
                    <a:pt x="10160" y="0"/>
                  </a:moveTo>
                  <a:lnTo>
                    <a:pt x="3570224" y="0"/>
                  </a:lnTo>
                  <a:cubicBezTo>
                    <a:pt x="3575812" y="0"/>
                    <a:pt x="3580384" y="4572"/>
                    <a:pt x="3580384" y="10160"/>
                  </a:cubicBezTo>
                  <a:lnTo>
                    <a:pt x="3580384" y="3131312"/>
                  </a:lnTo>
                  <a:cubicBezTo>
                    <a:pt x="3580384" y="3136900"/>
                    <a:pt x="3575812" y="3141472"/>
                    <a:pt x="3570224" y="3141472"/>
                  </a:cubicBezTo>
                  <a:lnTo>
                    <a:pt x="10160" y="3141472"/>
                  </a:lnTo>
                  <a:cubicBezTo>
                    <a:pt x="4572" y="3141472"/>
                    <a:pt x="0" y="3136900"/>
                    <a:pt x="0" y="3131312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3131312"/>
                  </a:lnTo>
                  <a:lnTo>
                    <a:pt x="10160" y="3131312"/>
                  </a:lnTo>
                  <a:lnTo>
                    <a:pt x="10160" y="3121152"/>
                  </a:lnTo>
                  <a:lnTo>
                    <a:pt x="3570224" y="3121152"/>
                  </a:lnTo>
                  <a:lnTo>
                    <a:pt x="3570224" y="3131312"/>
                  </a:lnTo>
                  <a:lnTo>
                    <a:pt x="3560064" y="3131312"/>
                  </a:lnTo>
                  <a:lnTo>
                    <a:pt x="3560064" y="10160"/>
                  </a:lnTo>
                  <a:lnTo>
                    <a:pt x="3570224" y="10160"/>
                  </a:lnTo>
                  <a:lnTo>
                    <a:pt x="3570224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5" name="Google Shape;545;p29"/>
          <p:cNvGrpSpPr/>
          <p:nvPr/>
        </p:nvGrpSpPr>
        <p:grpSpPr>
          <a:xfrm>
            <a:off x="-18674" y="2991398"/>
            <a:ext cx="1341405" cy="225837"/>
            <a:chOff x="0" y="0"/>
            <a:chExt cx="3577082" cy="602234"/>
          </a:xfrm>
        </p:grpSpPr>
        <p:sp>
          <p:nvSpPr>
            <p:cNvPr id="546" name="Google Shape;546;p29"/>
            <p:cNvSpPr/>
            <p:nvPr/>
          </p:nvSpPr>
          <p:spPr>
            <a:xfrm>
              <a:off x="8509" y="8509"/>
              <a:ext cx="3560064" cy="585216"/>
            </a:xfrm>
            <a:custGeom>
              <a:rect b="b" l="l" r="r" t="t"/>
              <a:pathLst>
                <a:path extrusionOk="0" h="585216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</p:sp>
        <p:sp>
          <p:nvSpPr>
            <p:cNvPr id="547" name="Google Shape;547;p29"/>
            <p:cNvSpPr/>
            <p:nvPr/>
          </p:nvSpPr>
          <p:spPr>
            <a:xfrm>
              <a:off x="0" y="0"/>
              <a:ext cx="3577082" cy="602234"/>
            </a:xfrm>
            <a:custGeom>
              <a:rect b="b" l="l" r="r" t="t"/>
              <a:pathLst>
                <a:path extrusionOk="0" h="602234" w="3577082">
                  <a:moveTo>
                    <a:pt x="8509" y="0"/>
                  </a:moveTo>
                  <a:lnTo>
                    <a:pt x="3568573" y="0"/>
                  </a:lnTo>
                  <a:cubicBezTo>
                    <a:pt x="3573272" y="0"/>
                    <a:pt x="3577082" y="3810"/>
                    <a:pt x="3577082" y="8509"/>
                  </a:cubicBezTo>
                  <a:lnTo>
                    <a:pt x="3577082" y="593725"/>
                  </a:lnTo>
                  <a:cubicBezTo>
                    <a:pt x="3577082" y="598424"/>
                    <a:pt x="3573272" y="602234"/>
                    <a:pt x="3568573" y="602234"/>
                  </a:cubicBezTo>
                  <a:lnTo>
                    <a:pt x="8509" y="602234"/>
                  </a:lnTo>
                  <a:cubicBezTo>
                    <a:pt x="3810" y="602234"/>
                    <a:pt x="0" y="598424"/>
                    <a:pt x="0" y="59372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93725"/>
                  </a:lnTo>
                  <a:lnTo>
                    <a:pt x="8509" y="593725"/>
                  </a:lnTo>
                  <a:lnTo>
                    <a:pt x="8509" y="585216"/>
                  </a:lnTo>
                  <a:lnTo>
                    <a:pt x="3568573" y="585216"/>
                  </a:lnTo>
                  <a:lnTo>
                    <a:pt x="3568573" y="593725"/>
                  </a:lnTo>
                  <a:lnTo>
                    <a:pt x="3560064" y="593725"/>
                  </a:lnTo>
                  <a:lnTo>
                    <a:pt x="3560064" y="8509"/>
                  </a:lnTo>
                  <a:lnTo>
                    <a:pt x="3568573" y="8509"/>
                  </a:lnTo>
                  <a:lnTo>
                    <a:pt x="35685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8" name="Google Shape;548;p29"/>
          <p:cNvGrpSpPr/>
          <p:nvPr/>
        </p:nvGrpSpPr>
        <p:grpSpPr>
          <a:xfrm>
            <a:off x="516250" y="3238286"/>
            <a:ext cx="271510" cy="271557"/>
            <a:chOff x="0" y="0"/>
            <a:chExt cx="724027" cy="724154"/>
          </a:xfrm>
        </p:grpSpPr>
        <p:sp>
          <p:nvSpPr>
            <p:cNvPr id="549" name="Google Shape;549;p29"/>
            <p:cNvSpPr/>
            <p:nvPr/>
          </p:nvSpPr>
          <p:spPr>
            <a:xfrm>
              <a:off x="8509" y="8509"/>
              <a:ext cx="707136" cy="707136"/>
            </a:xfrm>
            <a:custGeom>
              <a:rect b="b" l="l" r="r" t="t"/>
              <a:pathLst>
                <a:path extrusionOk="0"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767" y="707136"/>
                    <a:pt x="353568" y="707136"/>
                  </a:cubicBezTo>
                  <a:cubicBezTo>
                    <a:pt x="158369" y="707136"/>
                    <a:pt x="0" y="548767"/>
                    <a:pt x="0" y="353568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9"/>
            <p:cNvSpPr/>
            <p:nvPr/>
          </p:nvSpPr>
          <p:spPr>
            <a:xfrm>
              <a:off x="0" y="0"/>
              <a:ext cx="724027" cy="724154"/>
            </a:xfrm>
            <a:custGeom>
              <a:rect b="b" l="l" r="r" t="t"/>
              <a:pathLst>
                <a:path extrusionOk="0" h="724154" w="724027">
                  <a:moveTo>
                    <a:pt x="0" y="362077"/>
                  </a:moveTo>
                  <a:cubicBezTo>
                    <a:pt x="0" y="162052"/>
                    <a:pt x="162052" y="0"/>
                    <a:pt x="362077" y="0"/>
                  </a:cubicBezTo>
                  <a:lnTo>
                    <a:pt x="362077" y="8509"/>
                  </a:lnTo>
                  <a:lnTo>
                    <a:pt x="362077" y="0"/>
                  </a:lnTo>
                  <a:cubicBezTo>
                    <a:pt x="561975" y="0"/>
                    <a:pt x="724027" y="162052"/>
                    <a:pt x="724027" y="362077"/>
                  </a:cubicBezTo>
                  <a:lnTo>
                    <a:pt x="715518" y="362077"/>
                  </a:lnTo>
                  <a:lnTo>
                    <a:pt x="724027" y="362077"/>
                  </a:lnTo>
                  <a:cubicBezTo>
                    <a:pt x="724027" y="561975"/>
                    <a:pt x="561975" y="724154"/>
                    <a:pt x="361950" y="724154"/>
                  </a:cubicBezTo>
                  <a:lnTo>
                    <a:pt x="361950" y="715645"/>
                  </a:lnTo>
                  <a:lnTo>
                    <a:pt x="361950" y="724154"/>
                  </a:lnTo>
                  <a:cubicBezTo>
                    <a:pt x="162052" y="724027"/>
                    <a:pt x="0" y="561975"/>
                    <a:pt x="0" y="362077"/>
                  </a:cubicBezTo>
                  <a:lnTo>
                    <a:pt x="8509" y="362077"/>
                  </a:lnTo>
                  <a:lnTo>
                    <a:pt x="17018" y="362077"/>
                  </a:lnTo>
                  <a:lnTo>
                    <a:pt x="8509" y="362077"/>
                  </a:lnTo>
                  <a:lnTo>
                    <a:pt x="0" y="362077"/>
                  </a:lnTo>
                  <a:moveTo>
                    <a:pt x="16891" y="362077"/>
                  </a:moveTo>
                  <a:cubicBezTo>
                    <a:pt x="16891" y="366776"/>
                    <a:pt x="13081" y="370586"/>
                    <a:pt x="8382" y="370586"/>
                  </a:cubicBezTo>
                  <a:cubicBezTo>
                    <a:pt x="3683" y="370586"/>
                    <a:pt x="0" y="366776"/>
                    <a:pt x="0" y="362077"/>
                  </a:cubicBezTo>
                  <a:cubicBezTo>
                    <a:pt x="0" y="357378"/>
                    <a:pt x="3810" y="353568"/>
                    <a:pt x="8509" y="353568"/>
                  </a:cubicBezTo>
                  <a:cubicBezTo>
                    <a:pt x="13208" y="353568"/>
                    <a:pt x="17018" y="357378"/>
                    <a:pt x="17018" y="362077"/>
                  </a:cubicBezTo>
                  <a:cubicBezTo>
                    <a:pt x="17018" y="552704"/>
                    <a:pt x="171577" y="707136"/>
                    <a:pt x="362077" y="707136"/>
                  </a:cubicBezTo>
                  <a:cubicBezTo>
                    <a:pt x="552704" y="707136"/>
                    <a:pt x="707136" y="552577"/>
                    <a:pt x="707136" y="362077"/>
                  </a:cubicBezTo>
                  <a:cubicBezTo>
                    <a:pt x="707136" y="171450"/>
                    <a:pt x="552577" y="17018"/>
                    <a:pt x="362077" y="17018"/>
                  </a:cubicBezTo>
                  <a:lnTo>
                    <a:pt x="362077" y="8509"/>
                  </a:lnTo>
                  <a:lnTo>
                    <a:pt x="362077" y="17018"/>
                  </a:lnTo>
                  <a:cubicBezTo>
                    <a:pt x="171450" y="16891"/>
                    <a:pt x="16891" y="171450"/>
                    <a:pt x="16891" y="362077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1" name="Google Shape;551;p29"/>
          <p:cNvGrpSpPr/>
          <p:nvPr/>
        </p:nvGrpSpPr>
        <p:grpSpPr>
          <a:xfrm>
            <a:off x="539110" y="3273314"/>
            <a:ext cx="225809" cy="187181"/>
            <a:chOff x="0" y="-38100"/>
            <a:chExt cx="602158" cy="499148"/>
          </a:xfrm>
        </p:grpSpPr>
        <p:sp>
          <p:nvSpPr>
            <p:cNvPr id="552" name="Google Shape;552;p29"/>
            <p:cNvSpPr/>
            <p:nvPr/>
          </p:nvSpPr>
          <p:spPr>
            <a:xfrm>
              <a:off x="0" y="0"/>
              <a:ext cx="602152" cy="461048"/>
            </a:xfrm>
            <a:custGeom>
              <a:rect b="b" l="l" r="r" t="t"/>
              <a:pathLst>
                <a:path extrusionOk="0" h="461048" w="602152">
                  <a:moveTo>
                    <a:pt x="0" y="0"/>
                  </a:moveTo>
                  <a:lnTo>
                    <a:pt x="602152" y="0"/>
                  </a:lnTo>
                  <a:lnTo>
                    <a:pt x="602152" y="461048"/>
                  </a:lnTo>
                  <a:lnTo>
                    <a:pt x="0" y="4610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48237" r="-48239" t="0"/>
              </a:stretch>
            </a:blipFill>
            <a:ln>
              <a:noFill/>
            </a:ln>
          </p:spPr>
        </p:sp>
        <p:sp>
          <p:nvSpPr>
            <p:cNvPr id="553" name="Google Shape;553;p29"/>
            <p:cNvSpPr txBox="1"/>
            <p:nvPr/>
          </p:nvSpPr>
          <p:spPr>
            <a:xfrm>
              <a:off x="0" y="-38100"/>
              <a:ext cx="602158" cy="499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700"/>
            </a:p>
          </p:txBody>
        </p:sp>
      </p:grpSp>
      <p:grpSp>
        <p:nvGrpSpPr>
          <p:cNvPr id="554" name="Google Shape;554;p29"/>
          <p:cNvGrpSpPr/>
          <p:nvPr/>
        </p:nvGrpSpPr>
        <p:grpSpPr>
          <a:xfrm>
            <a:off x="36190" y="3547634"/>
            <a:ext cx="1231649" cy="141462"/>
            <a:chOff x="0" y="-38100"/>
            <a:chExt cx="3284398" cy="377231"/>
          </a:xfrm>
        </p:grpSpPr>
        <p:sp>
          <p:nvSpPr>
            <p:cNvPr id="555" name="Google Shape;555;p29"/>
            <p:cNvSpPr/>
            <p:nvPr/>
          </p:nvSpPr>
          <p:spPr>
            <a:xfrm>
              <a:off x="0" y="0"/>
              <a:ext cx="3284394" cy="339131"/>
            </a:xfrm>
            <a:custGeom>
              <a:rect b="b" l="l" r="r" t="t"/>
              <a:pathLst>
                <a:path extrusionOk="0" h="339131" w="3284394">
                  <a:moveTo>
                    <a:pt x="0" y="0"/>
                  </a:moveTo>
                  <a:lnTo>
                    <a:pt x="3284394" y="0"/>
                  </a:lnTo>
                  <a:lnTo>
                    <a:pt x="3284394" y="339131"/>
                  </a:lnTo>
                  <a:lnTo>
                    <a:pt x="0" y="3391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8708" l="0" r="0" t="-138708"/>
              </a:stretch>
            </a:blipFill>
            <a:ln>
              <a:noFill/>
            </a:ln>
          </p:spPr>
        </p:sp>
        <p:sp>
          <p:nvSpPr>
            <p:cNvPr id="556" name="Google Shape;556;p29"/>
            <p:cNvSpPr txBox="1"/>
            <p:nvPr/>
          </p:nvSpPr>
          <p:spPr>
            <a:xfrm>
              <a:off x="0" y="-38100"/>
              <a:ext cx="3284398" cy="37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455A64"/>
                  </a:solidFill>
                  <a:latin typeface="Calibri"/>
                  <a:ea typeface="Calibri"/>
                  <a:cs typeface="Calibri"/>
                  <a:sym typeface="Calibri"/>
                </a:rPr>
                <a:t>Ingest</a:t>
              </a:r>
              <a:endParaRPr sz="700"/>
            </a:p>
          </p:txBody>
        </p:sp>
      </p:grpSp>
      <p:grpSp>
        <p:nvGrpSpPr>
          <p:cNvPr id="557" name="Google Shape;557;p29"/>
          <p:cNvGrpSpPr/>
          <p:nvPr/>
        </p:nvGrpSpPr>
        <p:grpSpPr>
          <a:xfrm>
            <a:off x="36190" y="3733438"/>
            <a:ext cx="1231649" cy="111747"/>
            <a:chOff x="0" y="-28575"/>
            <a:chExt cx="3284398" cy="297993"/>
          </a:xfrm>
        </p:grpSpPr>
        <p:sp>
          <p:nvSpPr>
            <p:cNvPr id="558" name="Google Shape;558;p29"/>
            <p:cNvSpPr/>
            <p:nvPr/>
          </p:nvSpPr>
          <p:spPr>
            <a:xfrm>
              <a:off x="0" y="0"/>
              <a:ext cx="3284394" cy="269413"/>
            </a:xfrm>
            <a:custGeom>
              <a:rect b="b" l="l" r="r" t="t"/>
              <a:pathLst>
                <a:path extrusionOk="0" h="269413" w="3284394">
                  <a:moveTo>
                    <a:pt x="0" y="0"/>
                  </a:moveTo>
                  <a:lnTo>
                    <a:pt x="3284394" y="0"/>
                  </a:lnTo>
                  <a:lnTo>
                    <a:pt x="3284394" y="269413"/>
                  </a:lnTo>
                  <a:lnTo>
                    <a:pt x="0" y="26941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7543" l="0" r="0" t="-187539"/>
              </a:stretch>
            </a:blipFill>
            <a:ln>
              <a:noFill/>
            </a:ln>
          </p:spPr>
        </p:sp>
        <p:sp>
          <p:nvSpPr>
            <p:cNvPr id="559" name="Google Shape;559;p29"/>
            <p:cNvSpPr txBox="1"/>
            <p:nvPr/>
          </p:nvSpPr>
          <p:spPr>
            <a:xfrm>
              <a:off x="0" y="-28575"/>
              <a:ext cx="3284398" cy="29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Pathway connectors</a:t>
              </a:r>
              <a:endParaRPr sz="700"/>
            </a:p>
          </p:txBody>
        </p:sp>
      </p:grpSp>
      <p:grpSp>
        <p:nvGrpSpPr>
          <p:cNvPr id="560" name="Google Shape;560;p29"/>
          <p:cNvGrpSpPr/>
          <p:nvPr/>
        </p:nvGrpSpPr>
        <p:grpSpPr>
          <a:xfrm>
            <a:off x="36190" y="3875170"/>
            <a:ext cx="1231649" cy="111747"/>
            <a:chOff x="0" y="-28575"/>
            <a:chExt cx="3284398" cy="297993"/>
          </a:xfrm>
        </p:grpSpPr>
        <p:sp>
          <p:nvSpPr>
            <p:cNvPr id="561" name="Google Shape;561;p29"/>
            <p:cNvSpPr/>
            <p:nvPr/>
          </p:nvSpPr>
          <p:spPr>
            <a:xfrm>
              <a:off x="0" y="0"/>
              <a:ext cx="3284394" cy="269412"/>
            </a:xfrm>
            <a:custGeom>
              <a:rect b="b" l="l" r="r" t="t"/>
              <a:pathLst>
                <a:path extrusionOk="0" h="269412" w="3284394">
                  <a:moveTo>
                    <a:pt x="0" y="0"/>
                  </a:moveTo>
                  <a:lnTo>
                    <a:pt x="3284394" y="0"/>
                  </a:lnTo>
                  <a:lnTo>
                    <a:pt x="3284394" y="269412"/>
                  </a:lnTo>
                  <a:lnTo>
                    <a:pt x="0" y="26941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7543" l="0" r="0" t="-187539"/>
              </a:stretch>
            </a:blipFill>
            <a:ln>
              <a:noFill/>
            </a:ln>
          </p:spPr>
        </p:sp>
        <p:sp>
          <p:nvSpPr>
            <p:cNvPr id="562" name="Google Shape;562;p29"/>
            <p:cNvSpPr txBox="1"/>
            <p:nvPr/>
          </p:nvSpPr>
          <p:spPr>
            <a:xfrm>
              <a:off x="0" y="-28575"/>
              <a:ext cx="3284398" cy="29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Kafka / AA streams</a:t>
              </a:r>
              <a:endParaRPr sz="700"/>
            </a:p>
          </p:txBody>
        </p:sp>
      </p:grpSp>
      <p:sp>
        <p:nvSpPr>
          <p:cNvPr id="563" name="Google Shape;563;p29"/>
          <p:cNvSpPr/>
          <p:nvPr/>
        </p:nvSpPr>
        <p:spPr>
          <a:xfrm>
            <a:off x="1392679" y="3575023"/>
            <a:ext cx="155448" cy="9525"/>
          </a:xfrm>
          <a:custGeom>
            <a:rect b="b" l="l" r="r" t="t"/>
            <a:pathLst>
              <a:path extrusionOk="0" h="25400" w="414528">
                <a:moveTo>
                  <a:pt x="0" y="0"/>
                </a:moveTo>
                <a:lnTo>
                  <a:pt x="414528" y="0"/>
                </a:lnTo>
                <a:lnTo>
                  <a:pt x="414528" y="25400"/>
                </a:lnTo>
                <a:lnTo>
                  <a:pt x="0" y="25400"/>
                </a:lnTo>
                <a:close/>
              </a:path>
            </a:pathLst>
          </a:custGeom>
          <a:solidFill>
            <a:srgbClr val="90A4AE"/>
          </a:solidFill>
          <a:ln>
            <a:noFill/>
          </a:ln>
        </p:spPr>
      </p:sp>
      <p:grpSp>
        <p:nvGrpSpPr>
          <p:cNvPr id="564" name="Google Shape;564;p29"/>
          <p:cNvGrpSpPr/>
          <p:nvPr/>
        </p:nvGrpSpPr>
        <p:grpSpPr>
          <a:xfrm>
            <a:off x="1508379" y="3535466"/>
            <a:ext cx="42957" cy="88677"/>
            <a:chOff x="0" y="0"/>
            <a:chExt cx="114554" cy="236474"/>
          </a:xfrm>
        </p:grpSpPr>
        <p:sp>
          <p:nvSpPr>
            <p:cNvPr id="565" name="Google Shape;565;p29"/>
            <p:cNvSpPr/>
            <p:nvPr/>
          </p:nvSpPr>
          <p:spPr>
            <a:xfrm>
              <a:off x="8509" y="8509"/>
              <a:ext cx="97536" cy="219456"/>
            </a:xfrm>
            <a:custGeom>
              <a:rect b="b" l="l" r="r" t="t"/>
              <a:pathLst>
                <a:path extrusionOk="0" h="219456" w="97536">
                  <a:moveTo>
                    <a:pt x="0" y="0"/>
                  </a:moveTo>
                  <a:lnTo>
                    <a:pt x="97536" y="0"/>
                  </a:lnTo>
                  <a:lnTo>
                    <a:pt x="9753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</p:sp>
        <p:sp>
          <p:nvSpPr>
            <p:cNvPr id="566" name="Google Shape;566;p29"/>
            <p:cNvSpPr/>
            <p:nvPr/>
          </p:nvSpPr>
          <p:spPr>
            <a:xfrm>
              <a:off x="0" y="0"/>
              <a:ext cx="114554" cy="236474"/>
            </a:xfrm>
            <a:custGeom>
              <a:rect b="b" l="l" r="r" t="t"/>
              <a:pathLst>
                <a:path extrusionOk="0" h="236474" w="114554">
                  <a:moveTo>
                    <a:pt x="8509" y="0"/>
                  </a:moveTo>
                  <a:lnTo>
                    <a:pt x="106045" y="0"/>
                  </a:lnTo>
                  <a:cubicBezTo>
                    <a:pt x="110744" y="0"/>
                    <a:pt x="114554" y="3810"/>
                    <a:pt x="114554" y="8509"/>
                  </a:cubicBezTo>
                  <a:lnTo>
                    <a:pt x="114554" y="227965"/>
                  </a:lnTo>
                  <a:cubicBezTo>
                    <a:pt x="114554" y="232664"/>
                    <a:pt x="110744" y="236474"/>
                    <a:pt x="106045" y="236474"/>
                  </a:cubicBezTo>
                  <a:lnTo>
                    <a:pt x="8509" y="236474"/>
                  </a:lnTo>
                  <a:cubicBezTo>
                    <a:pt x="3810" y="236474"/>
                    <a:pt x="0" y="232664"/>
                    <a:pt x="0" y="22796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27965"/>
                  </a:lnTo>
                  <a:lnTo>
                    <a:pt x="8509" y="227965"/>
                  </a:lnTo>
                  <a:lnTo>
                    <a:pt x="8509" y="219456"/>
                  </a:lnTo>
                  <a:lnTo>
                    <a:pt x="106045" y="219456"/>
                  </a:lnTo>
                  <a:lnTo>
                    <a:pt x="106045" y="227965"/>
                  </a:lnTo>
                  <a:lnTo>
                    <a:pt x="97536" y="227965"/>
                  </a:lnTo>
                  <a:lnTo>
                    <a:pt x="97536" y="8509"/>
                  </a:lnTo>
                  <a:lnTo>
                    <a:pt x="106045" y="8509"/>
                  </a:lnTo>
                  <a:lnTo>
                    <a:pt x="1060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7" name="Google Shape;567;p29"/>
          <p:cNvGrpSpPr/>
          <p:nvPr/>
        </p:nvGrpSpPr>
        <p:grpSpPr>
          <a:xfrm>
            <a:off x="1494658" y="3540033"/>
            <a:ext cx="79533" cy="79533"/>
            <a:chOff x="0" y="0"/>
            <a:chExt cx="212090" cy="212090"/>
          </a:xfrm>
        </p:grpSpPr>
        <p:sp>
          <p:nvSpPr>
            <p:cNvPr id="568" name="Google Shape;568;p29"/>
            <p:cNvSpPr/>
            <p:nvPr/>
          </p:nvSpPr>
          <p:spPr>
            <a:xfrm>
              <a:off x="8509" y="8509"/>
              <a:ext cx="195072" cy="195072"/>
            </a:xfrm>
            <a:custGeom>
              <a:rect b="b" l="l" r="r" t="t"/>
              <a:pathLst>
                <a:path extrusionOk="0"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0" y="0"/>
              <a:ext cx="212090" cy="212090"/>
            </a:xfrm>
            <a:custGeom>
              <a:rect b="b" l="l" r="r" t="t"/>
              <a:pathLst>
                <a:path extrusionOk="0" h="212090" w="212090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06045" y="8509"/>
                  </a:lnTo>
                  <a:lnTo>
                    <a:pt x="106045" y="0"/>
                  </a:lnTo>
                  <a:cubicBezTo>
                    <a:pt x="164592" y="0"/>
                    <a:pt x="212090" y="47498"/>
                    <a:pt x="212090" y="106045"/>
                  </a:cubicBezTo>
                  <a:cubicBezTo>
                    <a:pt x="212090" y="164592"/>
                    <a:pt x="164592" y="212090"/>
                    <a:pt x="106045" y="212090"/>
                  </a:cubicBezTo>
                  <a:lnTo>
                    <a:pt x="106045" y="203581"/>
                  </a:lnTo>
                  <a:lnTo>
                    <a:pt x="106045" y="212090"/>
                  </a:lnTo>
                  <a:cubicBezTo>
                    <a:pt x="47498" y="211963"/>
                    <a:pt x="0" y="164592"/>
                    <a:pt x="0" y="106045"/>
                  </a:cubicBezTo>
                  <a:lnTo>
                    <a:pt x="8509" y="106045"/>
                  </a:lnTo>
                  <a:lnTo>
                    <a:pt x="15748" y="110363"/>
                  </a:lnTo>
                  <a:cubicBezTo>
                    <a:pt x="13843" y="113665"/>
                    <a:pt x="9906" y="115189"/>
                    <a:pt x="6223" y="114173"/>
                  </a:cubicBezTo>
                  <a:cubicBezTo>
                    <a:pt x="2540" y="113157"/>
                    <a:pt x="0" y="109855"/>
                    <a:pt x="0" y="106045"/>
                  </a:cubicBezTo>
                  <a:moveTo>
                    <a:pt x="16891" y="106045"/>
                  </a:moveTo>
                  <a:lnTo>
                    <a:pt x="8509" y="106045"/>
                  </a:lnTo>
                  <a:lnTo>
                    <a:pt x="1143" y="101727"/>
                  </a:lnTo>
                  <a:cubicBezTo>
                    <a:pt x="3048" y="98425"/>
                    <a:pt x="6985" y="96901"/>
                    <a:pt x="10668" y="97917"/>
                  </a:cubicBezTo>
                  <a:cubicBezTo>
                    <a:pt x="14351" y="98933"/>
                    <a:pt x="16891" y="102235"/>
                    <a:pt x="16891" y="106045"/>
                  </a:cubicBezTo>
                  <a:cubicBezTo>
                    <a:pt x="16891" y="155194"/>
                    <a:pt x="56769" y="195072"/>
                    <a:pt x="105918" y="195072"/>
                  </a:cubicBezTo>
                  <a:cubicBezTo>
                    <a:pt x="155067" y="195072"/>
                    <a:pt x="194945" y="155194"/>
                    <a:pt x="194945" y="106045"/>
                  </a:cubicBezTo>
                  <a:lnTo>
                    <a:pt x="203454" y="106045"/>
                  </a:lnTo>
                  <a:lnTo>
                    <a:pt x="194945" y="106045"/>
                  </a:lnTo>
                  <a:cubicBezTo>
                    <a:pt x="194945" y="56896"/>
                    <a:pt x="155067" y="17018"/>
                    <a:pt x="105918" y="17018"/>
                  </a:cubicBezTo>
                  <a:lnTo>
                    <a:pt x="105918" y="8509"/>
                  </a:lnTo>
                  <a:lnTo>
                    <a:pt x="105918" y="17018"/>
                  </a:lnTo>
                  <a:cubicBezTo>
                    <a:pt x="56769" y="17018"/>
                    <a:pt x="16891" y="56896"/>
                    <a:pt x="16891" y="106045"/>
                  </a:cubicBez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0" name="Google Shape;570;p29"/>
          <p:cNvGrpSpPr/>
          <p:nvPr/>
        </p:nvGrpSpPr>
        <p:grpSpPr>
          <a:xfrm>
            <a:off x="1544317" y="2990760"/>
            <a:ext cx="1342644" cy="1178052"/>
            <a:chOff x="0" y="0"/>
            <a:chExt cx="3580384" cy="3141472"/>
          </a:xfrm>
        </p:grpSpPr>
        <p:sp>
          <p:nvSpPr>
            <p:cNvPr id="571" name="Google Shape;571;p29"/>
            <p:cNvSpPr/>
            <p:nvPr/>
          </p:nvSpPr>
          <p:spPr>
            <a:xfrm>
              <a:off x="10160" y="10160"/>
              <a:ext cx="3560064" cy="3121152"/>
            </a:xfrm>
            <a:custGeom>
              <a:rect b="b" l="l" r="r" t="t"/>
              <a:pathLst>
                <a:path extrusionOk="0" h="3121152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72" name="Google Shape;572;p29"/>
            <p:cNvSpPr/>
            <p:nvPr/>
          </p:nvSpPr>
          <p:spPr>
            <a:xfrm>
              <a:off x="0" y="0"/>
              <a:ext cx="3580384" cy="3141472"/>
            </a:xfrm>
            <a:custGeom>
              <a:rect b="b" l="l" r="r" t="t"/>
              <a:pathLst>
                <a:path extrusionOk="0" h="3141472" w="3580384">
                  <a:moveTo>
                    <a:pt x="10160" y="0"/>
                  </a:moveTo>
                  <a:lnTo>
                    <a:pt x="3570224" y="0"/>
                  </a:lnTo>
                  <a:cubicBezTo>
                    <a:pt x="3575812" y="0"/>
                    <a:pt x="3580384" y="4572"/>
                    <a:pt x="3580384" y="10160"/>
                  </a:cubicBezTo>
                  <a:lnTo>
                    <a:pt x="3580384" y="3131312"/>
                  </a:lnTo>
                  <a:cubicBezTo>
                    <a:pt x="3580384" y="3136900"/>
                    <a:pt x="3575812" y="3141472"/>
                    <a:pt x="3570224" y="3141472"/>
                  </a:cubicBezTo>
                  <a:lnTo>
                    <a:pt x="10160" y="3141472"/>
                  </a:lnTo>
                  <a:cubicBezTo>
                    <a:pt x="4572" y="3141472"/>
                    <a:pt x="0" y="3136900"/>
                    <a:pt x="0" y="3131312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3131312"/>
                  </a:lnTo>
                  <a:lnTo>
                    <a:pt x="10160" y="3131312"/>
                  </a:lnTo>
                  <a:lnTo>
                    <a:pt x="10160" y="3121152"/>
                  </a:lnTo>
                  <a:lnTo>
                    <a:pt x="3570224" y="3121152"/>
                  </a:lnTo>
                  <a:lnTo>
                    <a:pt x="3570224" y="3131312"/>
                  </a:lnTo>
                  <a:lnTo>
                    <a:pt x="3560064" y="3131312"/>
                  </a:lnTo>
                  <a:lnTo>
                    <a:pt x="3560064" y="10160"/>
                  </a:lnTo>
                  <a:lnTo>
                    <a:pt x="3570224" y="10160"/>
                  </a:lnTo>
                  <a:lnTo>
                    <a:pt x="3570224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3" name="Google Shape;573;p29"/>
          <p:cNvGrpSpPr/>
          <p:nvPr/>
        </p:nvGrpSpPr>
        <p:grpSpPr>
          <a:xfrm>
            <a:off x="1544950" y="2991398"/>
            <a:ext cx="1341405" cy="225837"/>
            <a:chOff x="0" y="0"/>
            <a:chExt cx="3577082" cy="602234"/>
          </a:xfrm>
        </p:grpSpPr>
        <p:sp>
          <p:nvSpPr>
            <p:cNvPr id="574" name="Google Shape;574;p29"/>
            <p:cNvSpPr/>
            <p:nvPr/>
          </p:nvSpPr>
          <p:spPr>
            <a:xfrm>
              <a:off x="8509" y="8509"/>
              <a:ext cx="3560064" cy="585216"/>
            </a:xfrm>
            <a:custGeom>
              <a:rect b="b" l="l" r="r" t="t"/>
              <a:pathLst>
                <a:path extrusionOk="0" h="585216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575" name="Google Shape;575;p29"/>
            <p:cNvSpPr/>
            <p:nvPr/>
          </p:nvSpPr>
          <p:spPr>
            <a:xfrm>
              <a:off x="0" y="0"/>
              <a:ext cx="3577082" cy="602234"/>
            </a:xfrm>
            <a:custGeom>
              <a:rect b="b" l="l" r="r" t="t"/>
              <a:pathLst>
                <a:path extrusionOk="0" h="602234" w="3577082">
                  <a:moveTo>
                    <a:pt x="8509" y="0"/>
                  </a:moveTo>
                  <a:lnTo>
                    <a:pt x="3568573" y="0"/>
                  </a:lnTo>
                  <a:cubicBezTo>
                    <a:pt x="3573272" y="0"/>
                    <a:pt x="3577082" y="3810"/>
                    <a:pt x="3577082" y="8509"/>
                  </a:cubicBezTo>
                  <a:lnTo>
                    <a:pt x="3577082" y="593725"/>
                  </a:lnTo>
                  <a:cubicBezTo>
                    <a:pt x="3577082" y="598424"/>
                    <a:pt x="3573272" y="602234"/>
                    <a:pt x="3568573" y="602234"/>
                  </a:cubicBezTo>
                  <a:lnTo>
                    <a:pt x="8509" y="602234"/>
                  </a:lnTo>
                  <a:cubicBezTo>
                    <a:pt x="3810" y="602234"/>
                    <a:pt x="0" y="598424"/>
                    <a:pt x="0" y="59372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93725"/>
                  </a:lnTo>
                  <a:lnTo>
                    <a:pt x="8509" y="593725"/>
                  </a:lnTo>
                  <a:lnTo>
                    <a:pt x="8509" y="585216"/>
                  </a:lnTo>
                  <a:lnTo>
                    <a:pt x="3568573" y="585216"/>
                  </a:lnTo>
                  <a:lnTo>
                    <a:pt x="3568573" y="593725"/>
                  </a:lnTo>
                  <a:lnTo>
                    <a:pt x="3560064" y="593725"/>
                  </a:lnTo>
                  <a:lnTo>
                    <a:pt x="3560064" y="8509"/>
                  </a:lnTo>
                  <a:lnTo>
                    <a:pt x="3568573" y="8509"/>
                  </a:lnTo>
                  <a:lnTo>
                    <a:pt x="35685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6" name="Google Shape;576;p29"/>
          <p:cNvGrpSpPr/>
          <p:nvPr/>
        </p:nvGrpSpPr>
        <p:grpSpPr>
          <a:xfrm>
            <a:off x="2079874" y="3238286"/>
            <a:ext cx="271510" cy="271557"/>
            <a:chOff x="0" y="0"/>
            <a:chExt cx="724027" cy="724154"/>
          </a:xfrm>
        </p:grpSpPr>
        <p:sp>
          <p:nvSpPr>
            <p:cNvPr id="577" name="Google Shape;577;p29"/>
            <p:cNvSpPr/>
            <p:nvPr/>
          </p:nvSpPr>
          <p:spPr>
            <a:xfrm>
              <a:off x="8509" y="8509"/>
              <a:ext cx="707136" cy="707136"/>
            </a:xfrm>
            <a:custGeom>
              <a:rect b="b" l="l" r="r" t="t"/>
              <a:pathLst>
                <a:path extrusionOk="0"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767" y="707136"/>
                    <a:pt x="353568" y="707136"/>
                  </a:cubicBezTo>
                  <a:cubicBezTo>
                    <a:pt x="158369" y="707136"/>
                    <a:pt x="0" y="548767"/>
                    <a:pt x="0" y="353568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0" y="0"/>
              <a:ext cx="724027" cy="724154"/>
            </a:xfrm>
            <a:custGeom>
              <a:rect b="b" l="l" r="r" t="t"/>
              <a:pathLst>
                <a:path extrusionOk="0" h="724154" w="724027">
                  <a:moveTo>
                    <a:pt x="0" y="362077"/>
                  </a:moveTo>
                  <a:cubicBezTo>
                    <a:pt x="0" y="162052"/>
                    <a:pt x="162052" y="0"/>
                    <a:pt x="362077" y="0"/>
                  </a:cubicBezTo>
                  <a:lnTo>
                    <a:pt x="362077" y="8509"/>
                  </a:lnTo>
                  <a:lnTo>
                    <a:pt x="362077" y="0"/>
                  </a:lnTo>
                  <a:cubicBezTo>
                    <a:pt x="561975" y="0"/>
                    <a:pt x="724027" y="162052"/>
                    <a:pt x="724027" y="362077"/>
                  </a:cubicBezTo>
                  <a:lnTo>
                    <a:pt x="715518" y="362077"/>
                  </a:lnTo>
                  <a:lnTo>
                    <a:pt x="724027" y="362077"/>
                  </a:lnTo>
                  <a:cubicBezTo>
                    <a:pt x="724027" y="561975"/>
                    <a:pt x="561975" y="724154"/>
                    <a:pt x="361950" y="724154"/>
                  </a:cubicBezTo>
                  <a:lnTo>
                    <a:pt x="361950" y="715645"/>
                  </a:lnTo>
                  <a:lnTo>
                    <a:pt x="361950" y="724154"/>
                  </a:lnTo>
                  <a:cubicBezTo>
                    <a:pt x="162052" y="724027"/>
                    <a:pt x="0" y="561975"/>
                    <a:pt x="0" y="362077"/>
                  </a:cubicBezTo>
                  <a:lnTo>
                    <a:pt x="8509" y="362077"/>
                  </a:lnTo>
                  <a:lnTo>
                    <a:pt x="17018" y="362077"/>
                  </a:lnTo>
                  <a:lnTo>
                    <a:pt x="8509" y="362077"/>
                  </a:lnTo>
                  <a:lnTo>
                    <a:pt x="0" y="362077"/>
                  </a:lnTo>
                  <a:moveTo>
                    <a:pt x="16891" y="362077"/>
                  </a:moveTo>
                  <a:cubicBezTo>
                    <a:pt x="16891" y="366776"/>
                    <a:pt x="13081" y="370586"/>
                    <a:pt x="8382" y="370586"/>
                  </a:cubicBezTo>
                  <a:cubicBezTo>
                    <a:pt x="3683" y="370586"/>
                    <a:pt x="0" y="366776"/>
                    <a:pt x="0" y="362077"/>
                  </a:cubicBezTo>
                  <a:cubicBezTo>
                    <a:pt x="0" y="357378"/>
                    <a:pt x="3810" y="353568"/>
                    <a:pt x="8509" y="353568"/>
                  </a:cubicBezTo>
                  <a:cubicBezTo>
                    <a:pt x="13208" y="353568"/>
                    <a:pt x="17018" y="357378"/>
                    <a:pt x="17018" y="362077"/>
                  </a:cubicBezTo>
                  <a:cubicBezTo>
                    <a:pt x="17018" y="552704"/>
                    <a:pt x="171577" y="707136"/>
                    <a:pt x="362077" y="707136"/>
                  </a:cubicBezTo>
                  <a:cubicBezTo>
                    <a:pt x="552704" y="707136"/>
                    <a:pt x="707136" y="552577"/>
                    <a:pt x="707136" y="362077"/>
                  </a:cubicBezTo>
                  <a:cubicBezTo>
                    <a:pt x="707136" y="171450"/>
                    <a:pt x="552577" y="17018"/>
                    <a:pt x="362077" y="17018"/>
                  </a:cubicBezTo>
                  <a:lnTo>
                    <a:pt x="362077" y="8509"/>
                  </a:lnTo>
                  <a:lnTo>
                    <a:pt x="362077" y="17018"/>
                  </a:lnTo>
                  <a:cubicBezTo>
                    <a:pt x="171450" y="16891"/>
                    <a:pt x="16891" y="171450"/>
                    <a:pt x="16891" y="362077"/>
                  </a:cubicBez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Google Shape;579;p29"/>
          <p:cNvGrpSpPr/>
          <p:nvPr/>
        </p:nvGrpSpPr>
        <p:grpSpPr>
          <a:xfrm>
            <a:off x="2102734" y="3273314"/>
            <a:ext cx="225809" cy="187181"/>
            <a:chOff x="0" y="-38100"/>
            <a:chExt cx="602158" cy="499148"/>
          </a:xfrm>
        </p:grpSpPr>
        <p:sp>
          <p:nvSpPr>
            <p:cNvPr id="580" name="Google Shape;580;p29"/>
            <p:cNvSpPr/>
            <p:nvPr/>
          </p:nvSpPr>
          <p:spPr>
            <a:xfrm>
              <a:off x="0" y="0"/>
              <a:ext cx="602152" cy="461048"/>
            </a:xfrm>
            <a:custGeom>
              <a:rect b="b" l="l" r="r" t="t"/>
              <a:pathLst>
                <a:path extrusionOk="0" h="461048" w="602152">
                  <a:moveTo>
                    <a:pt x="0" y="0"/>
                  </a:moveTo>
                  <a:lnTo>
                    <a:pt x="602152" y="0"/>
                  </a:lnTo>
                  <a:lnTo>
                    <a:pt x="602152" y="461048"/>
                  </a:lnTo>
                  <a:lnTo>
                    <a:pt x="0" y="4610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48237" r="-48239" t="0"/>
              </a:stretch>
            </a:blipFill>
            <a:ln>
              <a:noFill/>
            </a:ln>
          </p:spPr>
        </p:sp>
        <p:sp>
          <p:nvSpPr>
            <p:cNvPr id="581" name="Google Shape;581;p29"/>
            <p:cNvSpPr txBox="1"/>
            <p:nvPr/>
          </p:nvSpPr>
          <p:spPr>
            <a:xfrm>
              <a:off x="0" y="-38100"/>
              <a:ext cx="602158" cy="499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700"/>
            </a:p>
          </p:txBody>
        </p:sp>
      </p:grpSp>
      <p:grpSp>
        <p:nvGrpSpPr>
          <p:cNvPr id="582" name="Google Shape;582;p29"/>
          <p:cNvGrpSpPr/>
          <p:nvPr/>
        </p:nvGrpSpPr>
        <p:grpSpPr>
          <a:xfrm>
            <a:off x="1599814" y="3547634"/>
            <a:ext cx="1231649" cy="141462"/>
            <a:chOff x="0" y="-38100"/>
            <a:chExt cx="3284398" cy="377231"/>
          </a:xfrm>
        </p:grpSpPr>
        <p:sp>
          <p:nvSpPr>
            <p:cNvPr id="583" name="Google Shape;583;p29"/>
            <p:cNvSpPr/>
            <p:nvPr/>
          </p:nvSpPr>
          <p:spPr>
            <a:xfrm>
              <a:off x="0" y="0"/>
              <a:ext cx="3284394" cy="339131"/>
            </a:xfrm>
            <a:custGeom>
              <a:rect b="b" l="l" r="r" t="t"/>
              <a:pathLst>
                <a:path extrusionOk="0" h="339131" w="3284394">
                  <a:moveTo>
                    <a:pt x="0" y="0"/>
                  </a:moveTo>
                  <a:lnTo>
                    <a:pt x="3284394" y="0"/>
                  </a:lnTo>
                  <a:lnTo>
                    <a:pt x="3284394" y="339131"/>
                  </a:lnTo>
                  <a:lnTo>
                    <a:pt x="0" y="3391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8708" l="0" r="0" t="-138708"/>
              </a:stretch>
            </a:blipFill>
            <a:ln>
              <a:noFill/>
            </a:ln>
          </p:spPr>
        </p:sp>
        <p:sp>
          <p:nvSpPr>
            <p:cNvPr id="584" name="Google Shape;584;p29"/>
            <p:cNvSpPr txBox="1"/>
            <p:nvPr/>
          </p:nvSpPr>
          <p:spPr>
            <a:xfrm>
              <a:off x="0" y="-38100"/>
              <a:ext cx="3284398" cy="37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1565C0"/>
                  </a:solidFill>
                  <a:latin typeface="Calibri"/>
                  <a:ea typeface="Calibri"/>
                  <a:cs typeface="Calibri"/>
                  <a:sym typeface="Calibri"/>
                </a:rPr>
                <a:t>Build Graph</a:t>
              </a:r>
              <a:endParaRPr sz="700"/>
            </a:p>
          </p:txBody>
        </p:sp>
      </p:grpSp>
      <p:grpSp>
        <p:nvGrpSpPr>
          <p:cNvPr id="585" name="Google Shape;585;p29"/>
          <p:cNvGrpSpPr/>
          <p:nvPr/>
        </p:nvGrpSpPr>
        <p:grpSpPr>
          <a:xfrm>
            <a:off x="1599814" y="3733438"/>
            <a:ext cx="1231649" cy="111747"/>
            <a:chOff x="0" y="-28575"/>
            <a:chExt cx="3284398" cy="297993"/>
          </a:xfrm>
        </p:grpSpPr>
        <p:sp>
          <p:nvSpPr>
            <p:cNvPr id="586" name="Google Shape;586;p29"/>
            <p:cNvSpPr/>
            <p:nvPr/>
          </p:nvSpPr>
          <p:spPr>
            <a:xfrm>
              <a:off x="0" y="0"/>
              <a:ext cx="3284394" cy="269413"/>
            </a:xfrm>
            <a:custGeom>
              <a:rect b="b" l="l" r="r" t="t"/>
              <a:pathLst>
                <a:path extrusionOk="0" h="269413" w="3284394">
                  <a:moveTo>
                    <a:pt x="0" y="0"/>
                  </a:moveTo>
                  <a:lnTo>
                    <a:pt x="3284394" y="0"/>
                  </a:lnTo>
                  <a:lnTo>
                    <a:pt x="3284394" y="269413"/>
                  </a:lnTo>
                  <a:lnTo>
                    <a:pt x="0" y="26941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7543" l="0" r="0" t="-187539"/>
              </a:stretch>
            </a:blipFill>
            <a:ln>
              <a:noFill/>
            </a:ln>
          </p:spPr>
        </p:sp>
        <p:sp>
          <p:nvSpPr>
            <p:cNvPr id="587" name="Google Shape;587;p29"/>
            <p:cNvSpPr txBox="1"/>
            <p:nvPr/>
          </p:nvSpPr>
          <p:spPr>
            <a:xfrm>
              <a:off x="0" y="-28575"/>
              <a:ext cx="3284398" cy="29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PyG HeteroData</a:t>
              </a:r>
              <a:endParaRPr sz="700"/>
            </a:p>
          </p:txBody>
        </p:sp>
      </p:grpSp>
      <p:grpSp>
        <p:nvGrpSpPr>
          <p:cNvPr id="588" name="Google Shape;588;p29"/>
          <p:cNvGrpSpPr/>
          <p:nvPr/>
        </p:nvGrpSpPr>
        <p:grpSpPr>
          <a:xfrm>
            <a:off x="1599814" y="3875170"/>
            <a:ext cx="1231649" cy="111747"/>
            <a:chOff x="0" y="-28575"/>
            <a:chExt cx="3284398" cy="297993"/>
          </a:xfrm>
        </p:grpSpPr>
        <p:sp>
          <p:nvSpPr>
            <p:cNvPr id="589" name="Google Shape;589;p29"/>
            <p:cNvSpPr/>
            <p:nvPr/>
          </p:nvSpPr>
          <p:spPr>
            <a:xfrm>
              <a:off x="0" y="0"/>
              <a:ext cx="3284394" cy="269412"/>
            </a:xfrm>
            <a:custGeom>
              <a:rect b="b" l="l" r="r" t="t"/>
              <a:pathLst>
                <a:path extrusionOk="0" h="269412" w="3284394">
                  <a:moveTo>
                    <a:pt x="0" y="0"/>
                  </a:moveTo>
                  <a:lnTo>
                    <a:pt x="3284394" y="0"/>
                  </a:lnTo>
                  <a:lnTo>
                    <a:pt x="3284394" y="269412"/>
                  </a:lnTo>
                  <a:lnTo>
                    <a:pt x="0" y="26941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7543" l="0" r="0" t="-187539"/>
              </a:stretch>
            </a:blipFill>
            <a:ln>
              <a:noFill/>
            </a:ln>
          </p:spPr>
        </p:sp>
        <p:sp>
          <p:nvSpPr>
            <p:cNvPr id="590" name="Google Shape;590;p29"/>
            <p:cNvSpPr txBox="1"/>
            <p:nvPr/>
          </p:nvSpPr>
          <p:spPr>
            <a:xfrm>
              <a:off x="0" y="-28575"/>
              <a:ext cx="3284398" cy="29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Nodes + edges live</a:t>
              </a:r>
              <a:endParaRPr sz="700"/>
            </a:p>
          </p:txBody>
        </p:sp>
      </p:grpSp>
      <p:sp>
        <p:nvSpPr>
          <p:cNvPr id="591" name="Google Shape;591;p29"/>
          <p:cNvSpPr/>
          <p:nvPr/>
        </p:nvSpPr>
        <p:spPr>
          <a:xfrm>
            <a:off x="2956303" y="3575023"/>
            <a:ext cx="155448" cy="9525"/>
          </a:xfrm>
          <a:custGeom>
            <a:rect b="b" l="l" r="r" t="t"/>
            <a:pathLst>
              <a:path extrusionOk="0" h="25400" w="414528">
                <a:moveTo>
                  <a:pt x="0" y="0"/>
                </a:moveTo>
                <a:lnTo>
                  <a:pt x="414528" y="0"/>
                </a:lnTo>
                <a:lnTo>
                  <a:pt x="414528" y="25400"/>
                </a:lnTo>
                <a:lnTo>
                  <a:pt x="0" y="25400"/>
                </a:lnTo>
                <a:close/>
              </a:path>
            </a:pathLst>
          </a:custGeom>
          <a:solidFill>
            <a:srgbClr val="90A4AE"/>
          </a:solidFill>
          <a:ln>
            <a:noFill/>
          </a:ln>
        </p:spPr>
      </p:sp>
      <p:grpSp>
        <p:nvGrpSpPr>
          <p:cNvPr id="592" name="Google Shape;592;p29"/>
          <p:cNvGrpSpPr/>
          <p:nvPr/>
        </p:nvGrpSpPr>
        <p:grpSpPr>
          <a:xfrm>
            <a:off x="3072003" y="3535466"/>
            <a:ext cx="42957" cy="88677"/>
            <a:chOff x="0" y="0"/>
            <a:chExt cx="114554" cy="236474"/>
          </a:xfrm>
        </p:grpSpPr>
        <p:sp>
          <p:nvSpPr>
            <p:cNvPr id="593" name="Google Shape;593;p29"/>
            <p:cNvSpPr/>
            <p:nvPr/>
          </p:nvSpPr>
          <p:spPr>
            <a:xfrm>
              <a:off x="8509" y="8509"/>
              <a:ext cx="97536" cy="219456"/>
            </a:xfrm>
            <a:custGeom>
              <a:rect b="b" l="l" r="r" t="t"/>
              <a:pathLst>
                <a:path extrusionOk="0" h="219456" w="97536">
                  <a:moveTo>
                    <a:pt x="0" y="0"/>
                  </a:moveTo>
                  <a:lnTo>
                    <a:pt x="97536" y="0"/>
                  </a:lnTo>
                  <a:lnTo>
                    <a:pt x="9753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</p:sp>
        <p:sp>
          <p:nvSpPr>
            <p:cNvPr id="594" name="Google Shape;594;p29"/>
            <p:cNvSpPr/>
            <p:nvPr/>
          </p:nvSpPr>
          <p:spPr>
            <a:xfrm>
              <a:off x="0" y="0"/>
              <a:ext cx="114554" cy="236474"/>
            </a:xfrm>
            <a:custGeom>
              <a:rect b="b" l="l" r="r" t="t"/>
              <a:pathLst>
                <a:path extrusionOk="0" h="236474" w="114554">
                  <a:moveTo>
                    <a:pt x="8509" y="0"/>
                  </a:moveTo>
                  <a:lnTo>
                    <a:pt x="106045" y="0"/>
                  </a:lnTo>
                  <a:cubicBezTo>
                    <a:pt x="110744" y="0"/>
                    <a:pt x="114554" y="3810"/>
                    <a:pt x="114554" y="8509"/>
                  </a:cubicBezTo>
                  <a:lnTo>
                    <a:pt x="114554" y="227965"/>
                  </a:lnTo>
                  <a:cubicBezTo>
                    <a:pt x="114554" y="232664"/>
                    <a:pt x="110744" y="236474"/>
                    <a:pt x="106045" y="236474"/>
                  </a:cubicBezTo>
                  <a:lnTo>
                    <a:pt x="8509" y="236474"/>
                  </a:lnTo>
                  <a:cubicBezTo>
                    <a:pt x="3810" y="236474"/>
                    <a:pt x="0" y="232664"/>
                    <a:pt x="0" y="22796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27965"/>
                  </a:lnTo>
                  <a:lnTo>
                    <a:pt x="8509" y="227965"/>
                  </a:lnTo>
                  <a:lnTo>
                    <a:pt x="8509" y="219456"/>
                  </a:lnTo>
                  <a:lnTo>
                    <a:pt x="106045" y="219456"/>
                  </a:lnTo>
                  <a:lnTo>
                    <a:pt x="106045" y="227965"/>
                  </a:lnTo>
                  <a:lnTo>
                    <a:pt x="97536" y="227965"/>
                  </a:lnTo>
                  <a:lnTo>
                    <a:pt x="97536" y="8509"/>
                  </a:lnTo>
                  <a:lnTo>
                    <a:pt x="106045" y="8509"/>
                  </a:lnTo>
                  <a:lnTo>
                    <a:pt x="1060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5" name="Google Shape;595;p29"/>
          <p:cNvGrpSpPr/>
          <p:nvPr/>
        </p:nvGrpSpPr>
        <p:grpSpPr>
          <a:xfrm>
            <a:off x="3058287" y="3540033"/>
            <a:ext cx="79533" cy="79533"/>
            <a:chOff x="0" y="0"/>
            <a:chExt cx="212090" cy="212090"/>
          </a:xfrm>
        </p:grpSpPr>
        <p:sp>
          <p:nvSpPr>
            <p:cNvPr id="596" name="Google Shape;596;p29"/>
            <p:cNvSpPr/>
            <p:nvPr/>
          </p:nvSpPr>
          <p:spPr>
            <a:xfrm>
              <a:off x="8509" y="8509"/>
              <a:ext cx="195072" cy="195072"/>
            </a:xfrm>
            <a:custGeom>
              <a:rect b="b" l="l" r="r" t="t"/>
              <a:pathLst>
                <a:path extrusionOk="0"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9"/>
            <p:cNvSpPr/>
            <p:nvPr/>
          </p:nvSpPr>
          <p:spPr>
            <a:xfrm>
              <a:off x="0" y="0"/>
              <a:ext cx="212090" cy="212090"/>
            </a:xfrm>
            <a:custGeom>
              <a:rect b="b" l="l" r="r" t="t"/>
              <a:pathLst>
                <a:path extrusionOk="0" h="212090" w="212090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06045" y="8509"/>
                  </a:lnTo>
                  <a:lnTo>
                    <a:pt x="106045" y="0"/>
                  </a:lnTo>
                  <a:cubicBezTo>
                    <a:pt x="164592" y="0"/>
                    <a:pt x="212090" y="47498"/>
                    <a:pt x="212090" y="106045"/>
                  </a:cubicBezTo>
                  <a:cubicBezTo>
                    <a:pt x="212090" y="164592"/>
                    <a:pt x="164592" y="212090"/>
                    <a:pt x="106045" y="212090"/>
                  </a:cubicBezTo>
                  <a:lnTo>
                    <a:pt x="106045" y="203581"/>
                  </a:lnTo>
                  <a:lnTo>
                    <a:pt x="106045" y="212090"/>
                  </a:lnTo>
                  <a:cubicBezTo>
                    <a:pt x="47498" y="211963"/>
                    <a:pt x="0" y="164592"/>
                    <a:pt x="0" y="106045"/>
                  </a:cubicBezTo>
                  <a:lnTo>
                    <a:pt x="8509" y="106045"/>
                  </a:lnTo>
                  <a:lnTo>
                    <a:pt x="15748" y="110363"/>
                  </a:lnTo>
                  <a:cubicBezTo>
                    <a:pt x="13843" y="113665"/>
                    <a:pt x="9906" y="115189"/>
                    <a:pt x="6223" y="114173"/>
                  </a:cubicBezTo>
                  <a:cubicBezTo>
                    <a:pt x="2540" y="113157"/>
                    <a:pt x="0" y="109855"/>
                    <a:pt x="0" y="106045"/>
                  </a:cubicBezTo>
                  <a:moveTo>
                    <a:pt x="16891" y="106045"/>
                  </a:moveTo>
                  <a:lnTo>
                    <a:pt x="8509" y="106045"/>
                  </a:lnTo>
                  <a:lnTo>
                    <a:pt x="1143" y="101727"/>
                  </a:lnTo>
                  <a:cubicBezTo>
                    <a:pt x="3048" y="98425"/>
                    <a:pt x="6985" y="96901"/>
                    <a:pt x="10668" y="97917"/>
                  </a:cubicBezTo>
                  <a:cubicBezTo>
                    <a:pt x="14351" y="98933"/>
                    <a:pt x="16891" y="102235"/>
                    <a:pt x="16891" y="106045"/>
                  </a:cubicBezTo>
                  <a:cubicBezTo>
                    <a:pt x="16891" y="155194"/>
                    <a:pt x="56769" y="195072"/>
                    <a:pt x="105918" y="195072"/>
                  </a:cubicBezTo>
                  <a:cubicBezTo>
                    <a:pt x="155067" y="195072"/>
                    <a:pt x="194945" y="155194"/>
                    <a:pt x="194945" y="106045"/>
                  </a:cubicBezTo>
                  <a:lnTo>
                    <a:pt x="203454" y="106045"/>
                  </a:lnTo>
                  <a:lnTo>
                    <a:pt x="194945" y="106045"/>
                  </a:lnTo>
                  <a:cubicBezTo>
                    <a:pt x="194945" y="56896"/>
                    <a:pt x="155067" y="17018"/>
                    <a:pt x="105918" y="17018"/>
                  </a:cubicBezTo>
                  <a:lnTo>
                    <a:pt x="105918" y="8509"/>
                  </a:lnTo>
                  <a:lnTo>
                    <a:pt x="105918" y="17018"/>
                  </a:lnTo>
                  <a:cubicBezTo>
                    <a:pt x="56769" y="17018"/>
                    <a:pt x="16891" y="56896"/>
                    <a:pt x="16891" y="106045"/>
                  </a:cubicBez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Google Shape;598;p29"/>
          <p:cNvGrpSpPr/>
          <p:nvPr/>
        </p:nvGrpSpPr>
        <p:grpSpPr>
          <a:xfrm>
            <a:off x="3107941" y="2990760"/>
            <a:ext cx="1342644" cy="1178052"/>
            <a:chOff x="0" y="0"/>
            <a:chExt cx="3580384" cy="3141472"/>
          </a:xfrm>
        </p:grpSpPr>
        <p:sp>
          <p:nvSpPr>
            <p:cNvPr id="599" name="Google Shape;599;p29"/>
            <p:cNvSpPr/>
            <p:nvPr/>
          </p:nvSpPr>
          <p:spPr>
            <a:xfrm>
              <a:off x="10160" y="10160"/>
              <a:ext cx="3560064" cy="3121152"/>
            </a:xfrm>
            <a:custGeom>
              <a:rect b="b" l="l" r="r" t="t"/>
              <a:pathLst>
                <a:path extrusionOk="0" h="3121152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00" name="Google Shape;600;p29"/>
            <p:cNvSpPr/>
            <p:nvPr/>
          </p:nvSpPr>
          <p:spPr>
            <a:xfrm>
              <a:off x="0" y="0"/>
              <a:ext cx="3580384" cy="3141472"/>
            </a:xfrm>
            <a:custGeom>
              <a:rect b="b" l="l" r="r" t="t"/>
              <a:pathLst>
                <a:path extrusionOk="0" h="3141472" w="3580384">
                  <a:moveTo>
                    <a:pt x="10160" y="0"/>
                  </a:moveTo>
                  <a:lnTo>
                    <a:pt x="3570224" y="0"/>
                  </a:lnTo>
                  <a:cubicBezTo>
                    <a:pt x="3575812" y="0"/>
                    <a:pt x="3580384" y="4572"/>
                    <a:pt x="3580384" y="10160"/>
                  </a:cubicBezTo>
                  <a:lnTo>
                    <a:pt x="3580384" y="3131312"/>
                  </a:lnTo>
                  <a:cubicBezTo>
                    <a:pt x="3580384" y="3136900"/>
                    <a:pt x="3575812" y="3141472"/>
                    <a:pt x="3570224" y="3141472"/>
                  </a:cubicBezTo>
                  <a:lnTo>
                    <a:pt x="10160" y="3141472"/>
                  </a:lnTo>
                  <a:cubicBezTo>
                    <a:pt x="4572" y="3141472"/>
                    <a:pt x="0" y="3136900"/>
                    <a:pt x="0" y="3131312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3131312"/>
                  </a:lnTo>
                  <a:lnTo>
                    <a:pt x="10160" y="3131312"/>
                  </a:lnTo>
                  <a:lnTo>
                    <a:pt x="10160" y="3121152"/>
                  </a:lnTo>
                  <a:lnTo>
                    <a:pt x="3570224" y="3121152"/>
                  </a:lnTo>
                  <a:lnTo>
                    <a:pt x="3570224" y="3131312"/>
                  </a:lnTo>
                  <a:lnTo>
                    <a:pt x="3560064" y="3131312"/>
                  </a:lnTo>
                  <a:lnTo>
                    <a:pt x="3560064" y="10160"/>
                  </a:lnTo>
                  <a:lnTo>
                    <a:pt x="3570224" y="10160"/>
                  </a:lnTo>
                  <a:lnTo>
                    <a:pt x="3570224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1" name="Google Shape;601;p29"/>
          <p:cNvGrpSpPr/>
          <p:nvPr/>
        </p:nvGrpSpPr>
        <p:grpSpPr>
          <a:xfrm>
            <a:off x="3108574" y="2991398"/>
            <a:ext cx="1341405" cy="225837"/>
            <a:chOff x="0" y="0"/>
            <a:chExt cx="3577082" cy="602234"/>
          </a:xfrm>
        </p:grpSpPr>
        <p:sp>
          <p:nvSpPr>
            <p:cNvPr id="602" name="Google Shape;602;p29"/>
            <p:cNvSpPr/>
            <p:nvPr/>
          </p:nvSpPr>
          <p:spPr>
            <a:xfrm>
              <a:off x="8509" y="8509"/>
              <a:ext cx="3560064" cy="585216"/>
            </a:xfrm>
            <a:custGeom>
              <a:rect b="b" l="l" r="r" t="t"/>
              <a:pathLst>
                <a:path extrusionOk="0" h="585216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</p:sp>
        <p:sp>
          <p:nvSpPr>
            <p:cNvPr id="603" name="Google Shape;603;p29"/>
            <p:cNvSpPr/>
            <p:nvPr/>
          </p:nvSpPr>
          <p:spPr>
            <a:xfrm>
              <a:off x="0" y="0"/>
              <a:ext cx="3577082" cy="602234"/>
            </a:xfrm>
            <a:custGeom>
              <a:rect b="b" l="l" r="r" t="t"/>
              <a:pathLst>
                <a:path extrusionOk="0" h="602234" w="3577082">
                  <a:moveTo>
                    <a:pt x="8509" y="0"/>
                  </a:moveTo>
                  <a:lnTo>
                    <a:pt x="3568573" y="0"/>
                  </a:lnTo>
                  <a:cubicBezTo>
                    <a:pt x="3573272" y="0"/>
                    <a:pt x="3577082" y="3810"/>
                    <a:pt x="3577082" y="8509"/>
                  </a:cubicBezTo>
                  <a:lnTo>
                    <a:pt x="3577082" y="593725"/>
                  </a:lnTo>
                  <a:cubicBezTo>
                    <a:pt x="3577082" y="598424"/>
                    <a:pt x="3573272" y="602234"/>
                    <a:pt x="3568573" y="602234"/>
                  </a:cubicBezTo>
                  <a:lnTo>
                    <a:pt x="8509" y="602234"/>
                  </a:lnTo>
                  <a:cubicBezTo>
                    <a:pt x="3810" y="602234"/>
                    <a:pt x="0" y="598424"/>
                    <a:pt x="0" y="59372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93725"/>
                  </a:lnTo>
                  <a:lnTo>
                    <a:pt x="8509" y="593725"/>
                  </a:lnTo>
                  <a:lnTo>
                    <a:pt x="8509" y="585216"/>
                  </a:lnTo>
                  <a:lnTo>
                    <a:pt x="3568573" y="585216"/>
                  </a:lnTo>
                  <a:lnTo>
                    <a:pt x="3568573" y="593725"/>
                  </a:lnTo>
                  <a:lnTo>
                    <a:pt x="3560064" y="593725"/>
                  </a:lnTo>
                  <a:lnTo>
                    <a:pt x="3560064" y="8509"/>
                  </a:lnTo>
                  <a:lnTo>
                    <a:pt x="3568573" y="8509"/>
                  </a:lnTo>
                  <a:lnTo>
                    <a:pt x="35685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4" name="Google Shape;604;p29"/>
          <p:cNvGrpSpPr/>
          <p:nvPr/>
        </p:nvGrpSpPr>
        <p:grpSpPr>
          <a:xfrm>
            <a:off x="3643498" y="3238286"/>
            <a:ext cx="271510" cy="271557"/>
            <a:chOff x="0" y="0"/>
            <a:chExt cx="724027" cy="724154"/>
          </a:xfrm>
        </p:grpSpPr>
        <p:sp>
          <p:nvSpPr>
            <p:cNvPr id="605" name="Google Shape;605;p29"/>
            <p:cNvSpPr/>
            <p:nvPr/>
          </p:nvSpPr>
          <p:spPr>
            <a:xfrm>
              <a:off x="8509" y="8509"/>
              <a:ext cx="707136" cy="707136"/>
            </a:xfrm>
            <a:custGeom>
              <a:rect b="b" l="l" r="r" t="t"/>
              <a:pathLst>
                <a:path extrusionOk="0"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767" y="707136"/>
                    <a:pt x="353568" y="707136"/>
                  </a:cubicBezTo>
                  <a:cubicBezTo>
                    <a:pt x="158369" y="707136"/>
                    <a:pt x="0" y="548767"/>
                    <a:pt x="0" y="353568"/>
                  </a:cubicBez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0" y="0"/>
              <a:ext cx="724027" cy="724154"/>
            </a:xfrm>
            <a:custGeom>
              <a:rect b="b" l="l" r="r" t="t"/>
              <a:pathLst>
                <a:path extrusionOk="0" h="724154" w="724027">
                  <a:moveTo>
                    <a:pt x="0" y="362077"/>
                  </a:moveTo>
                  <a:cubicBezTo>
                    <a:pt x="0" y="162052"/>
                    <a:pt x="162052" y="0"/>
                    <a:pt x="362077" y="0"/>
                  </a:cubicBezTo>
                  <a:lnTo>
                    <a:pt x="362077" y="8509"/>
                  </a:lnTo>
                  <a:lnTo>
                    <a:pt x="362077" y="0"/>
                  </a:lnTo>
                  <a:cubicBezTo>
                    <a:pt x="561975" y="0"/>
                    <a:pt x="724027" y="162052"/>
                    <a:pt x="724027" y="362077"/>
                  </a:cubicBezTo>
                  <a:lnTo>
                    <a:pt x="715518" y="362077"/>
                  </a:lnTo>
                  <a:lnTo>
                    <a:pt x="724027" y="362077"/>
                  </a:lnTo>
                  <a:cubicBezTo>
                    <a:pt x="724027" y="561975"/>
                    <a:pt x="561975" y="724154"/>
                    <a:pt x="361950" y="724154"/>
                  </a:cubicBezTo>
                  <a:lnTo>
                    <a:pt x="361950" y="715645"/>
                  </a:lnTo>
                  <a:lnTo>
                    <a:pt x="361950" y="724154"/>
                  </a:lnTo>
                  <a:cubicBezTo>
                    <a:pt x="162052" y="724027"/>
                    <a:pt x="0" y="561975"/>
                    <a:pt x="0" y="362077"/>
                  </a:cubicBezTo>
                  <a:lnTo>
                    <a:pt x="8509" y="362077"/>
                  </a:lnTo>
                  <a:lnTo>
                    <a:pt x="17018" y="362077"/>
                  </a:lnTo>
                  <a:lnTo>
                    <a:pt x="8509" y="362077"/>
                  </a:lnTo>
                  <a:lnTo>
                    <a:pt x="0" y="362077"/>
                  </a:lnTo>
                  <a:moveTo>
                    <a:pt x="16891" y="362077"/>
                  </a:moveTo>
                  <a:cubicBezTo>
                    <a:pt x="16891" y="366776"/>
                    <a:pt x="13081" y="370586"/>
                    <a:pt x="8382" y="370586"/>
                  </a:cubicBezTo>
                  <a:cubicBezTo>
                    <a:pt x="3683" y="370586"/>
                    <a:pt x="0" y="366776"/>
                    <a:pt x="0" y="362077"/>
                  </a:cubicBezTo>
                  <a:cubicBezTo>
                    <a:pt x="0" y="357378"/>
                    <a:pt x="3810" y="353568"/>
                    <a:pt x="8509" y="353568"/>
                  </a:cubicBezTo>
                  <a:cubicBezTo>
                    <a:pt x="13208" y="353568"/>
                    <a:pt x="17018" y="357378"/>
                    <a:pt x="17018" y="362077"/>
                  </a:cubicBezTo>
                  <a:cubicBezTo>
                    <a:pt x="17018" y="552704"/>
                    <a:pt x="171577" y="707136"/>
                    <a:pt x="362077" y="707136"/>
                  </a:cubicBezTo>
                  <a:cubicBezTo>
                    <a:pt x="552704" y="707136"/>
                    <a:pt x="707136" y="552577"/>
                    <a:pt x="707136" y="362077"/>
                  </a:cubicBezTo>
                  <a:cubicBezTo>
                    <a:pt x="707136" y="171450"/>
                    <a:pt x="552577" y="17018"/>
                    <a:pt x="362077" y="17018"/>
                  </a:cubicBezTo>
                  <a:lnTo>
                    <a:pt x="362077" y="8509"/>
                  </a:lnTo>
                  <a:lnTo>
                    <a:pt x="362077" y="17018"/>
                  </a:lnTo>
                  <a:cubicBezTo>
                    <a:pt x="171450" y="16891"/>
                    <a:pt x="16891" y="171450"/>
                    <a:pt x="16891" y="362077"/>
                  </a:cubicBez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7" name="Google Shape;607;p29"/>
          <p:cNvGrpSpPr/>
          <p:nvPr/>
        </p:nvGrpSpPr>
        <p:grpSpPr>
          <a:xfrm>
            <a:off x="3666358" y="3273314"/>
            <a:ext cx="225809" cy="187181"/>
            <a:chOff x="0" y="-38100"/>
            <a:chExt cx="602158" cy="499148"/>
          </a:xfrm>
        </p:grpSpPr>
        <p:sp>
          <p:nvSpPr>
            <p:cNvPr id="608" name="Google Shape;608;p29"/>
            <p:cNvSpPr/>
            <p:nvPr/>
          </p:nvSpPr>
          <p:spPr>
            <a:xfrm>
              <a:off x="0" y="0"/>
              <a:ext cx="602152" cy="461048"/>
            </a:xfrm>
            <a:custGeom>
              <a:rect b="b" l="l" r="r" t="t"/>
              <a:pathLst>
                <a:path extrusionOk="0" h="461048" w="602152">
                  <a:moveTo>
                    <a:pt x="0" y="0"/>
                  </a:moveTo>
                  <a:lnTo>
                    <a:pt x="602152" y="0"/>
                  </a:lnTo>
                  <a:lnTo>
                    <a:pt x="602152" y="461048"/>
                  </a:lnTo>
                  <a:lnTo>
                    <a:pt x="0" y="4610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48237" r="-48239" t="0"/>
              </a:stretch>
            </a:blipFill>
            <a:ln>
              <a:noFill/>
            </a:ln>
          </p:spPr>
        </p:sp>
        <p:sp>
          <p:nvSpPr>
            <p:cNvPr id="609" name="Google Shape;609;p29"/>
            <p:cNvSpPr txBox="1"/>
            <p:nvPr/>
          </p:nvSpPr>
          <p:spPr>
            <a:xfrm>
              <a:off x="0" y="-38100"/>
              <a:ext cx="602158" cy="499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700"/>
            </a:p>
          </p:txBody>
        </p:sp>
      </p:grpSp>
      <p:grpSp>
        <p:nvGrpSpPr>
          <p:cNvPr id="610" name="Google Shape;610;p29"/>
          <p:cNvGrpSpPr/>
          <p:nvPr/>
        </p:nvGrpSpPr>
        <p:grpSpPr>
          <a:xfrm>
            <a:off x="3163438" y="3547634"/>
            <a:ext cx="1231649" cy="141462"/>
            <a:chOff x="0" y="-38100"/>
            <a:chExt cx="3284398" cy="377231"/>
          </a:xfrm>
        </p:grpSpPr>
        <p:sp>
          <p:nvSpPr>
            <p:cNvPr id="611" name="Google Shape;611;p29"/>
            <p:cNvSpPr/>
            <p:nvPr/>
          </p:nvSpPr>
          <p:spPr>
            <a:xfrm>
              <a:off x="0" y="0"/>
              <a:ext cx="3284393" cy="339131"/>
            </a:xfrm>
            <a:custGeom>
              <a:rect b="b" l="l" r="r" t="t"/>
              <a:pathLst>
                <a:path extrusionOk="0" h="339131" w="3284393">
                  <a:moveTo>
                    <a:pt x="0" y="0"/>
                  </a:moveTo>
                  <a:lnTo>
                    <a:pt x="3284393" y="0"/>
                  </a:lnTo>
                  <a:lnTo>
                    <a:pt x="3284393" y="339131"/>
                  </a:lnTo>
                  <a:lnTo>
                    <a:pt x="0" y="3391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8708" l="0" r="0" t="-138708"/>
              </a:stretch>
            </a:blipFill>
            <a:ln>
              <a:noFill/>
            </a:ln>
          </p:spPr>
        </p:sp>
        <p:sp>
          <p:nvSpPr>
            <p:cNvPr id="612" name="Google Shape;612;p29"/>
            <p:cNvSpPr txBox="1"/>
            <p:nvPr/>
          </p:nvSpPr>
          <p:spPr>
            <a:xfrm>
              <a:off x="0" y="-38100"/>
              <a:ext cx="3284398" cy="37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4527A0"/>
                  </a:solidFill>
                  <a:latin typeface="Calibri"/>
                  <a:ea typeface="Calibri"/>
                  <a:cs typeface="Calibri"/>
                  <a:sym typeface="Calibri"/>
                </a:rPr>
                <a:t>Feature Eng.</a:t>
              </a:r>
              <a:endParaRPr sz="700"/>
            </a:p>
          </p:txBody>
        </p:sp>
      </p:grpSp>
      <p:grpSp>
        <p:nvGrpSpPr>
          <p:cNvPr id="613" name="Google Shape;613;p29"/>
          <p:cNvGrpSpPr/>
          <p:nvPr/>
        </p:nvGrpSpPr>
        <p:grpSpPr>
          <a:xfrm>
            <a:off x="3163438" y="3733438"/>
            <a:ext cx="1231649" cy="111747"/>
            <a:chOff x="0" y="-28575"/>
            <a:chExt cx="3284398" cy="297993"/>
          </a:xfrm>
        </p:grpSpPr>
        <p:sp>
          <p:nvSpPr>
            <p:cNvPr id="614" name="Google Shape;614;p29"/>
            <p:cNvSpPr/>
            <p:nvPr/>
          </p:nvSpPr>
          <p:spPr>
            <a:xfrm>
              <a:off x="0" y="0"/>
              <a:ext cx="3284393" cy="269413"/>
            </a:xfrm>
            <a:custGeom>
              <a:rect b="b" l="l" r="r" t="t"/>
              <a:pathLst>
                <a:path extrusionOk="0" h="269413" w="3284393">
                  <a:moveTo>
                    <a:pt x="0" y="0"/>
                  </a:moveTo>
                  <a:lnTo>
                    <a:pt x="3284393" y="0"/>
                  </a:lnTo>
                  <a:lnTo>
                    <a:pt x="3284393" y="269413"/>
                  </a:lnTo>
                  <a:lnTo>
                    <a:pt x="0" y="26941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7543" l="0" r="0" t="-187539"/>
              </a:stretch>
            </a:blipFill>
            <a:ln>
              <a:noFill/>
            </a:ln>
          </p:spPr>
        </p:sp>
        <p:sp>
          <p:nvSpPr>
            <p:cNvPr id="615" name="Google Shape;615;p29"/>
            <p:cNvSpPr txBox="1"/>
            <p:nvPr/>
          </p:nvSpPr>
          <p:spPr>
            <a:xfrm>
              <a:off x="0" y="-28575"/>
              <a:ext cx="3284398" cy="29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Windowed aggs</a:t>
              </a:r>
              <a:endParaRPr sz="700"/>
            </a:p>
          </p:txBody>
        </p:sp>
      </p:grpSp>
      <p:grpSp>
        <p:nvGrpSpPr>
          <p:cNvPr id="616" name="Google Shape;616;p29"/>
          <p:cNvGrpSpPr/>
          <p:nvPr/>
        </p:nvGrpSpPr>
        <p:grpSpPr>
          <a:xfrm>
            <a:off x="3163438" y="3875170"/>
            <a:ext cx="1231649" cy="111747"/>
            <a:chOff x="0" y="-28575"/>
            <a:chExt cx="3284398" cy="297993"/>
          </a:xfrm>
        </p:grpSpPr>
        <p:sp>
          <p:nvSpPr>
            <p:cNvPr id="617" name="Google Shape;617;p29"/>
            <p:cNvSpPr/>
            <p:nvPr/>
          </p:nvSpPr>
          <p:spPr>
            <a:xfrm>
              <a:off x="0" y="0"/>
              <a:ext cx="3284393" cy="269412"/>
            </a:xfrm>
            <a:custGeom>
              <a:rect b="b" l="l" r="r" t="t"/>
              <a:pathLst>
                <a:path extrusionOk="0" h="269412" w="3284393">
                  <a:moveTo>
                    <a:pt x="0" y="0"/>
                  </a:moveTo>
                  <a:lnTo>
                    <a:pt x="3284393" y="0"/>
                  </a:lnTo>
                  <a:lnTo>
                    <a:pt x="3284393" y="269412"/>
                  </a:lnTo>
                  <a:lnTo>
                    <a:pt x="0" y="26941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7543" l="0" r="0" t="-187539"/>
              </a:stretch>
            </a:blipFill>
            <a:ln>
              <a:noFill/>
            </a:ln>
          </p:spPr>
        </p:sp>
        <p:sp>
          <p:nvSpPr>
            <p:cNvPr id="618" name="Google Shape;618;p29"/>
            <p:cNvSpPr txBox="1"/>
            <p:nvPr/>
          </p:nvSpPr>
          <p:spPr>
            <a:xfrm>
              <a:off x="0" y="-28575"/>
              <a:ext cx="3284398" cy="29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1h / 6h / 24h / 7d</a:t>
              </a:r>
              <a:endParaRPr sz="700"/>
            </a:p>
          </p:txBody>
        </p:sp>
      </p:grpSp>
      <p:sp>
        <p:nvSpPr>
          <p:cNvPr id="619" name="Google Shape;619;p29"/>
          <p:cNvSpPr/>
          <p:nvPr/>
        </p:nvSpPr>
        <p:spPr>
          <a:xfrm>
            <a:off x="4519927" y="3575023"/>
            <a:ext cx="155448" cy="9525"/>
          </a:xfrm>
          <a:custGeom>
            <a:rect b="b" l="l" r="r" t="t"/>
            <a:pathLst>
              <a:path extrusionOk="0" h="25400" w="414528">
                <a:moveTo>
                  <a:pt x="0" y="0"/>
                </a:moveTo>
                <a:lnTo>
                  <a:pt x="414528" y="0"/>
                </a:lnTo>
                <a:lnTo>
                  <a:pt x="414528" y="25400"/>
                </a:lnTo>
                <a:lnTo>
                  <a:pt x="0" y="25400"/>
                </a:lnTo>
                <a:close/>
              </a:path>
            </a:pathLst>
          </a:custGeom>
          <a:solidFill>
            <a:srgbClr val="90A4AE"/>
          </a:solidFill>
          <a:ln>
            <a:noFill/>
          </a:ln>
        </p:spPr>
      </p:sp>
      <p:grpSp>
        <p:nvGrpSpPr>
          <p:cNvPr id="620" name="Google Shape;620;p29"/>
          <p:cNvGrpSpPr/>
          <p:nvPr/>
        </p:nvGrpSpPr>
        <p:grpSpPr>
          <a:xfrm>
            <a:off x="4635627" y="3535466"/>
            <a:ext cx="42957" cy="88677"/>
            <a:chOff x="0" y="0"/>
            <a:chExt cx="114554" cy="236474"/>
          </a:xfrm>
        </p:grpSpPr>
        <p:sp>
          <p:nvSpPr>
            <p:cNvPr id="621" name="Google Shape;621;p29"/>
            <p:cNvSpPr/>
            <p:nvPr/>
          </p:nvSpPr>
          <p:spPr>
            <a:xfrm>
              <a:off x="8509" y="8509"/>
              <a:ext cx="97536" cy="219456"/>
            </a:xfrm>
            <a:custGeom>
              <a:rect b="b" l="l" r="r" t="t"/>
              <a:pathLst>
                <a:path extrusionOk="0" h="219456" w="97536">
                  <a:moveTo>
                    <a:pt x="0" y="0"/>
                  </a:moveTo>
                  <a:lnTo>
                    <a:pt x="97536" y="0"/>
                  </a:lnTo>
                  <a:lnTo>
                    <a:pt x="9753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</p:sp>
        <p:sp>
          <p:nvSpPr>
            <p:cNvPr id="622" name="Google Shape;622;p29"/>
            <p:cNvSpPr/>
            <p:nvPr/>
          </p:nvSpPr>
          <p:spPr>
            <a:xfrm>
              <a:off x="0" y="0"/>
              <a:ext cx="114554" cy="236474"/>
            </a:xfrm>
            <a:custGeom>
              <a:rect b="b" l="l" r="r" t="t"/>
              <a:pathLst>
                <a:path extrusionOk="0" h="236474" w="114554">
                  <a:moveTo>
                    <a:pt x="8509" y="0"/>
                  </a:moveTo>
                  <a:lnTo>
                    <a:pt x="106045" y="0"/>
                  </a:lnTo>
                  <a:cubicBezTo>
                    <a:pt x="110744" y="0"/>
                    <a:pt x="114554" y="3810"/>
                    <a:pt x="114554" y="8509"/>
                  </a:cubicBezTo>
                  <a:lnTo>
                    <a:pt x="114554" y="227965"/>
                  </a:lnTo>
                  <a:cubicBezTo>
                    <a:pt x="114554" y="232664"/>
                    <a:pt x="110744" y="236474"/>
                    <a:pt x="106045" y="236474"/>
                  </a:cubicBezTo>
                  <a:lnTo>
                    <a:pt x="8509" y="236474"/>
                  </a:lnTo>
                  <a:cubicBezTo>
                    <a:pt x="3810" y="236474"/>
                    <a:pt x="0" y="232664"/>
                    <a:pt x="0" y="22796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27965"/>
                  </a:lnTo>
                  <a:lnTo>
                    <a:pt x="8509" y="227965"/>
                  </a:lnTo>
                  <a:lnTo>
                    <a:pt x="8509" y="219456"/>
                  </a:lnTo>
                  <a:lnTo>
                    <a:pt x="106045" y="219456"/>
                  </a:lnTo>
                  <a:lnTo>
                    <a:pt x="106045" y="227965"/>
                  </a:lnTo>
                  <a:lnTo>
                    <a:pt x="97536" y="227965"/>
                  </a:lnTo>
                  <a:lnTo>
                    <a:pt x="97536" y="8509"/>
                  </a:lnTo>
                  <a:lnTo>
                    <a:pt x="106045" y="8509"/>
                  </a:lnTo>
                  <a:lnTo>
                    <a:pt x="1060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3" name="Google Shape;623;p29"/>
          <p:cNvGrpSpPr/>
          <p:nvPr/>
        </p:nvGrpSpPr>
        <p:grpSpPr>
          <a:xfrm>
            <a:off x="4621906" y="3540033"/>
            <a:ext cx="79533" cy="79533"/>
            <a:chOff x="0" y="0"/>
            <a:chExt cx="212090" cy="212090"/>
          </a:xfrm>
        </p:grpSpPr>
        <p:sp>
          <p:nvSpPr>
            <p:cNvPr id="624" name="Google Shape;624;p29"/>
            <p:cNvSpPr/>
            <p:nvPr/>
          </p:nvSpPr>
          <p:spPr>
            <a:xfrm>
              <a:off x="8509" y="8509"/>
              <a:ext cx="195072" cy="195072"/>
            </a:xfrm>
            <a:custGeom>
              <a:rect b="b" l="l" r="r" t="t"/>
              <a:pathLst>
                <a:path extrusionOk="0"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9"/>
            <p:cNvSpPr/>
            <p:nvPr/>
          </p:nvSpPr>
          <p:spPr>
            <a:xfrm>
              <a:off x="0" y="0"/>
              <a:ext cx="212090" cy="212090"/>
            </a:xfrm>
            <a:custGeom>
              <a:rect b="b" l="l" r="r" t="t"/>
              <a:pathLst>
                <a:path extrusionOk="0" h="212090" w="212090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06045" y="8509"/>
                  </a:lnTo>
                  <a:lnTo>
                    <a:pt x="106045" y="0"/>
                  </a:lnTo>
                  <a:cubicBezTo>
                    <a:pt x="164592" y="0"/>
                    <a:pt x="212090" y="47498"/>
                    <a:pt x="212090" y="106045"/>
                  </a:cubicBezTo>
                  <a:cubicBezTo>
                    <a:pt x="212090" y="164592"/>
                    <a:pt x="164592" y="212090"/>
                    <a:pt x="106045" y="212090"/>
                  </a:cubicBezTo>
                  <a:lnTo>
                    <a:pt x="106045" y="203581"/>
                  </a:lnTo>
                  <a:lnTo>
                    <a:pt x="106045" y="212090"/>
                  </a:lnTo>
                  <a:cubicBezTo>
                    <a:pt x="47498" y="211963"/>
                    <a:pt x="0" y="164592"/>
                    <a:pt x="0" y="106045"/>
                  </a:cubicBezTo>
                  <a:lnTo>
                    <a:pt x="8509" y="106045"/>
                  </a:lnTo>
                  <a:lnTo>
                    <a:pt x="15748" y="110363"/>
                  </a:lnTo>
                  <a:cubicBezTo>
                    <a:pt x="13843" y="113665"/>
                    <a:pt x="9906" y="115189"/>
                    <a:pt x="6223" y="114173"/>
                  </a:cubicBezTo>
                  <a:cubicBezTo>
                    <a:pt x="2540" y="113157"/>
                    <a:pt x="0" y="109855"/>
                    <a:pt x="0" y="106045"/>
                  </a:cubicBezTo>
                  <a:moveTo>
                    <a:pt x="16891" y="106045"/>
                  </a:moveTo>
                  <a:lnTo>
                    <a:pt x="8509" y="106045"/>
                  </a:lnTo>
                  <a:lnTo>
                    <a:pt x="1143" y="101727"/>
                  </a:lnTo>
                  <a:cubicBezTo>
                    <a:pt x="3048" y="98425"/>
                    <a:pt x="6985" y="96901"/>
                    <a:pt x="10668" y="97917"/>
                  </a:cubicBezTo>
                  <a:cubicBezTo>
                    <a:pt x="14351" y="98933"/>
                    <a:pt x="16891" y="102235"/>
                    <a:pt x="16891" y="106045"/>
                  </a:cubicBezTo>
                  <a:cubicBezTo>
                    <a:pt x="16891" y="155194"/>
                    <a:pt x="56769" y="195072"/>
                    <a:pt x="105918" y="195072"/>
                  </a:cubicBezTo>
                  <a:cubicBezTo>
                    <a:pt x="155067" y="195072"/>
                    <a:pt x="194945" y="155194"/>
                    <a:pt x="194945" y="106045"/>
                  </a:cubicBezTo>
                  <a:lnTo>
                    <a:pt x="203454" y="106045"/>
                  </a:lnTo>
                  <a:lnTo>
                    <a:pt x="194945" y="106045"/>
                  </a:lnTo>
                  <a:cubicBezTo>
                    <a:pt x="194945" y="56896"/>
                    <a:pt x="155067" y="17018"/>
                    <a:pt x="105918" y="17018"/>
                  </a:cubicBezTo>
                  <a:lnTo>
                    <a:pt x="105918" y="8509"/>
                  </a:lnTo>
                  <a:lnTo>
                    <a:pt x="105918" y="17018"/>
                  </a:lnTo>
                  <a:cubicBezTo>
                    <a:pt x="56769" y="17018"/>
                    <a:pt x="16891" y="56896"/>
                    <a:pt x="16891" y="106045"/>
                  </a:cubicBez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6" name="Google Shape;626;p29"/>
          <p:cNvGrpSpPr/>
          <p:nvPr/>
        </p:nvGrpSpPr>
        <p:grpSpPr>
          <a:xfrm>
            <a:off x="4671565" y="2990760"/>
            <a:ext cx="1342644" cy="1178052"/>
            <a:chOff x="0" y="0"/>
            <a:chExt cx="3580384" cy="3141472"/>
          </a:xfrm>
        </p:grpSpPr>
        <p:sp>
          <p:nvSpPr>
            <p:cNvPr id="627" name="Google Shape;627;p29"/>
            <p:cNvSpPr/>
            <p:nvPr/>
          </p:nvSpPr>
          <p:spPr>
            <a:xfrm>
              <a:off x="10160" y="10160"/>
              <a:ext cx="3560064" cy="3121152"/>
            </a:xfrm>
            <a:custGeom>
              <a:rect b="b" l="l" r="r" t="t"/>
              <a:pathLst>
                <a:path extrusionOk="0" h="3121152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28" name="Google Shape;628;p29"/>
            <p:cNvSpPr/>
            <p:nvPr/>
          </p:nvSpPr>
          <p:spPr>
            <a:xfrm>
              <a:off x="0" y="0"/>
              <a:ext cx="3580384" cy="3141472"/>
            </a:xfrm>
            <a:custGeom>
              <a:rect b="b" l="l" r="r" t="t"/>
              <a:pathLst>
                <a:path extrusionOk="0" h="3141472" w="3580384">
                  <a:moveTo>
                    <a:pt x="10160" y="0"/>
                  </a:moveTo>
                  <a:lnTo>
                    <a:pt x="3570224" y="0"/>
                  </a:lnTo>
                  <a:cubicBezTo>
                    <a:pt x="3575812" y="0"/>
                    <a:pt x="3580384" y="4572"/>
                    <a:pt x="3580384" y="10160"/>
                  </a:cubicBezTo>
                  <a:lnTo>
                    <a:pt x="3580384" y="3131312"/>
                  </a:lnTo>
                  <a:cubicBezTo>
                    <a:pt x="3580384" y="3136900"/>
                    <a:pt x="3575812" y="3141472"/>
                    <a:pt x="3570224" y="3141472"/>
                  </a:cubicBezTo>
                  <a:lnTo>
                    <a:pt x="10160" y="3141472"/>
                  </a:lnTo>
                  <a:cubicBezTo>
                    <a:pt x="4572" y="3141472"/>
                    <a:pt x="0" y="3136900"/>
                    <a:pt x="0" y="3131312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3131312"/>
                  </a:lnTo>
                  <a:lnTo>
                    <a:pt x="10160" y="3131312"/>
                  </a:lnTo>
                  <a:lnTo>
                    <a:pt x="10160" y="3121152"/>
                  </a:lnTo>
                  <a:lnTo>
                    <a:pt x="3570224" y="3121152"/>
                  </a:lnTo>
                  <a:lnTo>
                    <a:pt x="3570224" y="3131312"/>
                  </a:lnTo>
                  <a:lnTo>
                    <a:pt x="3560064" y="3131312"/>
                  </a:lnTo>
                  <a:lnTo>
                    <a:pt x="3560064" y="10160"/>
                  </a:lnTo>
                  <a:lnTo>
                    <a:pt x="3570224" y="10160"/>
                  </a:lnTo>
                  <a:lnTo>
                    <a:pt x="3570224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BF36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29"/>
          <p:cNvGrpSpPr/>
          <p:nvPr/>
        </p:nvGrpSpPr>
        <p:grpSpPr>
          <a:xfrm>
            <a:off x="4672198" y="2991398"/>
            <a:ext cx="1341405" cy="225837"/>
            <a:chOff x="0" y="0"/>
            <a:chExt cx="3577082" cy="602234"/>
          </a:xfrm>
        </p:grpSpPr>
        <p:sp>
          <p:nvSpPr>
            <p:cNvPr id="630" name="Google Shape;630;p29"/>
            <p:cNvSpPr/>
            <p:nvPr/>
          </p:nvSpPr>
          <p:spPr>
            <a:xfrm>
              <a:off x="8509" y="8509"/>
              <a:ext cx="3560064" cy="585216"/>
            </a:xfrm>
            <a:custGeom>
              <a:rect b="b" l="l" r="r" t="t"/>
              <a:pathLst>
                <a:path extrusionOk="0" h="585216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BF360C"/>
            </a:solidFill>
            <a:ln>
              <a:noFill/>
            </a:ln>
          </p:spPr>
        </p:sp>
        <p:sp>
          <p:nvSpPr>
            <p:cNvPr id="631" name="Google Shape;631;p29"/>
            <p:cNvSpPr/>
            <p:nvPr/>
          </p:nvSpPr>
          <p:spPr>
            <a:xfrm>
              <a:off x="0" y="0"/>
              <a:ext cx="3577082" cy="602234"/>
            </a:xfrm>
            <a:custGeom>
              <a:rect b="b" l="l" r="r" t="t"/>
              <a:pathLst>
                <a:path extrusionOk="0" h="602234" w="3577082">
                  <a:moveTo>
                    <a:pt x="8509" y="0"/>
                  </a:moveTo>
                  <a:lnTo>
                    <a:pt x="3568573" y="0"/>
                  </a:lnTo>
                  <a:cubicBezTo>
                    <a:pt x="3573272" y="0"/>
                    <a:pt x="3577082" y="3810"/>
                    <a:pt x="3577082" y="8509"/>
                  </a:cubicBezTo>
                  <a:lnTo>
                    <a:pt x="3577082" y="593725"/>
                  </a:lnTo>
                  <a:cubicBezTo>
                    <a:pt x="3577082" y="598424"/>
                    <a:pt x="3573272" y="602234"/>
                    <a:pt x="3568573" y="602234"/>
                  </a:cubicBezTo>
                  <a:lnTo>
                    <a:pt x="8509" y="602234"/>
                  </a:lnTo>
                  <a:cubicBezTo>
                    <a:pt x="3810" y="602234"/>
                    <a:pt x="0" y="598424"/>
                    <a:pt x="0" y="59372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93725"/>
                  </a:lnTo>
                  <a:lnTo>
                    <a:pt x="8509" y="593725"/>
                  </a:lnTo>
                  <a:lnTo>
                    <a:pt x="8509" y="585216"/>
                  </a:lnTo>
                  <a:lnTo>
                    <a:pt x="3568573" y="585216"/>
                  </a:lnTo>
                  <a:lnTo>
                    <a:pt x="3568573" y="593725"/>
                  </a:lnTo>
                  <a:lnTo>
                    <a:pt x="3560064" y="593725"/>
                  </a:lnTo>
                  <a:lnTo>
                    <a:pt x="3560064" y="8509"/>
                  </a:lnTo>
                  <a:lnTo>
                    <a:pt x="3568573" y="8509"/>
                  </a:lnTo>
                  <a:lnTo>
                    <a:pt x="35685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BF36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2" name="Google Shape;632;p29"/>
          <p:cNvGrpSpPr/>
          <p:nvPr/>
        </p:nvGrpSpPr>
        <p:grpSpPr>
          <a:xfrm>
            <a:off x="5207127" y="3238286"/>
            <a:ext cx="271510" cy="271557"/>
            <a:chOff x="0" y="0"/>
            <a:chExt cx="724027" cy="724154"/>
          </a:xfrm>
        </p:grpSpPr>
        <p:sp>
          <p:nvSpPr>
            <p:cNvPr id="633" name="Google Shape;633;p29"/>
            <p:cNvSpPr/>
            <p:nvPr/>
          </p:nvSpPr>
          <p:spPr>
            <a:xfrm>
              <a:off x="8509" y="8509"/>
              <a:ext cx="707136" cy="707136"/>
            </a:xfrm>
            <a:custGeom>
              <a:rect b="b" l="l" r="r" t="t"/>
              <a:pathLst>
                <a:path extrusionOk="0"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767" y="707136"/>
                    <a:pt x="353568" y="707136"/>
                  </a:cubicBezTo>
                  <a:cubicBezTo>
                    <a:pt x="158369" y="707136"/>
                    <a:pt x="0" y="548767"/>
                    <a:pt x="0" y="353568"/>
                  </a:cubicBezTo>
                  <a:close/>
                </a:path>
              </a:pathLst>
            </a:custGeom>
            <a:solidFill>
              <a:srgbClr val="BF36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9"/>
            <p:cNvSpPr/>
            <p:nvPr/>
          </p:nvSpPr>
          <p:spPr>
            <a:xfrm>
              <a:off x="0" y="0"/>
              <a:ext cx="724027" cy="724154"/>
            </a:xfrm>
            <a:custGeom>
              <a:rect b="b" l="l" r="r" t="t"/>
              <a:pathLst>
                <a:path extrusionOk="0" h="724154" w="724027">
                  <a:moveTo>
                    <a:pt x="0" y="362077"/>
                  </a:moveTo>
                  <a:cubicBezTo>
                    <a:pt x="0" y="162052"/>
                    <a:pt x="162052" y="0"/>
                    <a:pt x="362077" y="0"/>
                  </a:cubicBezTo>
                  <a:lnTo>
                    <a:pt x="362077" y="8509"/>
                  </a:lnTo>
                  <a:lnTo>
                    <a:pt x="362077" y="0"/>
                  </a:lnTo>
                  <a:cubicBezTo>
                    <a:pt x="561975" y="0"/>
                    <a:pt x="724027" y="162052"/>
                    <a:pt x="724027" y="362077"/>
                  </a:cubicBezTo>
                  <a:lnTo>
                    <a:pt x="715518" y="362077"/>
                  </a:lnTo>
                  <a:lnTo>
                    <a:pt x="724027" y="362077"/>
                  </a:lnTo>
                  <a:cubicBezTo>
                    <a:pt x="724027" y="561975"/>
                    <a:pt x="561975" y="724154"/>
                    <a:pt x="361950" y="724154"/>
                  </a:cubicBezTo>
                  <a:lnTo>
                    <a:pt x="361950" y="715645"/>
                  </a:lnTo>
                  <a:lnTo>
                    <a:pt x="361950" y="724154"/>
                  </a:lnTo>
                  <a:cubicBezTo>
                    <a:pt x="162052" y="724027"/>
                    <a:pt x="0" y="561975"/>
                    <a:pt x="0" y="362077"/>
                  </a:cubicBezTo>
                  <a:lnTo>
                    <a:pt x="8509" y="362077"/>
                  </a:lnTo>
                  <a:lnTo>
                    <a:pt x="17018" y="362077"/>
                  </a:lnTo>
                  <a:lnTo>
                    <a:pt x="8509" y="362077"/>
                  </a:lnTo>
                  <a:lnTo>
                    <a:pt x="0" y="362077"/>
                  </a:lnTo>
                  <a:moveTo>
                    <a:pt x="16891" y="362077"/>
                  </a:moveTo>
                  <a:cubicBezTo>
                    <a:pt x="16891" y="366776"/>
                    <a:pt x="13081" y="370586"/>
                    <a:pt x="8382" y="370586"/>
                  </a:cubicBezTo>
                  <a:cubicBezTo>
                    <a:pt x="3683" y="370586"/>
                    <a:pt x="0" y="366776"/>
                    <a:pt x="0" y="362077"/>
                  </a:cubicBezTo>
                  <a:cubicBezTo>
                    <a:pt x="0" y="357378"/>
                    <a:pt x="3810" y="353568"/>
                    <a:pt x="8509" y="353568"/>
                  </a:cubicBezTo>
                  <a:cubicBezTo>
                    <a:pt x="13208" y="353568"/>
                    <a:pt x="17018" y="357378"/>
                    <a:pt x="17018" y="362077"/>
                  </a:cubicBezTo>
                  <a:cubicBezTo>
                    <a:pt x="17018" y="552704"/>
                    <a:pt x="171577" y="707136"/>
                    <a:pt x="362077" y="707136"/>
                  </a:cubicBezTo>
                  <a:cubicBezTo>
                    <a:pt x="552704" y="707136"/>
                    <a:pt x="707136" y="552577"/>
                    <a:pt x="707136" y="362077"/>
                  </a:cubicBezTo>
                  <a:cubicBezTo>
                    <a:pt x="707136" y="171450"/>
                    <a:pt x="552577" y="17018"/>
                    <a:pt x="362077" y="17018"/>
                  </a:cubicBezTo>
                  <a:lnTo>
                    <a:pt x="362077" y="8509"/>
                  </a:lnTo>
                  <a:lnTo>
                    <a:pt x="362077" y="17018"/>
                  </a:lnTo>
                  <a:cubicBezTo>
                    <a:pt x="171450" y="16891"/>
                    <a:pt x="16891" y="171450"/>
                    <a:pt x="16891" y="362077"/>
                  </a:cubicBezTo>
                  <a:close/>
                </a:path>
              </a:pathLst>
            </a:custGeom>
            <a:solidFill>
              <a:srgbClr val="BF36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5" name="Google Shape;635;p29"/>
          <p:cNvGrpSpPr/>
          <p:nvPr/>
        </p:nvGrpSpPr>
        <p:grpSpPr>
          <a:xfrm>
            <a:off x="5229987" y="3273314"/>
            <a:ext cx="225809" cy="187181"/>
            <a:chOff x="0" y="-38100"/>
            <a:chExt cx="602158" cy="499148"/>
          </a:xfrm>
        </p:grpSpPr>
        <p:sp>
          <p:nvSpPr>
            <p:cNvPr id="636" name="Google Shape;636;p29"/>
            <p:cNvSpPr/>
            <p:nvPr/>
          </p:nvSpPr>
          <p:spPr>
            <a:xfrm>
              <a:off x="0" y="0"/>
              <a:ext cx="602152" cy="461048"/>
            </a:xfrm>
            <a:custGeom>
              <a:rect b="b" l="l" r="r" t="t"/>
              <a:pathLst>
                <a:path extrusionOk="0" h="461048" w="602152">
                  <a:moveTo>
                    <a:pt x="0" y="0"/>
                  </a:moveTo>
                  <a:lnTo>
                    <a:pt x="602152" y="0"/>
                  </a:lnTo>
                  <a:lnTo>
                    <a:pt x="602152" y="461048"/>
                  </a:lnTo>
                  <a:lnTo>
                    <a:pt x="0" y="4610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48237" r="-48239" t="0"/>
              </a:stretch>
            </a:blipFill>
            <a:ln>
              <a:noFill/>
            </a:ln>
          </p:spPr>
        </p:sp>
        <p:sp>
          <p:nvSpPr>
            <p:cNvPr id="637" name="Google Shape;637;p29"/>
            <p:cNvSpPr txBox="1"/>
            <p:nvPr/>
          </p:nvSpPr>
          <p:spPr>
            <a:xfrm>
              <a:off x="0" y="-38100"/>
              <a:ext cx="602158" cy="499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700"/>
            </a:p>
          </p:txBody>
        </p:sp>
      </p:grpSp>
      <p:grpSp>
        <p:nvGrpSpPr>
          <p:cNvPr id="638" name="Google Shape;638;p29"/>
          <p:cNvGrpSpPr/>
          <p:nvPr/>
        </p:nvGrpSpPr>
        <p:grpSpPr>
          <a:xfrm>
            <a:off x="4727062" y="3547634"/>
            <a:ext cx="1231649" cy="141462"/>
            <a:chOff x="0" y="-38100"/>
            <a:chExt cx="3284398" cy="377231"/>
          </a:xfrm>
        </p:grpSpPr>
        <p:sp>
          <p:nvSpPr>
            <p:cNvPr id="639" name="Google Shape;639;p29"/>
            <p:cNvSpPr/>
            <p:nvPr/>
          </p:nvSpPr>
          <p:spPr>
            <a:xfrm>
              <a:off x="0" y="0"/>
              <a:ext cx="3284392" cy="339131"/>
            </a:xfrm>
            <a:custGeom>
              <a:rect b="b" l="l" r="r" t="t"/>
              <a:pathLst>
                <a:path extrusionOk="0" h="339131" w="3284392">
                  <a:moveTo>
                    <a:pt x="0" y="0"/>
                  </a:moveTo>
                  <a:lnTo>
                    <a:pt x="3284392" y="0"/>
                  </a:lnTo>
                  <a:lnTo>
                    <a:pt x="3284392" y="339131"/>
                  </a:lnTo>
                  <a:lnTo>
                    <a:pt x="0" y="3391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8708" l="0" r="0" t="-138708"/>
              </a:stretch>
            </a:blipFill>
            <a:ln>
              <a:noFill/>
            </a:ln>
          </p:spPr>
        </p:sp>
        <p:sp>
          <p:nvSpPr>
            <p:cNvPr id="640" name="Google Shape;640;p29"/>
            <p:cNvSpPr txBox="1"/>
            <p:nvPr/>
          </p:nvSpPr>
          <p:spPr>
            <a:xfrm>
              <a:off x="0" y="-38100"/>
              <a:ext cx="3284398" cy="37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BF360C"/>
                  </a:solidFill>
                  <a:latin typeface="Calibri"/>
                  <a:ea typeface="Calibri"/>
                  <a:cs typeface="Calibri"/>
                  <a:sym typeface="Calibri"/>
                </a:rPr>
                <a:t>Detect</a:t>
              </a:r>
              <a:endParaRPr sz="700"/>
            </a:p>
          </p:txBody>
        </p:sp>
      </p:grpSp>
      <p:grpSp>
        <p:nvGrpSpPr>
          <p:cNvPr id="641" name="Google Shape;641;p29"/>
          <p:cNvGrpSpPr/>
          <p:nvPr/>
        </p:nvGrpSpPr>
        <p:grpSpPr>
          <a:xfrm>
            <a:off x="4727062" y="3733438"/>
            <a:ext cx="1231649" cy="111747"/>
            <a:chOff x="0" y="-28575"/>
            <a:chExt cx="3284398" cy="297993"/>
          </a:xfrm>
        </p:grpSpPr>
        <p:sp>
          <p:nvSpPr>
            <p:cNvPr id="642" name="Google Shape;642;p29"/>
            <p:cNvSpPr/>
            <p:nvPr/>
          </p:nvSpPr>
          <p:spPr>
            <a:xfrm>
              <a:off x="0" y="0"/>
              <a:ext cx="3284392" cy="269413"/>
            </a:xfrm>
            <a:custGeom>
              <a:rect b="b" l="l" r="r" t="t"/>
              <a:pathLst>
                <a:path extrusionOk="0" h="269413" w="3284392">
                  <a:moveTo>
                    <a:pt x="0" y="0"/>
                  </a:moveTo>
                  <a:lnTo>
                    <a:pt x="3284392" y="0"/>
                  </a:lnTo>
                  <a:lnTo>
                    <a:pt x="3284392" y="269413"/>
                  </a:lnTo>
                  <a:lnTo>
                    <a:pt x="0" y="26941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7543" l="0" r="0" t="-187539"/>
              </a:stretch>
            </a:blipFill>
            <a:ln>
              <a:noFill/>
            </a:ln>
          </p:spPr>
        </p:sp>
        <p:sp>
          <p:nvSpPr>
            <p:cNvPr id="643" name="Google Shape;643;p29"/>
            <p:cNvSpPr txBox="1"/>
            <p:nvPr/>
          </p:nvSpPr>
          <p:spPr>
            <a:xfrm>
              <a:off x="0" y="-28575"/>
              <a:ext cx="3284398" cy="29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5 pattern detectors</a:t>
              </a:r>
              <a:endParaRPr sz="700"/>
            </a:p>
          </p:txBody>
        </p:sp>
      </p:grpSp>
      <p:grpSp>
        <p:nvGrpSpPr>
          <p:cNvPr id="644" name="Google Shape;644;p29"/>
          <p:cNvGrpSpPr/>
          <p:nvPr/>
        </p:nvGrpSpPr>
        <p:grpSpPr>
          <a:xfrm>
            <a:off x="4727062" y="3875170"/>
            <a:ext cx="1231649" cy="111747"/>
            <a:chOff x="0" y="-28575"/>
            <a:chExt cx="3284398" cy="297993"/>
          </a:xfrm>
        </p:grpSpPr>
        <p:sp>
          <p:nvSpPr>
            <p:cNvPr id="645" name="Google Shape;645;p29"/>
            <p:cNvSpPr/>
            <p:nvPr/>
          </p:nvSpPr>
          <p:spPr>
            <a:xfrm>
              <a:off x="0" y="0"/>
              <a:ext cx="3284392" cy="269412"/>
            </a:xfrm>
            <a:custGeom>
              <a:rect b="b" l="l" r="r" t="t"/>
              <a:pathLst>
                <a:path extrusionOk="0" h="269412" w="3284392">
                  <a:moveTo>
                    <a:pt x="0" y="0"/>
                  </a:moveTo>
                  <a:lnTo>
                    <a:pt x="3284392" y="0"/>
                  </a:lnTo>
                  <a:lnTo>
                    <a:pt x="3284392" y="269412"/>
                  </a:lnTo>
                  <a:lnTo>
                    <a:pt x="0" y="26941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7543" l="0" r="0" t="-187539"/>
              </a:stretch>
            </a:blipFill>
            <a:ln>
              <a:noFill/>
            </a:ln>
          </p:spPr>
        </p:sp>
        <p:sp>
          <p:nvSpPr>
            <p:cNvPr id="646" name="Google Shape;646;p29"/>
            <p:cNvSpPr txBox="1"/>
            <p:nvPr/>
          </p:nvSpPr>
          <p:spPr>
            <a:xfrm>
              <a:off x="0" y="-28575"/>
              <a:ext cx="3284398" cy="29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FraudGT + BDH</a:t>
              </a:r>
              <a:endParaRPr sz="700"/>
            </a:p>
          </p:txBody>
        </p:sp>
      </p:grpSp>
      <p:sp>
        <p:nvSpPr>
          <p:cNvPr id="647" name="Google Shape;647;p29"/>
          <p:cNvSpPr/>
          <p:nvPr/>
        </p:nvSpPr>
        <p:spPr>
          <a:xfrm>
            <a:off x="6083551" y="3575023"/>
            <a:ext cx="155448" cy="9525"/>
          </a:xfrm>
          <a:custGeom>
            <a:rect b="b" l="l" r="r" t="t"/>
            <a:pathLst>
              <a:path extrusionOk="0" h="25400" w="414528">
                <a:moveTo>
                  <a:pt x="0" y="0"/>
                </a:moveTo>
                <a:lnTo>
                  <a:pt x="414528" y="0"/>
                </a:lnTo>
                <a:lnTo>
                  <a:pt x="414528" y="25400"/>
                </a:lnTo>
                <a:lnTo>
                  <a:pt x="0" y="25400"/>
                </a:lnTo>
                <a:close/>
              </a:path>
            </a:pathLst>
          </a:custGeom>
          <a:solidFill>
            <a:srgbClr val="90A4AE"/>
          </a:solidFill>
          <a:ln>
            <a:noFill/>
          </a:ln>
        </p:spPr>
      </p:sp>
      <p:grpSp>
        <p:nvGrpSpPr>
          <p:cNvPr id="648" name="Google Shape;648;p29"/>
          <p:cNvGrpSpPr/>
          <p:nvPr/>
        </p:nvGrpSpPr>
        <p:grpSpPr>
          <a:xfrm>
            <a:off x="6199251" y="3535466"/>
            <a:ext cx="42957" cy="88677"/>
            <a:chOff x="0" y="0"/>
            <a:chExt cx="114554" cy="236474"/>
          </a:xfrm>
        </p:grpSpPr>
        <p:sp>
          <p:nvSpPr>
            <p:cNvPr id="649" name="Google Shape;649;p29"/>
            <p:cNvSpPr/>
            <p:nvPr/>
          </p:nvSpPr>
          <p:spPr>
            <a:xfrm>
              <a:off x="8509" y="8509"/>
              <a:ext cx="97536" cy="219456"/>
            </a:xfrm>
            <a:custGeom>
              <a:rect b="b" l="l" r="r" t="t"/>
              <a:pathLst>
                <a:path extrusionOk="0" h="219456" w="97536">
                  <a:moveTo>
                    <a:pt x="0" y="0"/>
                  </a:moveTo>
                  <a:lnTo>
                    <a:pt x="97536" y="0"/>
                  </a:lnTo>
                  <a:lnTo>
                    <a:pt x="9753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</p:sp>
        <p:sp>
          <p:nvSpPr>
            <p:cNvPr id="650" name="Google Shape;650;p29"/>
            <p:cNvSpPr/>
            <p:nvPr/>
          </p:nvSpPr>
          <p:spPr>
            <a:xfrm>
              <a:off x="0" y="0"/>
              <a:ext cx="114554" cy="236474"/>
            </a:xfrm>
            <a:custGeom>
              <a:rect b="b" l="l" r="r" t="t"/>
              <a:pathLst>
                <a:path extrusionOk="0" h="236474" w="114554">
                  <a:moveTo>
                    <a:pt x="8509" y="0"/>
                  </a:moveTo>
                  <a:lnTo>
                    <a:pt x="106045" y="0"/>
                  </a:lnTo>
                  <a:cubicBezTo>
                    <a:pt x="110744" y="0"/>
                    <a:pt x="114554" y="3810"/>
                    <a:pt x="114554" y="8509"/>
                  </a:cubicBezTo>
                  <a:lnTo>
                    <a:pt x="114554" y="227965"/>
                  </a:lnTo>
                  <a:cubicBezTo>
                    <a:pt x="114554" y="232664"/>
                    <a:pt x="110744" y="236474"/>
                    <a:pt x="106045" y="236474"/>
                  </a:cubicBezTo>
                  <a:lnTo>
                    <a:pt x="8509" y="236474"/>
                  </a:lnTo>
                  <a:cubicBezTo>
                    <a:pt x="3810" y="236474"/>
                    <a:pt x="0" y="232664"/>
                    <a:pt x="0" y="22796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27965"/>
                  </a:lnTo>
                  <a:lnTo>
                    <a:pt x="8509" y="227965"/>
                  </a:lnTo>
                  <a:lnTo>
                    <a:pt x="8509" y="219456"/>
                  </a:lnTo>
                  <a:lnTo>
                    <a:pt x="106045" y="219456"/>
                  </a:lnTo>
                  <a:lnTo>
                    <a:pt x="106045" y="227965"/>
                  </a:lnTo>
                  <a:lnTo>
                    <a:pt x="97536" y="227965"/>
                  </a:lnTo>
                  <a:lnTo>
                    <a:pt x="97536" y="8509"/>
                  </a:lnTo>
                  <a:lnTo>
                    <a:pt x="106045" y="8509"/>
                  </a:lnTo>
                  <a:lnTo>
                    <a:pt x="1060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1" name="Google Shape;651;p29"/>
          <p:cNvGrpSpPr/>
          <p:nvPr/>
        </p:nvGrpSpPr>
        <p:grpSpPr>
          <a:xfrm>
            <a:off x="6185530" y="3540033"/>
            <a:ext cx="79533" cy="79533"/>
            <a:chOff x="0" y="0"/>
            <a:chExt cx="212090" cy="212090"/>
          </a:xfrm>
        </p:grpSpPr>
        <p:sp>
          <p:nvSpPr>
            <p:cNvPr id="652" name="Google Shape;652;p29"/>
            <p:cNvSpPr/>
            <p:nvPr/>
          </p:nvSpPr>
          <p:spPr>
            <a:xfrm>
              <a:off x="8509" y="8509"/>
              <a:ext cx="195072" cy="195072"/>
            </a:xfrm>
            <a:custGeom>
              <a:rect b="b" l="l" r="r" t="t"/>
              <a:pathLst>
                <a:path extrusionOk="0"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9"/>
            <p:cNvSpPr/>
            <p:nvPr/>
          </p:nvSpPr>
          <p:spPr>
            <a:xfrm>
              <a:off x="0" y="0"/>
              <a:ext cx="212090" cy="212090"/>
            </a:xfrm>
            <a:custGeom>
              <a:rect b="b" l="l" r="r" t="t"/>
              <a:pathLst>
                <a:path extrusionOk="0" h="212090" w="212090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06045" y="8509"/>
                  </a:lnTo>
                  <a:lnTo>
                    <a:pt x="106045" y="0"/>
                  </a:lnTo>
                  <a:cubicBezTo>
                    <a:pt x="164592" y="0"/>
                    <a:pt x="212090" y="47498"/>
                    <a:pt x="212090" y="106045"/>
                  </a:cubicBezTo>
                  <a:cubicBezTo>
                    <a:pt x="212090" y="164592"/>
                    <a:pt x="164592" y="212090"/>
                    <a:pt x="106045" y="212090"/>
                  </a:cubicBezTo>
                  <a:lnTo>
                    <a:pt x="106045" y="203581"/>
                  </a:lnTo>
                  <a:lnTo>
                    <a:pt x="106045" y="212090"/>
                  </a:lnTo>
                  <a:cubicBezTo>
                    <a:pt x="47498" y="211963"/>
                    <a:pt x="0" y="164592"/>
                    <a:pt x="0" y="106045"/>
                  </a:cubicBezTo>
                  <a:lnTo>
                    <a:pt x="8509" y="106045"/>
                  </a:lnTo>
                  <a:lnTo>
                    <a:pt x="15748" y="110363"/>
                  </a:lnTo>
                  <a:cubicBezTo>
                    <a:pt x="13843" y="113665"/>
                    <a:pt x="9906" y="115189"/>
                    <a:pt x="6223" y="114173"/>
                  </a:cubicBezTo>
                  <a:cubicBezTo>
                    <a:pt x="2540" y="113157"/>
                    <a:pt x="0" y="109855"/>
                    <a:pt x="0" y="106045"/>
                  </a:cubicBezTo>
                  <a:moveTo>
                    <a:pt x="16891" y="106045"/>
                  </a:moveTo>
                  <a:lnTo>
                    <a:pt x="8509" y="106045"/>
                  </a:lnTo>
                  <a:lnTo>
                    <a:pt x="1143" y="101727"/>
                  </a:lnTo>
                  <a:cubicBezTo>
                    <a:pt x="3048" y="98425"/>
                    <a:pt x="6985" y="96901"/>
                    <a:pt x="10668" y="97917"/>
                  </a:cubicBezTo>
                  <a:cubicBezTo>
                    <a:pt x="14351" y="98933"/>
                    <a:pt x="16891" y="102235"/>
                    <a:pt x="16891" y="106045"/>
                  </a:cubicBezTo>
                  <a:cubicBezTo>
                    <a:pt x="16891" y="155194"/>
                    <a:pt x="56769" y="195072"/>
                    <a:pt x="105918" y="195072"/>
                  </a:cubicBezTo>
                  <a:cubicBezTo>
                    <a:pt x="155067" y="195072"/>
                    <a:pt x="194945" y="155194"/>
                    <a:pt x="194945" y="106045"/>
                  </a:cubicBezTo>
                  <a:lnTo>
                    <a:pt x="203454" y="106045"/>
                  </a:lnTo>
                  <a:lnTo>
                    <a:pt x="194945" y="106045"/>
                  </a:lnTo>
                  <a:cubicBezTo>
                    <a:pt x="194945" y="56896"/>
                    <a:pt x="155067" y="17018"/>
                    <a:pt x="105918" y="17018"/>
                  </a:cubicBezTo>
                  <a:lnTo>
                    <a:pt x="105918" y="8509"/>
                  </a:lnTo>
                  <a:lnTo>
                    <a:pt x="105918" y="17018"/>
                  </a:lnTo>
                  <a:cubicBezTo>
                    <a:pt x="56769" y="17018"/>
                    <a:pt x="16891" y="56896"/>
                    <a:pt x="16891" y="106045"/>
                  </a:cubicBez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4" name="Google Shape;654;p29"/>
          <p:cNvGrpSpPr/>
          <p:nvPr/>
        </p:nvGrpSpPr>
        <p:grpSpPr>
          <a:xfrm>
            <a:off x="6235189" y="2990760"/>
            <a:ext cx="1342644" cy="1178052"/>
            <a:chOff x="0" y="0"/>
            <a:chExt cx="3580384" cy="3141472"/>
          </a:xfrm>
        </p:grpSpPr>
        <p:sp>
          <p:nvSpPr>
            <p:cNvPr id="655" name="Google Shape;655;p29"/>
            <p:cNvSpPr/>
            <p:nvPr/>
          </p:nvSpPr>
          <p:spPr>
            <a:xfrm>
              <a:off x="10160" y="10160"/>
              <a:ext cx="3560064" cy="3121152"/>
            </a:xfrm>
            <a:custGeom>
              <a:rect b="b" l="l" r="r" t="t"/>
              <a:pathLst>
                <a:path extrusionOk="0" h="3121152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56" name="Google Shape;656;p29"/>
            <p:cNvSpPr/>
            <p:nvPr/>
          </p:nvSpPr>
          <p:spPr>
            <a:xfrm>
              <a:off x="0" y="0"/>
              <a:ext cx="3580384" cy="3141472"/>
            </a:xfrm>
            <a:custGeom>
              <a:rect b="b" l="l" r="r" t="t"/>
              <a:pathLst>
                <a:path extrusionOk="0" h="3141472" w="3580384">
                  <a:moveTo>
                    <a:pt x="10160" y="0"/>
                  </a:moveTo>
                  <a:lnTo>
                    <a:pt x="3570224" y="0"/>
                  </a:lnTo>
                  <a:cubicBezTo>
                    <a:pt x="3575812" y="0"/>
                    <a:pt x="3580384" y="4572"/>
                    <a:pt x="3580384" y="10160"/>
                  </a:cubicBezTo>
                  <a:lnTo>
                    <a:pt x="3580384" y="3131312"/>
                  </a:lnTo>
                  <a:cubicBezTo>
                    <a:pt x="3580384" y="3136900"/>
                    <a:pt x="3575812" y="3141472"/>
                    <a:pt x="3570224" y="3141472"/>
                  </a:cubicBezTo>
                  <a:lnTo>
                    <a:pt x="10160" y="3141472"/>
                  </a:lnTo>
                  <a:cubicBezTo>
                    <a:pt x="4572" y="3141472"/>
                    <a:pt x="0" y="3136900"/>
                    <a:pt x="0" y="3131312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3131312"/>
                  </a:lnTo>
                  <a:lnTo>
                    <a:pt x="10160" y="3131312"/>
                  </a:lnTo>
                  <a:lnTo>
                    <a:pt x="10160" y="3121152"/>
                  </a:lnTo>
                  <a:lnTo>
                    <a:pt x="3570224" y="3121152"/>
                  </a:lnTo>
                  <a:lnTo>
                    <a:pt x="3570224" y="3131312"/>
                  </a:lnTo>
                  <a:lnTo>
                    <a:pt x="3560064" y="3131312"/>
                  </a:lnTo>
                  <a:lnTo>
                    <a:pt x="3560064" y="10160"/>
                  </a:lnTo>
                  <a:lnTo>
                    <a:pt x="3570224" y="10160"/>
                  </a:lnTo>
                  <a:lnTo>
                    <a:pt x="3570224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7" name="Google Shape;657;p29"/>
          <p:cNvGrpSpPr/>
          <p:nvPr/>
        </p:nvGrpSpPr>
        <p:grpSpPr>
          <a:xfrm>
            <a:off x="6235827" y="2991398"/>
            <a:ext cx="1341405" cy="225837"/>
            <a:chOff x="0" y="0"/>
            <a:chExt cx="3577082" cy="602234"/>
          </a:xfrm>
        </p:grpSpPr>
        <p:sp>
          <p:nvSpPr>
            <p:cNvPr id="658" name="Google Shape;658;p29"/>
            <p:cNvSpPr/>
            <p:nvPr/>
          </p:nvSpPr>
          <p:spPr>
            <a:xfrm>
              <a:off x="8509" y="8509"/>
              <a:ext cx="3560064" cy="585216"/>
            </a:xfrm>
            <a:custGeom>
              <a:rect b="b" l="l" r="r" t="t"/>
              <a:pathLst>
                <a:path extrusionOk="0" h="585216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</p:sp>
        <p:sp>
          <p:nvSpPr>
            <p:cNvPr id="659" name="Google Shape;659;p29"/>
            <p:cNvSpPr/>
            <p:nvPr/>
          </p:nvSpPr>
          <p:spPr>
            <a:xfrm>
              <a:off x="0" y="0"/>
              <a:ext cx="3577082" cy="602234"/>
            </a:xfrm>
            <a:custGeom>
              <a:rect b="b" l="l" r="r" t="t"/>
              <a:pathLst>
                <a:path extrusionOk="0" h="602234" w="3577082">
                  <a:moveTo>
                    <a:pt x="8509" y="0"/>
                  </a:moveTo>
                  <a:lnTo>
                    <a:pt x="3568573" y="0"/>
                  </a:lnTo>
                  <a:cubicBezTo>
                    <a:pt x="3573272" y="0"/>
                    <a:pt x="3577082" y="3810"/>
                    <a:pt x="3577082" y="8509"/>
                  </a:cubicBezTo>
                  <a:lnTo>
                    <a:pt x="3577082" y="593725"/>
                  </a:lnTo>
                  <a:cubicBezTo>
                    <a:pt x="3577082" y="598424"/>
                    <a:pt x="3573272" y="602234"/>
                    <a:pt x="3568573" y="602234"/>
                  </a:cubicBezTo>
                  <a:lnTo>
                    <a:pt x="8509" y="602234"/>
                  </a:lnTo>
                  <a:cubicBezTo>
                    <a:pt x="3810" y="602234"/>
                    <a:pt x="0" y="598424"/>
                    <a:pt x="0" y="59372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93725"/>
                  </a:lnTo>
                  <a:lnTo>
                    <a:pt x="8509" y="593725"/>
                  </a:lnTo>
                  <a:lnTo>
                    <a:pt x="8509" y="585216"/>
                  </a:lnTo>
                  <a:lnTo>
                    <a:pt x="3568573" y="585216"/>
                  </a:lnTo>
                  <a:lnTo>
                    <a:pt x="3568573" y="593725"/>
                  </a:lnTo>
                  <a:lnTo>
                    <a:pt x="3560064" y="593725"/>
                  </a:lnTo>
                  <a:lnTo>
                    <a:pt x="3560064" y="8509"/>
                  </a:lnTo>
                  <a:lnTo>
                    <a:pt x="3568573" y="8509"/>
                  </a:lnTo>
                  <a:lnTo>
                    <a:pt x="35685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0" name="Google Shape;660;p29"/>
          <p:cNvGrpSpPr/>
          <p:nvPr/>
        </p:nvGrpSpPr>
        <p:grpSpPr>
          <a:xfrm>
            <a:off x="6770746" y="3238286"/>
            <a:ext cx="271510" cy="271557"/>
            <a:chOff x="0" y="0"/>
            <a:chExt cx="724027" cy="724154"/>
          </a:xfrm>
        </p:grpSpPr>
        <p:sp>
          <p:nvSpPr>
            <p:cNvPr id="661" name="Google Shape;661;p29"/>
            <p:cNvSpPr/>
            <p:nvPr/>
          </p:nvSpPr>
          <p:spPr>
            <a:xfrm>
              <a:off x="8509" y="8509"/>
              <a:ext cx="707136" cy="707136"/>
            </a:xfrm>
            <a:custGeom>
              <a:rect b="b" l="l" r="r" t="t"/>
              <a:pathLst>
                <a:path extrusionOk="0"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767" y="707136"/>
                    <a:pt x="353568" y="707136"/>
                  </a:cubicBezTo>
                  <a:cubicBezTo>
                    <a:pt x="158369" y="707136"/>
                    <a:pt x="0" y="548767"/>
                    <a:pt x="0" y="353568"/>
                  </a:cubicBez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0" y="0"/>
              <a:ext cx="724027" cy="724154"/>
            </a:xfrm>
            <a:custGeom>
              <a:rect b="b" l="l" r="r" t="t"/>
              <a:pathLst>
                <a:path extrusionOk="0" h="724154" w="724027">
                  <a:moveTo>
                    <a:pt x="0" y="362077"/>
                  </a:moveTo>
                  <a:cubicBezTo>
                    <a:pt x="0" y="162052"/>
                    <a:pt x="162052" y="0"/>
                    <a:pt x="362077" y="0"/>
                  </a:cubicBezTo>
                  <a:lnTo>
                    <a:pt x="362077" y="8509"/>
                  </a:lnTo>
                  <a:lnTo>
                    <a:pt x="362077" y="0"/>
                  </a:lnTo>
                  <a:cubicBezTo>
                    <a:pt x="561975" y="0"/>
                    <a:pt x="724027" y="162052"/>
                    <a:pt x="724027" y="362077"/>
                  </a:cubicBezTo>
                  <a:lnTo>
                    <a:pt x="715518" y="362077"/>
                  </a:lnTo>
                  <a:lnTo>
                    <a:pt x="724027" y="362077"/>
                  </a:lnTo>
                  <a:cubicBezTo>
                    <a:pt x="724027" y="561975"/>
                    <a:pt x="561975" y="724154"/>
                    <a:pt x="361950" y="724154"/>
                  </a:cubicBezTo>
                  <a:lnTo>
                    <a:pt x="361950" y="715645"/>
                  </a:lnTo>
                  <a:lnTo>
                    <a:pt x="361950" y="724154"/>
                  </a:lnTo>
                  <a:cubicBezTo>
                    <a:pt x="162052" y="724027"/>
                    <a:pt x="0" y="561975"/>
                    <a:pt x="0" y="362077"/>
                  </a:cubicBezTo>
                  <a:lnTo>
                    <a:pt x="8509" y="362077"/>
                  </a:lnTo>
                  <a:lnTo>
                    <a:pt x="17018" y="362077"/>
                  </a:lnTo>
                  <a:lnTo>
                    <a:pt x="8509" y="362077"/>
                  </a:lnTo>
                  <a:lnTo>
                    <a:pt x="0" y="362077"/>
                  </a:lnTo>
                  <a:moveTo>
                    <a:pt x="16891" y="362077"/>
                  </a:moveTo>
                  <a:cubicBezTo>
                    <a:pt x="16891" y="366776"/>
                    <a:pt x="13081" y="370586"/>
                    <a:pt x="8382" y="370586"/>
                  </a:cubicBezTo>
                  <a:cubicBezTo>
                    <a:pt x="3683" y="370586"/>
                    <a:pt x="0" y="366776"/>
                    <a:pt x="0" y="362077"/>
                  </a:cubicBezTo>
                  <a:cubicBezTo>
                    <a:pt x="0" y="357378"/>
                    <a:pt x="3810" y="353568"/>
                    <a:pt x="8509" y="353568"/>
                  </a:cubicBezTo>
                  <a:cubicBezTo>
                    <a:pt x="13208" y="353568"/>
                    <a:pt x="17018" y="357378"/>
                    <a:pt x="17018" y="362077"/>
                  </a:cubicBezTo>
                  <a:cubicBezTo>
                    <a:pt x="17018" y="552704"/>
                    <a:pt x="171577" y="707136"/>
                    <a:pt x="362077" y="707136"/>
                  </a:cubicBezTo>
                  <a:cubicBezTo>
                    <a:pt x="552704" y="707136"/>
                    <a:pt x="707136" y="552577"/>
                    <a:pt x="707136" y="362077"/>
                  </a:cubicBezTo>
                  <a:cubicBezTo>
                    <a:pt x="707136" y="171450"/>
                    <a:pt x="552577" y="17018"/>
                    <a:pt x="362077" y="17018"/>
                  </a:cubicBezTo>
                  <a:lnTo>
                    <a:pt x="362077" y="8509"/>
                  </a:lnTo>
                  <a:lnTo>
                    <a:pt x="362077" y="17018"/>
                  </a:lnTo>
                  <a:cubicBezTo>
                    <a:pt x="171450" y="16891"/>
                    <a:pt x="16891" y="171450"/>
                    <a:pt x="16891" y="362077"/>
                  </a:cubicBez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3" name="Google Shape;663;p29"/>
          <p:cNvGrpSpPr/>
          <p:nvPr/>
        </p:nvGrpSpPr>
        <p:grpSpPr>
          <a:xfrm>
            <a:off x="6793606" y="3273314"/>
            <a:ext cx="225809" cy="187181"/>
            <a:chOff x="0" y="-38100"/>
            <a:chExt cx="602158" cy="499148"/>
          </a:xfrm>
        </p:grpSpPr>
        <p:sp>
          <p:nvSpPr>
            <p:cNvPr id="664" name="Google Shape;664;p29"/>
            <p:cNvSpPr/>
            <p:nvPr/>
          </p:nvSpPr>
          <p:spPr>
            <a:xfrm>
              <a:off x="0" y="0"/>
              <a:ext cx="602152" cy="461048"/>
            </a:xfrm>
            <a:custGeom>
              <a:rect b="b" l="l" r="r" t="t"/>
              <a:pathLst>
                <a:path extrusionOk="0" h="461048" w="602152">
                  <a:moveTo>
                    <a:pt x="0" y="0"/>
                  </a:moveTo>
                  <a:lnTo>
                    <a:pt x="602152" y="0"/>
                  </a:lnTo>
                  <a:lnTo>
                    <a:pt x="602152" y="461048"/>
                  </a:lnTo>
                  <a:lnTo>
                    <a:pt x="0" y="4610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48237" r="-48239" t="0"/>
              </a:stretch>
            </a:blipFill>
            <a:ln>
              <a:noFill/>
            </a:ln>
          </p:spPr>
        </p:sp>
        <p:sp>
          <p:nvSpPr>
            <p:cNvPr id="665" name="Google Shape;665;p29"/>
            <p:cNvSpPr txBox="1"/>
            <p:nvPr/>
          </p:nvSpPr>
          <p:spPr>
            <a:xfrm>
              <a:off x="0" y="-38100"/>
              <a:ext cx="602158" cy="499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sz="700"/>
            </a:p>
          </p:txBody>
        </p:sp>
      </p:grpSp>
      <p:grpSp>
        <p:nvGrpSpPr>
          <p:cNvPr id="666" name="Google Shape;666;p29"/>
          <p:cNvGrpSpPr/>
          <p:nvPr/>
        </p:nvGrpSpPr>
        <p:grpSpPr>
          <a:xfrm>
            <a:off x="6290686" y="3547634"/>
            <a:ext cx="1231649" cy="141462"/>
            <a:chOff x="0" y="-38100"/>
            <a:chExt cx="3284398" cy="377231"/>
          </a:xfrm>
        </p:grpSpPr>
        <p:sp>
          <p:nvSpPr>
            <p:cNvPr id="667" name="Google Shape;667;p29"/>
            <p:cNvSpPr/>
            <p:nvPr/>
          </p:nvSpPr>
          <p:spPr>
            <a:xfrm>
              <a:off x="0" y="0"/>
              <a:ext cx="3284393" cy="339131"/>
            </a:xfrm>
            <a:custGeom>
              <a:rect b="b" l="l" r="r" t="t"/>
              <a:pathLst>
                <a:path extrusionOk="0" h="339131" w="3284393">
                  <a:moveTo>
                    <a:pt x="0" y="0"/>
                  </a:moveTo>
                  <a:lnTo>
                    <a:pt x="3284393" y="0"/>
                  </a:lnTo>
                  <a:lnTo>
                    <a:pt x="3284393" y="339131"/>
                  </a:lnTo>
                  <a:lnTo>
                    <a:pt x="0" y="3391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8708" l="0" r="0" t="-138708"/>
              </a:stretch>
            </a:blipFill>
            <a:ln>
              <a:noFill/>
            </a:ln>
          </p:spPr>
        </p:sp>
        <p:sp>
          <p:nvSpPr>
            <p:cNvPr id="668" name="Google Shape;668;p29"/>
            <p:cNvSpPr txBox="1"/>
            <p:nvPr/>
          </p:nvSpPr>
          <p:spPr>
            <a:xfrm>
              <a:off x="0" y="-38100"/>
              <a:ext cx="3284398" cy="37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00695C"/>
                  </a:solidFill>
                  <a:latin typeface="Calibri"/>
                  <a:ea typeface="Calibri"/>
                  <a:cs typeface="Calibri"/>
                  <a:sym typeface="Calibri"/>
                </a:rPr>
                <a:t>LLM Reason</a:t>
              </a:r>
              <a:endParaRPr sz="700"/>
            </a:p>
          </p:txBody>
        </p:sp>
      </p:grpSp>
      <p:grpSp>
        <p:nvGrpSpPr>
          <p:cNvPr id="669" name="Google Shape;669;p29"/>
          <p:cNvGrpSpPr/>
          <p:nvPr/>
        </p:nvGrpSpPr>
        <p:grpSpPr>
          <a:xfrm>
            <a:off x="6290686" y="3733438"/>
            <a:ext cx="1231649" cy="150000"/>
            <a:chOff x="0" y="-28575"/>
            <a:chExt cx="3284398" cy="400000"/>
          </a:xfrm>
        </p:grpSpPr>
        <p:sp>
          <p:nvSpPr>
            <p:cNvPr id="670" name="Google Shape;670;p29"/>
            <p:cNvSpPr/>
            <p:nvPr/>
          </p:nvSpPr>
          <p:spPr>
            <a:xfrm>
              <a:off x="0" y="0"/>
              <a:ext cx="3284393" cy="371419"/>
            </a:xfrm>
            <a:custGeom>
              <a:rect b="b" l="l" r="r" t="t"/>
              <a:pathLst>
                <a:path extrusionOk="0" h="371419" w="3284393">
                  <a:moveTo>
                    <a:pt x="0" y="0"/>
                  </a:moveTo>
                  <a:lnTo>
                    <a:pt x="3284393" y="0"/>
                  </a:lnTo>
                  <a:lnTo>
                    <a:pt x="3284393" y="371419"/>
                  </a:lnTo>
                  <a:lnTo>
                    <a:pt x="0" y="371419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08570" l="0" r="0" t="-136032"/>
              </a:stretch>
            </a:blipFill>
            <a:ln>
              <a:noFill/>
            </a:ln>
          </p:spPr>
        </p:sp>
        <p:sp>
          <p:nvSpPr>
            <p:cNvPr id="671" name="Google Shape;671;p29"/>
            <p:cNvSpPr txBox="1"/>
            <p:nvPr/>
          </p:nvSpPr>
          <p:spPr>
            <a:xfrm>
              <a:off x="0" y="-28575"/>
              <a:ext cx="3284398" cy="4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Gemini copilot</a:t>
              </a:r>
              <a:endParaRPr sz="700"/>
            </a:p>
          </p:txBody>
        </p:sp>
      </p:grpSp>
      <p:grpSp>
        <p:nvGrpSpPr>
          <p:cNvPr id="672" name="Google Shape;672;p29"/>
          <p:cNvGrpSpPr/>
          <p:nvPr/>
        </p:nvGrpSpPr>
        <p:grpSpPr>
          <a:xfrm>
            <a:off x="6290686" y="3875170"/>
            <a:ext cx="1231649" cy="111747"/>
            <a:chOff x="0" y="-28575"/>
            <a:chExt cx="3284398" cy="297993"/>
          </a:xfrm>
        </p:grpSpPr>
        <p:sp>
          <p:nvSpPr>
            <p:cNvPr id="673" name="Google Shape;673;p29"/>
            <p:cNvSpPr/>
            <p:nvPr/>
          </p:nvSpPr>
          <p:spPr>
            <a:xfrm>
              <a:off x="0" y="0"/>
              <a:ext cx="3284393" cy="269412"/>
            </a:xfrm>
            <a:custGeom>
              <a:rect b="b" l="l" r="r" t="t"/>
              <a:pathLst>
                <a:path extrusionOk="0" h="269412" w="3284393">
                  <a:moveTo>
                    <a:pt x="0" y="0"/>
                  </a:moveTo>
                  <a:lnTo>
                    <a:pt x="3284393" y="0"/>
                  </a:lnTo>
                  <a:lnTo>
                    <a:pt x="3284393" y="269412"/>
                  </a:lnTo>
                  <a:lnTo>
                    <a:pt x="0" y="26941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7543" l="0" r="0" t="-187539"/>
              </a:stretch>
            </a:blipFill>
            <a:ln>
              <a:noFill/>
            </a:ln>
          </p:spPr>
        </p:sp>
        <p:sp>
          <p:nvSpPr>
            <p:cNvPr id="674" name="Google Shape;674;p29"/>
            <p:cNvSpPr txBox="1"/>
            <p:nvPr/>
          </p:nvSpPr>
          <p:spPr>
            <a:xfrm>
              <a:off x="0" y="-28575"/>
              <a:ext cx="3284398" cy="29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Trace + explain</a:t>
              </a:r>
              <a:endParaRPr sz="700"/>
            </a:p>
          </p:txBody>
        </p:sp>
      </p:grpSp>
      <p:sp>
        <p:nvSpPr>
          <p:cNvPr id="675" name="Google Shape;675;p29"/>
          <p:cNvSpPr/>
          <p:nvPr/>
        </p:nvSpPr>
        <p:spPr>
          <a:xfrm>
            <a:off x="7647175" y="3575023"/>
            <a:ext cx="155448" cy="9525"/>
          </a:xfrm>
          <a:custGeom>
            <a:rect b="b" l="l" r="r" t="t"/>
            <a:pathLst>
              <a:path extrusionOk="0" h="25400" w="414528">
                <a:moveTo>
                  <a:pt x="0" y="0"/>
                </a:moveTo>
                <a:lnTo>
                  <a:pt x="414528" y="0"/>
                </a:lnTo>
                <a:lnTo>
                  <a:pt x="414528" y="25400"/>
                </a:lnTo>
                <a:lnTo>
                  <a:pt x="0" y="25400"/>
                </a:lnTo>
                <a:close/>
              </a:path>
            </a:pathLst>
          </a:custGeom>
          <a:solidFill>
            <a:srgbClr val="90A4AE"/>
          </a:solidFill>
          <a:ln>
            <a:noFill/>
          </a:ln>
        </p:spPr>
      </p:sp>
      <p:grpSp>
        <p:nvGrpSpPr>
          <p:cNvPr id="676" name="Google Shape;676;p29"/>
          <p:cNvGrpSpPr/>
          <p:nvPr/>
        </p:nvGrpSpPr>
        <p:grpSpPr>
          <a:xfrm>
            <a:off x="7762870" y="3535466"/>
            <a:ext cx="42957" cy="88677"/>
            <a:chOff x="0" y="0"/>
            <a:chExt cx="114554" cy="236474"/>
          </a:xfrm>
        </p:grpSpPr>
        <p:sp>
          <p:nvSpPr>
            <p:cNvPr id="677" name="Google Shape;677;p29"/>
            <p:cNvSpPr/>
            <p:nvPr/>
          </p:nvSpPr>
          <p:spPr>
            <a:xfrm>
              <a:off x="8509" y="8509"/>
              <a:ext cx="97536" cy="219456"/>
            </a:xfrm>
            <a:custGeom>
              <a:rect b="b" l="l" r="r" t="t"/>
              <a:pathLst>
                <a:path extrusionOk="0" h="219456" w="97536">
                  <a:moveTo>
                    <a:pt x="0" y="0"/>
                  </a:moveTo>
                  <a:lnTo>
                    <a:pt x="97536" y="0"/>
                  </a:lnTo>
                  <a:lnTo>
                    <a:pt x="9753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</p:sp>
        <p:sp>
          <p:nvSpPr>
            <p:cNvPr id="678" name="Google Shape;678;p29"/>
            <p:cNvSpPr/>
            <p:nvPr/>
          </p:nvSpPr>
          <p:spPr>
            <a:xfrm>
              <a:off x="0" y="0"/>
              <a:ext cx="114554" cy="236474"/>
            </a:xfrm>
            <a:custGeom>
              <a:rect b="b" l="l" r="r" t="t"/>
              <a:pathLst>
                <a:path extrusionOk="0" h="236474" w="114554">
                  <a:moveTo>
                    <a:pt x="8509" y="0"/>
                  </a:moveTo>
                  <a:lnTo>
                    <a:pt x="106045" y="0"/>
                  </a:lnTo>
                  <a:cubicBezTo>
                    <a:pt x="110744" y="0"/>
                    <a:pt x="114554" y="3810"/>
                    <a:pt x="114554" y="8509"/>
                  </a:cubicBezTo>
                  <a:lnTo>
                    <a:pt x="114554" y="227965"/>
                  </a:lnTo>
                  <a:cubicBezTo>
                    <a:pt x="114554" y="232664"/>
                    <a:pt x="110744" y="236474"/>
                    <a:pt x="106045" y="236474"/>
                  </a:cubicBezTo>
                  <a:lnTo>
                    <a:pt x="8509" y="236474"/>
                  </a:lnTo>
                  <a:cubicBezTo>
                    <a:pt x="3810" y="236474"/>
                    <a:pt x="0" y="232664"/>
                    <a:pt x="0" y="22796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27965"/>
                  </a:lnTo>
                  <a:lnTo>
                    <a:pt x="8509" y="227965"/>
                  </a:lnTo>
                  <a:lnTo>
                    <a:pt x="8509" y="219456"/>
                  </a:lnTo>
                  <a:lnTo>
                    <a:pt x="106045" y="219456"/>
                  </a:lnTo>
                  <a:lnTo>
                    <a:pt x="106045" y="227965"/>
                  </a:lnTo>
                  <a:lnTo>
                    <a:pt x="97536" y="227965"/>
                  </a:lnTo>
                  <a:lnTo>
                    <a:pt x="97536" y="8509"/>
                  </a:lnTo>
                  <a:lnTo>
                    <a:pt x="106045" y="8509"/>
                  </a:lnTo>
                  <a:lnTo>
                    <a:pt x="106045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9" name="Google Shape;679;p29"/>
          <p:cNvGrpSpPr/>
          <p:nvPr/>
        </p:nvGrpSpPr>
        <p:grpSpPr>
          <a:xfrm>
            <a:off x="7749159" y="3540033"/>
            <a:ext cx="79533" cy="79533"/>
            <a:chOff x="0" y="0"/>
            <a:chExt cx="212090" cy="212090"/>
          </a:xfrm>
        </p:grpSpPr>
        <p:sp>
          <p:nvSpPr>
            <p:cNvPr id="680" name="Google Shape;680;p29"/>
            <p:cNvSpPr/>
            <p:nvPr/>
          </p:nvSpPr>
          <p:spPr>
            <a:xfrm>
              <a:off x="8509" y="8509"/>
              <a:ext cx="195072" cy="195072"/>
            </a:xfrm>
            <a:custGeom>
              <a:rect b="b" l="l" r="r" t="t"/>
              <a:pathLst>
                <a:path extrusionOk="0" h="195072" w="195072">
                  <a:moveTo>
                    <a:pt x="0" y="97536"/>
                  </a:moveTo>
                  <a:cubicBezTo>
                    <a:pt x="0" y="43688"/>
                    <a:pt x="43688" y="0"/>
                    <a:pt x="97536" y="0"/>
                  </a:cubicBezTo>
                  <a:cubicBezTo>
                    <a:pt x="151384" y="0"/>
                    <a:pt x="195072" y="43688"/>
                    <a:pt x="195072" y="97536"/>
                  </a:cubicBezTo>
                  <a:cubicBezTo>
                    <a:pt x="195072" y="151384"/>
                    <a:pt x="151384" y="195072"/>
                    <a:pt x="97536" y="195072"/>
                  </a:cubicBezTo>
                  <a:cubicBezTo>
                    <a:pt x="43688" y="195072"/>
                    <a:pt x="0" y="151384"/>
                    <a:pt x="0" y="97536"/>
                  </a:cubicBez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9"/>
            <p:cNvSpPr/>
            <p:nvPr/>
          </p:nvSpPr>
          <p:spPr>
            <a:xfrm>
              <a:off x="0" y="0"/>
              <a:ext cx="212090" cy="212090"/>
            </a:xfrm>
            <a:custGeom>
              <a:rect b="b" l="l" r="r" t="t"/>
              <a:pathLst>
                <a:path extrusionOk="0" h="212090" w="212090">
                  <a:moveTo>
                    <a:pt x="0" y="106045"/>
                  </a:moveTo>
                  <a:cubicBezTo>
                    <a:pt x="0" y="47498"/>
                    <a:pt x="47498" y="0"/>
                    <a:pt x="106045" y="0"/>
                  </a:cubicBezTo>
                  <a:lnTo>
                    <a:pt x="106045" y="8509"/>
                  </a:lnTo>
                  <a:lnTo>
                    <a:pt x="106045" y="0"/>
                  </a:lnTo>
                  <a:cubicBezTo>
                    <a:pt x="164592" y="0"/>
                    <a:pt x="212090" y="47498"/>
                    <a:pt x="212090" y="106045"/>
                  </a:cubicBezTo>
                  <a:cubicBezTo>
                    <a:pt x="212090" y="164592"/>
                    <a:pt x="164592" y="212090"/>
                    <a:pt x="106045" y="212090"/>
                  </a:cubicBezTo>
                  <a:lnTo>
                    <a:pt x="106045" y="203581"/>
                  </a:lnTo>
                  <a:lnTo>
                    <a:pt x="106045" y="212090"/>
                  </a:lnTo>
                  <a:cubicBezTo>
                    <a:pt x="47498" y="211963"/>
                    <a:pt x="0" y="164592"/>
                    <a:pt x="0" y="106045"/>
                  </a:cubicBezTo>
                  <a:lnTo>
                    <a:pt x="8509" y="106045"/>
                  </a:lnTo>
                  <a:lnTo>
                    <a:pt x="15748" y="110363"/>
                  </a:lnTo>
                  <a:cubicBezTo>
                    <a:pt x="13843" y="113665"/>
                    <a:pt x="9906" y="115189"/>
                    <a:pt x="6223" y="114173"/>
                  </a:cubicBezTo>
                  <a:cubicBezTo>
                    <a:pt x="2540" y="113157"/>
                    <a:pt x="0" y="109855"/>
                    <a:pt x="0" y="106045"/>
                  </a:cubicBezTo>
                  <a:moveTo>
                    <a:pt x="16891" y="106045"/>
                  </a:moveTo>
                  <a:lnTo>
                    <a:pt x="8509" y="106045"/>
                  </a:lnTo>
                  <a:lnTo>
                    <a:pt x="1143" y="101727"/>
                  </a:lnTo>
                  <a:cubicBezTo>
                    <a:pt x="3048" y="98425"/>
                    <a:pt x="6985" y="96901"/>
                    <a:pt x="10668" y="97917"/>
                  </a:cubicBezTo>
                  <a:cubicBezTo>
                    <a:pt x="14351" y="98933"/>
                    <a:pt x="16891" y="102235"/>
                    <a:pt x="16891" y="106045"/>
                  </a:cubicBezTo>
                  <a:cubicBezTo>
                    <a:pt x="16891" y="155194"/>
                    <a:pt x="56769" y="195072"/>
                    <a:pt x="105918" y="195072"/>
                  </a:cubicBezTo>
                  <a:cubicBezTo>
                    <a:pt x="155067" y="195072"/>
                    <a:pt x="194945" y="155194"/>
                    <a:pt x="194945" y="106045"/>
                  </a:cubicBezTo>
                  <a:lnTo>
                    <a:pt x="203454" y="106045"/>
                  </a:lnTo>
                  <a:lnTo>
                    <a:pt x="194945" y="106045"/>
                  </a:lnTo>
                  <a:cubicBezTo>
                    <a:pt x="194945" y="56896"/>
                    <a:pt x="155067" y="17018"/>
                    <a:pt x="105918" y="17018"/>
                  </a:cubicBezTo>
                  <a:lnTo>
                    <a:pt x="105918" y="8509"/>
                  </a:lnTo>
                  <a:lnTo>
                    <a:pt x="105918" y="17018"/>
                  </a:lnTo>
                  <a:cubicBezTo>
                    <a:pt x="56769" y="17018"/>
                    <a:pt x="16891" y="56896"/>
                    <a:pt x="16891" y="106045"/>
                  </a:cubicBezTo>
                  <a:close/>
                </a:path>
              </a:pathLst>
            </a:custGeom>
            <a:solidFill>
              <a:srgbClr val="90A4A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2" name="Google Shape;682;p29"/>
          <p:cNvGrpSpPr/>
          <p:nvPr/>
        </p:nvGrpSpPr>
        <p:grpSpPr>
          <a:xfrm>
            <a:off x="7798813" y="2990760"/>
            <a:ext cx="1342644" cy="1178052"/>
            <a:chOff x="0" y="0"/>
            <a:chExt cx="3580384" cy="3141472"/>
          </a:xfrm>
        </p:grpSpPr>
        <p:sp>
          <p:nvSpPr>
            <p:cNvPr id="683" name="Google Shape;683;p29"/>
            <p:cNvSpPr/>
            <p:nvPr/>
          </p:nvSpPr>
          <p:spPr>
            <a:xfrm>
              <a:off x="10160" y="10160"/>
              <a:ext cx="3560064" cy="3121152"/>
            </a:xfrm>
            <a:custGeom>
              <a:rect b="b" l="l" r="r" t="t"/>
              <a:pathLst>
                <a:path extrusionOk="0" h="3121152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3121152"/>
                  </a:lnTo>
                  <a:lnTo>
                    <a:pt x="0" y="31211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84" name="Google Shape;684;p29"/>
            <p:cNvSpPr/>
            <p:nvPr/>
          </p:nvSpPr>
          <p:spPr>
            <a:xfrm>
              <a:off x="0" y="0"/>
              <a:ext cx="3580384" cy="3141472"/>
            </a:xfrm>
            <a:custGeom>
              <a:rect b="b" l="l" r="r" t="t"/>
              <a:pathLst>
                <a:path extrusionOk="0" h="3141472" w="3580384">
                  <a:moveTo>
                    <a:pt x="10160" y="0"/>
                  </a:moveTo>
                  <a:lnTo>
                    <a:pt x="3570224" y="0"/>
                  </a:lnTo>
                  <a:cubicBezTo>
                    <a:pt x="3575812" y="0"/>
                    <a:pt x="3580384" y="4572"/>
                    <a:pt x="3580384" y="10160"/>
                  </a:cubicBezTo>
                  <a:lnTo>
                    <a:pt x="3580384" y="3131312"/>
                  </a:lnTo>
                  <a:cubicBezTo>
                    <a:pt x="3580384" y="3136900"/>
                    <a:pt x="3575812" y="3141472"/>
                    <a:pt x="3570224" y="3141472"/>
                  </a:cubicBezTo>
                  <a:lnTo>
                    <a:pt x="10160" y="3141472"/>
                  </a:lnTo>
                  <a:cubicBezTo>
                    <a:pt x="4572" y="3141472"/>
                    <a:pt x="0" y="3136900"/>
                    <a:pt x="0" y="3131312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3131312"/>
                  </a:lnTo>
                  <a:lnTo>
                    <a:pt x="10160" y="3131312"/>
                  </a:lnTo>
                  <a:lnTo>
                    <a:pt x="10160" y="3121152"/>
                  </a:lnTo>
                  <a:lnTo>
                    <a:pt x="3570224" y="3121152"/>
                  </a:lnTo>
                  <a:lnTo>
                    <a:pt x="3570224" y="3131312"/>
                  </a:lnTo>
                  <a:lnTo>
                    <a:pt x="3560064" y="3131312"/>
                  </a:lnTo>
                  <a:lnTo>
                    <a:pt x="3560064" y="10160"/>
                  </a:lnTo>
                  <a:lnTo>
                    <a:pt x="3570224" y="10160"/>
                  </a:lnTo>
                  <a:lnTo>
                    <a:pt x="3570224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5" name="Google Shape;685;p29"/>
          <p:cNvGrpSpPr/>
          <p:nvPr/>
        </p:nvGrpSpPr>
        <p:grpSpPr>
          <a:xfrm>
            <a:off x="7799446" y="2991398"/>
            <a:ext cx="1341405" cy="225837"/>
            <a:chOff x="0" y="0"/>
            <a:chExt cx="3577082" cy="602234"/>
          </a:xfrm>
        </p:grpSpPr>
        <p:sp>
          <p:nvSpPr>
            <p:cNvPr id="686" name="Google Shape;686;p29"/>
            <p:cNvSpPr/>
            <p:nvPr/>
          </p:nvSpPr>
          <p:spPr>
            <a:xfrm>
              <a:off x="8509" y="8509"/>
              <a:ext cx="3560064" cy="585216"/>
            </a:xfrm>
            <a:custGeom>
              <a:rect b="b" l="l" r="r" t="t"/>
              <a:pathLst>
                <a:path extrusionOk="0" h="585216" w="3560064">
                  <a:moveTo>
                    <a:pt x="0" y="0"/>
                  </a:moveTo>
                  <a:lnTo>
                    <a:pt x="3560064" y="0"/>
                  </a:lnTo>
                  <a:lnTo>
                    <a:pt x="3560064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687" name="Google Shape;687;p29"/>
            <p:cNvSpPr/>
            <p:nvPr/>
          </p:nvSpPr>
          <p:spPr>
            <a:xfrm>
              <a:off x="0" y="0"/>
              <a:ext cx="3577082" cy="602234"/>
            </a:xfrm>
            <a:custGeom>
              <a:rect b="b" l="l" r="r" t="t"/>
              <a:pathLst>
                <a:path extrusionOk="0" h="602234" w="3577082">
                  <a:moveTo>
                    <a:pt x="8509" y="0"/>
                  </a:moveTo>
                  <a:lnTo>
                    <a:pt x="3568573" y="0"/>
                  </a:lnTo>
                  <a:cubicBezTo>
                    <a:pt x="3573272" y="0"/>
                    <a:pt x="3577082" y="3810"/>
                    <a:pt x="3577082" y="8509"/>
                  </a:cubicBezTo>
                  <a:lnTo>
                    <a:pt x="3577082" y="593725"/>
                  </a:lnTo>
                  <a:cubicBezTo>
                    <a:pt x="3577082" y="598424"/>
                    <a:pt x="3573272" y="602234"/>
                    <a:pt x="3568573" y="602234"/>
                  </a:cubicBezTo>
                  <a:lnTo>
                    <a:pt x="8509" y="602234"/>
                  </a:lnTo>
                  <a:cubicBezTo>
                    <a:pt x="3810" y="602234"/>
                    <a:pt x="0" y="598424"/>
                    <a:pt x="0" y="593725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93725"/>
                  </a:lnTo>
                  <a:lnTo>
                    <a:pt x="8509" y="593725"/>
                  </a:lnTo>
                  <a:lnTo>
                    <a:pt x="8509" y="585216"/>
                  </a:lnTo>
                  <a:lnTo>
                    <a:pt x="3568573" y="585216"/>
                  </a:lnTo>
                  <a:lnTo>
                    <a:pt x="3568573" y="593725"/>
                  </a:lnTo>
                  <a:lnTo>
                    <a:pt x="3560064" y="593725"/>
                  </a:lnTo>
                  <a:lnTo>
                    <a:pt x="3560064" y="8509"/>
                  </a:lnTo>
                  <a:lnTo>
                    <a:pt x="3568573" y="8509"/>
                  </a:lnTo>
                  <a:lnTo>
                    <a:pt x="3568573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8" name="Google Shape;688;p29"/>
          <p:cNvGrpSpPr/>
          <p:nvPr/>
        </p:nvGrpSpPr>
        <p:grpSpPr>
          <a:xfrm>
            <a:off x="8334370" y="3238286"/>
            <a:ext cx="271510" cy="271557"/>
            <a:chOff x="0" y="0"/>
            <a:chExt cx="724027" cy="724154"/>
          </a:xfrm>
        </p:grpSpPr>
        <p:sp>
          <p:nvSpPr>
            <p:cNvPr id="689" name="Google Shape;689;p29"/>
            <p:cNvSpPr/>
            <p:nvPr/>
          </p:nvSpPr>
          <p:spPr>
            <a:xfrm>
              <a:off x="8509" y="8509"/>
              <a:ext cx="707136" cy="707136"/>
            </a:xfrm>
            <a:custGeom>
              <a:rect b="b" l="l" r="r" t="t"/>
              <a:pathLst>
                <a:path extrusionOk="0" h="707136" w="707136">
                  <a:moveTo>
                    <a:pt x="0" y="353568"/>
                  </a:moveTo>
                  <a:cubicBezTo>
                    <a:pt x="0" y="158242"/>
                    <a:pt x="158242" y="0"/>
                    <a:pt x="353568" y="0"/>
                  </a:cubicBezTo>
                  <a:cubicBezTo>
                    <a:pt x="548894" y="0"/>
                    <a:pt x="707136" y="158242"/>
                    <a:pt x="707136" y="353568"/>
                  </a:cubicBezTo>
                  <a:cubicBezTo>
                    <a:pt x="707136" y="548894"/>
                    <a:pt x="548767" y="707136"/>
                    <a:pt x="353568" y="707136"/>
                  </a:cubicBezTo>
                  <a:cubicBezTo>
                    <a:pt x="158369" y="707136"/>
                    <a:pt x="0" y="548767"/>
                    <a:pt x="0" y="353568"/>
                  </a:cubicBez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9"/>
            <p:cNvSpPr/>
            <p:nvPr/>
          </p:nvSpPr>
          <p:spPr>
            <a:xfrm>
              <a:off x="0" y="0"/>
              <a:ext cx="724027" cy="724154"/>
            </a:xfrm>
            <a:custGeom>
              <a:rect b="b" l="l" r="r" t="t"/>
              <a:pathLst>
                <a:path extrusionOk="0" h="724154" w="724027">
                  <a:moveTo>
                    <a:pt x="0" y="362077"/>
                  </a:moveTo>
                  <a:cubicBezTo>
                    <a:pt x="0" y="162052"/>
                    <a:pt x="162052" y="0"/>
                    <a:pt x="362077" y="0"/>
                  </a:cubicBezTo>
                  <a:lnTo>
                    <a:pt x="362077" y="8509"/>
                  </a:lnTo>
                  <a:lnTo>
                    <a:pt x="362077" y="0"/>
                  </a:lnTo>
                  <a:cubicBezTo>
                    <a:pt x="561975" y="0"/>
                    <a:pt x="724027" y="162052"/>
                    <a:pt x="724027" y="362077"/>
                  </a:cubicBezTo>
                  <a:lnTo>
                    <a:pt x="715518" y="362077"/>
                  </a:lnTo>
                  <a:lnTo>
                    <a:pt x="724027" y="362077"/>
                  </a:lnTo>
                  <a:cubicBezTo>
                    <a:pt x="724027" y="561975"/>
                    <a:pt x="561975" y="724154"/>
                    <a:pt x="361950" y="724154"/>
                  </a:cubicBezTo>
                  <a:lnTo>
                    <a:pt x="361950" y="715645"/>
                  </a:lnTo>
                  <a:lnTo>
                    <a:pt x="361950" y="724154"/>
                  </a:lnTo>
                  <a:cubicBezTo>
                    <a:pt x="162052" y="724027"/>
                    <a:pt x="0" y="561975"/>
                    <a:pt x="0" y="362077"/>
                  </a:cubicBezTo>
                  <a:lnTo>
                    <a:pt x="8509" y="362077"/>
                  </a:lnTo>
                  <a:lnTo>
                    <a:pt x="17018" y="362077"/>
                  </a:lnTo>
                  <a:lnTo>
                    <a:pt x="8509" y="362077"/>
                  </a:lnTo>
                  <a:lnTo>
                    <a:pt x="0" y="362077"/>
                  </a:lnTo>
                  <a:moveTo>
                    <a:pt x="16891" y="362077"/>
                  </a:moveTo>
                  <a:cubicBezTo>
                    <a:pt x="16891" y="366776"/>
                    <a:pt x="13081" y="370586"/>
                    <a:pt x="8382" y="370586"/>
                  </a:cubicBezTo>
                  <a:cubicBezTo>
                    <a:pt x="3683" y="370586"/>
                    <a:pt x="0" y="366776"/>
                    <a:pt x="0" y="362077"/>
                  </a:cubicBezTo>
                  <a:cubicBezTo>
                    <a:pt x="0" y="357378"/>
                    <a:pt x="3810" y="353568"/>
                    <a:pt x="8509" y="353568"/>
                  </a:cubicBezTo>
                  <a:cubicBezTo>
                    <a:pt x="13208" y="353568"/>
                    <a:pt x="17018" y="357378"/>
                    <a:pt x="17018" y="362077"/>
                  </a:cubicBezTo>
                  <a:cubicBezTo>
                    <a:pt x="17018" y="552704"/>
                    <a:pt x="171577" y="707136"/>
                    <a:pt x="362077" y="707136"/>
                  </a:cubicBezTo>
                  <a:cubicBezTo>
                    <a:pt x="552704" y="707136"/>
                    <a:pt x="707136" y="552577"/>
                    <a:pt x="707136" y="362077"/>
                  </a:cubicBezTo>
                  <a:cubicBezTo>
                    <a:pt x="707136" y="171450"/>
                    <a:pt x="552577" y="17018"/>
                    <a:pt x="362077" y="17018"/>
                  </a:cubicBezTo>
                  <a:lnTo>
                    <a:pt x="362077" y="8509"/>
                  </a:lnTo>
                  <a:lnTo>
                    <a:pt x="362077" y="17018"/>
                  </a:lnTo>
                  <a:cubicBezTo>
                    <a:pt x="171450" y="16891"/>
                    <a:pt x="16891" y="171450"/>
                    <a:pt x="16891" y="362077"/>
                  </a:cubicBez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1" name="Google Shape;691;p29"/>
          <p:cNvGrpSpPr/>
          <p:nvPr/>
        </p:nvGrpSpPr>
        <p:grpSpPr>
          <a:xfrm>
            <a:off x="8357230" y="3273314"/>
            <a:ext cx="225809" cy="187181"/>
            <a:chOff x="0" y="-38100"/>
            <a:chExt cx="602158" cy="499148"/>
          </a:xfrm>
        </p:grpSpPr>
        <p:sp>
          <p:nvSpPr>
            <p:cNvPr id="692" name="Google Shape;692;p29"/>
            <p:cNvSpPr/>
            <p:nvPr/>
          </p:nvSpPr>
          <p:spPr>
            <a:xfrm>
              <a:off x="0" y="0"/>
              <a:ext cx="602152" cy="461048"/>
            </a:xfrm>
            <a:custGeom>
              <a:rect b="b" l="l" r="r" t="t"/>
              <a:pathLst>
                <a:path extrusionOk="0" h="461048" w="602152">
                  <a:moveTo>
                    <a:pt x="0" y="0"/>
                  </a:moveTo>
                  <a:lnTo>
                    <a:pt x="602152" y="0"/>
                  </a:lnTo>
                  <a:lnTo>
                    <a:pt x="602152" y="461048"/>
                  </a:lnTo>
                  <a:lnTo>
                    <a:pt x="0" y="461048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48237" r="-48239" t="0"/>
              </a:stretch>
            </a:blipFill>
            <a:ln>
              <a:noFill/>
            </a:ln>
          </p:spPr>
        </p:sp>
        <p:sp>
          <p:nvSpPr>
            <p:cNvPr id="693" name="Google Shape;693;p29"/>
            <p:cNvSpPr txBox="1"/>
            <p:nvPr/>
          </p:nvSpPr>
          <p:spPr>
            <a:xfrm>
              <a:off x="0" y="-38100"/>
              <a:ext cx="602158" cy="4991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700"/>
            </a:p>
          </p:txBody>
        </p:sp>
      </p:grpSp>
      <p:grpSp>
        <p:nvGrpSpPr>
          <p:cNvPr id="694" name="Google Shape;694;p29"/>
          <p:cNvGrpSpPr/>
          <p:nvPr/>
        </p:nvGrpSpPr>
        <p:grpSpPr>
          <a:xfrm>
            <a:off x="7854310" y="3547634"/>
            <a:ext cx="1231649" cy="141462"/>
            <a:chOff x="0" y="-38100"/>
            <a:chExt cx="3284398" cy="377231"/>
          </a:xfrm>
        </p:grpSpPr>
        <p:sp>
          <p:nvSpPr>
            <p:cNvPr id="695" name="Google Shape;695;p29"/>
            <p:cNvSpPr/>
            <p:nvPr/>
          </p:nvSpPr>
          <p:spPr>
            <a:xfrm>
              <a:off x="0" y="0"/>
              <a:ext cx="3284392" cy="339131"/>
            </a:xfrm>
            <a:custGeom>
              <a:rect b="b" l="l" r="r" t="t"/>
              <a:pathLst>
                <a:path extrusionOk="0" h="339131" w="3284392">
                  <a:moveTo>
                    <a:pt x="0" y="0"/>
                  </a:moveTo>
                  <a:lnTo>
                    <a:pt x="3284392" y="0"/>
                  </a:lnTo>
                  <a:lnTo>
                    <a:pt x="3284392" y="339131"/>
                  </a:lnTo>
                  <a:lnTo>
                    <a:pt x="0" y="3391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38708" l="0" r="0" t="-138708"/>
              </a:stretch>
            </a:blipFill>
            <a:ln>
              <a:noFill/>
            </a:ln>
          </p:spPr>
        </p:sp>
        <p:sp>
          <p:nvSpPr>
            <p:cNvPr id="696" name="Google Shape;696;p29"/>
            <p:cNvSpPr txBox="1"/>
            <p:nvPr/>
          </p:nvSpPr>
          <p:spPr>
            <a:xfrm>
              <a:off x="0" y="-38100"/>
              <a:ext cx="3284398" cy="3772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FIU Package</a:t>
              </a:r>
              <a:endParaRPr sz="700"/>
            </a:p>
          </p:txBody>
        </p:sp>
      </p:grpSp>
      <p:grpSp>
        <p:nvGrpSpPr>
          <p:cNvPr id="697" name="Google Shape;697;p29"/>
          <p:cNvGrpSpPr/>
          <p:nvPr/>
        </p:nvGrpSpPr>
        <p:grpSpPr>
          <a:xfrm>
            <a:off x="7854310" y="3733438"/>
            <a:ext cx="1231649" cy="111747"/>
            <a:chOff x="0" y="-28575"/>
            <a:chExt cx="3284398" cy="297993"/>
          </a:xfrm>
        </p:grpSpPr>
        <p:sp>
          <p:nvSpPr>
            <p:cNvPr id="698" name="Google Shape;698;p29"/>
            <p:cNvSpPr/>
            <p:nvPr/>
          </p:nvSpPr>
          <p:spPr>
            <a:xfrm>
              <a:off x="0" y="0"/>
              <a:ext cx="3284392" cy="269413"/>
            </a:xfrm>
            <a:custGeom>
              <a:rect b="b" l="l" r="r" t="t"/>
              <a:pathLst>
                <a:path extrusionOk="0" h="269413" w="3284392">
                  <a:moveTo>
                    <a:pt x="0" y="0"/>
                  </a:moveTo>
                  <a:lnTo>
                    <a:pt x="3284392" y="0"/>
                  </a:lnTo>
                  <a:lnTo>
                    <a:pt x="3284392" y="269413"/>
                  </a:lnTo>
                  <a:lnTo>
                    <a:pt x="0" y="26941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7543" l="0" r="0" t="-187539"/>
              </a:stretch>
            </a:blipFill>
            <a:ln>
              <a:noFill/>
            </a:ln>
          </p:spPr>
        </p:sp>
        <p:sp>
          <p:nvSpPr>
            <p:cNvPr id="699" name="Google Shape;699;p29"/>
            <p:cNvSpPr txBox="1"/>
            <p:nvPr/>
          </p:nvSpPr>
          <p:spPr>
            <a:xfrm>
              <a:off x="0" y="-28575"/>
              <a:ext cx="3284398" cy="29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SAR + graph export</a:t>
              </a:r>
              <a:endParaRPr sz="700"/>
            </a:p>
          </p:txBody>
        </p:sp>
      </p:grpSp>
      <p:grpSp>
        <p:nvGrpSpPr>
          <p:cNvPr id="700" name="Google Shape;700;p29"/>
          <p:cNvGrpSpPr/>
          <p:nvPr/>
        </p:nvGrpSpPr>
        <p:grpSpPr>
          <a:xfrm>
            <a:off x="7854310" y="3875170"/>
            <a:ext cx="1231649" cy="111747"/>
            <a:chOff x="0" y="-28575"/>
            <a:chExt cx="3284398" cy="297993"/>
          </a:xfrm>
        </p:grpSpPr>
        <p:sp>
          <p:nvSpPr>
            <p:cNvPr id="701" name="Google Shape;701;p29"/>
            <p:cNvSpPr/>
            <p:nvPr/>
          </p:nvSpPr>
          <p:spPr>
            <a:xfrm>
              <a:off x="0" y="0"/>
              <a:ext cx="3284392" cy="269412"/>
            </a:xfrm>
            <a:custGeom>
              <a:rect b="b" l="l" r="r" t="t"/>
              <a:pathLst>
                <a:path extrusionOk="0" h="269412" w="3284392">
                  <a:moveTo>
                    <a:pt x="0" y="0"/>
                  </a:moveTo>
                  <a:lnTo>
                    <a:pt x="3284392" y="0"/>
                  </a:lnTo>
                  <a:lnTo>
                    <a:pt x="3284392" y="269412"/>
                  </a:lnTo>
                  <a:lnTo>
                    <a:pt x="0" y="26941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87543" l="0" r="0" t="-187539"/>
              </a:stretch>
            </a:blipFill>
            <a:ln>
              <a:noFill/>
            </a:ln>
          </p:spPr>
        </p:sp>
        <p:sp>
          <p:nvSpPr>
            <p:cNvPr id="702" name="Google Shape;702;p29"/>
            <p:cNvSpPr txBox="1"/>
            <p:nvPr/>
          </p:nvSpPr>
          <p:spPr>
            <a:xfrm>
              <a:off x="0" y="-28575"/>
              <a:ext cx="3284398" cy="297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PMLA citations</a:t>
              </a:r>
              <a:endParaRPr sz="700"/>
            </a:p>
          </p:txBody>
        </p:sp>
      </p:grpSp>
      <p:grpSp>
        <p:nvGrpSpPr>
          <p:cNvPr id="703" name="Google Shape;703;p29"/>
          <p:cNvGrpSpPr/>
          <p:nvPr/>
        </p:nvGrpSpPr>
        <p:grpSpPr>
          <a:xfrm>
            <a:off x="-18674" y="3057863"/>
            <a:ext cx="1341377" cy="100447"/>
            <a:chOff x="0" y="-28575"/>
            <a:chExt cx="3577006" cy="267858"/>
          </a:xfrm>
        </p:grpSpPr>
        <p:sp>
          <p:nvSpPr>
            <p:cNvPr id="704" name="Google Shape;704;p29"/>
            <p:cNvSpPr/>
            <p:nvPr/>
          </p:nvSpPr>
          <p:spPr>
            <a:xfrm>
              <a:off x="0" y="0"/>
              <a:ext cx="3577003" cy="239283"/>
            </a:xfrm>
            <a:custGeom>
              <a:rect b="b" l="l" r="r" t="t"/>
              <a:pathLst>
                <a:path extrusionOk="0" h="239283" w="3577003">
                  <a:moveTo>
                    <a:pt x="0" y="0"/>
                  </a:moveTo>
                  <a:lnTo>
                    <a:pt x="3577003" y="0"/>
                  </a:lnTo>
                  <a:lnTo>
                    <a:pt x="3577003" y="239283"/>
                  </a:lnTo>
                  <a:lnTo>
                    <a:pt x="0" y="23928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1273" l="0" r="0" t="-241273"/>
              </a:stretch>
            </a:blipFill>
            <a:ln>
              <a:noFill/>
            </a:ln>
          </p:spPr>
        </p:sp>
        <p:sp>
          <p:nvSpPr>
            <p:cNvPr id="705" name="Google Shape;705;p29"/>
            <p:cNvSpPr txBox="1"/>
            <p:nvPr/>
          </p:nvSpPr>
          <p:spPr>
            <a:xfrm>
              <a:off x="0" y="-28575"/>
              <a:ext cx="3577006" cy="267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Core banking · UPI · AA</a:t>
              </a:r>
              <a:endParaRPr sz="700"/>
            </a:p>
          </p:txBody>
        </p:sp>
      </p:grpSp>
      <p:grpSp>
        <p:nvGrpSpPr>
          <p:cNvPr id="706" name="Google Shape;706;p29"/>
          <p:cNvGrpSpPr/>
          <p:nvPr/>
        </p:nvGrpSpPr>
        <p:grpSpPr>
          <a:xfrm>
            <a:off x="1544950" y="3057863"/>
            <a:ext cx="1341377" cy="100447"/>
            <a:chOff x="0" y="-28575"/>
            <a:chExt cx="3577006" cy="267858"/>
          </a:xfrm>
        </p:grpSpPr>
        <p:sp>
          <p:nvSpPr>
            <p:cNvPr id="707" name="Google Shape;707;p29"/>
            <p:cNvSpPr/>
            <p:nvPr/>
          </p:nvSpPr>
          <p:spPr>
            <a:xfrm>
              <a:off x="0" y="0"/>
              <a:ext cx="3577003" cy="239283"/>
            </a:xfrm>
            <a:custGeom>
              <a:rect b="b" l="l" r="r" t="t"/>
              <a:pathLst>
                <a:path extrusionOk="0" h="239283" w="3577003">
                  <a:moveTo>
                    <a:pt x="0" y="0"/>
                  </a:moveTo>
                  <a:lnTo>
                    <a:pt x="3577003" y="0"/>
                  </a:lnTo>
                  <a:lnTo>
                    <a:pt x="3577003" y="239283"/>
                  </a:lnTo>
                  <a:lnTo>
                    <a:pt x="0" y="23928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1273" l="0" r="0" t="-241273"/>
              </a:stretch>
            </a:blipFill>
            <a:ln>
              <a:noFill/>
            </a:ln>
          </p:spPr>
        </p:sp>
        <p:sp>
          <p:nvSpPr>
            <p:cNvPr id="708" name="Google Shape;708;p29"/>
            <p:cNvSpPr txBox="1"/>
            <p:nvPr/>
          </p:nvSpPr>
          <p:spPr>
            <a:xfrm>
              <a:off x="0" y="-28575"/>
              <a:ext cx="3577006" cy="267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PyTorch Geometric</a:t>
              </a:r>
              <a:endParaRPr sz="700"/>
            </a:p>
          </p:txBody>
        </p:sp>
      </p:grpSp>
      <p:grpSp>
        <p:nvGrpSpPr>
          <p:cNvPr id="709" name="Google Shape;709;p29"/>
          <p:cNvGrpSpPr/>
          <p:nvPr/>
        </p:nvGrpSpPr>
        <p:grpSpPr>
          <a:xfrm>
            <a:off x="3108574" y="3057863"/>
            <a:ext cx="1341377" cy="100447"/>
            <a:chOff x="0" y="-28575"/>
            <a:chExt cx="3577006" cy="267858"/>
          </a:xfrm>
        </p:grpSpPr>
        <p:sp>
          <p:nvSpPr>
            <p:cNvPr id="710" name="Google Shape;710;p29"/>
            <p:cNvSpPr/>
            <p:nvPr/>
          </p:nvSpPr>
          <p:spPr>
            <a:xfrm>
              <a:off x="0" y="0"/>
              <a:ext cx="3577000" cy="239283"/>
            </a:xfrm>
            <a:custGeom>
              <a:rect b="b" l="l" r="r" t="t"/>
              <a:pathLst>
                <a:path extrusionOk="0" h="239283" w="3577000">
                  <a:moveTo>
                    <a:pt x="0" y="0"/>
                  </a:moveTo>
                  <a:lnTo>
                    <a:pt x="3577000" y="0"/>
                  </a:lnTo>
                  <a:lnTo>
                    <a:pt x="3577000" y="239283"/>
                  </a:lnTo>
                  <a:lnTo>
                    <a:pt x="0" y="23928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1273" l="0" r="0" t="-241273"/>
              </a:stretch>
            </a:blipFill>
            <a:ln>
              <a:noFill/>
            </a:ln>
          </p:spPr>
        </p:sp>
        <p:sp>
          <p:nvSpPr>
            <p:cNvPr id="711" name="Google Shape;711;p29"/>
            <p:cNvSpPr txBox="1"/>
            <p:nvPr/>
          </p:nvSpPr>
          <p:spPr>
            <a:xfrm>
              <a:off x="0" y="-28575"/>
              <a:ext cx="3577006" cy="267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Pathway sliding windows</a:t>
              </a:r>
              <a:endParaRPr sz="700"/>
            </a:p>
          </p:txBody>
        </p:sp>
      </p:grpSp>
      <p:grpSp>
        <p:nvGrpSpPr>
          <p:cNvPr id="712" name="Google Shape;712;p29"/>
          <p:cNvGrpSpPr/>
          <p:nvPr/>
        </p:nvGrpSpPr>
        <p:grpSpPr>
          <a:xfrm>
            <a:off x="4672198" y="3057863"/>
            <a:ext cx="1341377" cy="100447"/>
            <a:chOff x="0" y="-28575"/>
            <a:chExt cx="3577006" cy="267858"/>
          </a:xfrm>
        </p:grpSpPr>
        <p:sp>
          <p:nvSpPr>
            <p:cNvPr id="713" name="Google Shape;713;p29"/>
            <p:cNvSpPr/>
            <p:nvPr/>
          </p:nvSpPr>
          <p:spPr>
            <a:xfrm>
              <a:off x="0" y="0"/>
              <a:ext cx="3577000" cy="239283"/>
            </a:xfrm>
            <a:custGeom>
              <a:rect b="b" l="l" r="r" t="t"/>
              <a:pathLst>
                <a:path extrusionOk="0" h="239283" w="3577000">
                  <a:moveTo>
                    <a:pt x="0" y="0"/>
                  </a:moveTo>
                  <a:lnTo>
                    <a:pt x="3577000" y="0"/>
                  </a:lnTo>
                  <a:lnTo>
                    <a:pt x="3577000" y="239283"/>
                  </a:lnTo>
                  <a:lnTo>
                    <a:pt x="0" y="23928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1273" l="0" r="0" t="-241273"/>
              </a:stretch>
            </a:blipFill>
            <a:ln>
              <a:noFill/>
            </a:ln>
          </p:spPr>
        </p:sp>
        <p:sp>
          <p:nvSpPr>
            <p:cNvPr id="714" name="Google Shape;714;p29"/>
            <p:cNvSpPr txBox="1"/>
            <p:nvPr/>
          </p:nvSpPr>
          <p:spPr>
            <a:xfrm>
              <a:off x="0" y="-28575"/>
              <a:ext cx="3577006" cy="267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FraudGT · BDH · XGBoost</a:t>
              </a:r>
              <a:endParaRPr sz="700"/>
            </a:p>
          </p:txBody>
        </p:sp>
      </p:grpSp>
      <p:grpSp>
        <p:nvGrpSpPr>
          <p:cNvPr id="715" name="Google Shape;715;p29"/>
          <p:cNvGrpSpPr/>
          <p:nvPr/>
        </p:nvGrpSpPr>
        <p:grpSpPr>
          <a:xfrm>
            <a:off x="6235827" y="3057863"/>
            <a:ext cx="1341377" cy="100447"/>
            <a:chOff x="0" y="-28575"/>
            <a:chExt cx="3577006" cy="267858"/>
          </a:xfrm>
        </p:grpSpPr>
        <p:sp>
          <p:nvSpPr>
            <p:cNvPr id="716" name="Google Shape;716;p29"/>
            <p:cNvSpPr/>
            <p:nvPr/>
          </p:nvSpPr>
          <p:spPr>
            <a:xfrm>
              <a:off x="0" y="0"/>
              <a:ext cx="3577000" cy="239283"/>
            </a:xfrm>
            <a:custGeom>
              <a:rect b="b" l="l" r="r" t="t"/>
              <a:pathLst>
                <a:path extrusionOk="0" h="239283" w="3577000">
                  <a:moveTo>
                    <a:pt x="0" y="0"/>
                  </a:moveTo>
                  <a:lnTo>
                    <a:pt x="3577000" y="0"/>
                  </a:lnTo>
                  <a:lnTo>
                    <a:pt x="3577000" y="239283"/>
                  </a:lnTo>
                  <a:lnTo>
                    <a:pt x="0" y="23928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1273" l="0" r="0" t="-241273"/>
              </a:stretch>
            </a:blipFill>
            <a:ln>
              <a:noFill/>
            </a:ln>
          </p:spPr>
        </p:sp>
        <p:sp>
          <p:nvSpPr>
            <p:cNvPr id="717" name="Google Shape;717;p29"/>
            <p:cNvSpPr txBox="1"/>
            <p:nvPr/>
          </p:nvSpPr>
          <p:spPr>
            <a:xfrm>
              <a:off x="0" y="-28575"/>
              <a:ext cx="3577006" cy="267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Gemini 2.0 Flash + RAG</a:t>
              </a:r>
              <a:endParaRPr sz="700"/>
            </a:p>
          </p:txBody>
        </p:sp>
      </p:grpSp>
      <p:grpSp>
        <p:nvGrpSpPr>
          <p:cNvPr id="718" name="Google Shape;718;p29"/>
          <p:cNvGrpSpPr/>
          <p:nvPr/>
        </p:nvGrpSpPr>
        <p:grpSpPr>
          <a:xfrm>
            <a:off x="7799446" y="3057863"/>
            <a:ext cx="1341377" cy="100447"/>
            <a:chOff x="0" y="-28575"/>
            <a:chExt cx="3577006" cy="267858"/>
          </a:xfrm>
        </p:grpSpPr>
        <p:sp>
          <p:nvSpPr>
            <p:cNvPr id="719" name="Google Shape;719;p29"/>
            <p:cNvSpPr/>
            <p:nvPr/>
          </p:nvSpPr>
          <p:spPr>
            <a:xfrm>
              <a:off x="0" y="0"/>
              <a:ext cx="3577000" cy="239283"/>
            </a:xfrm>
            <a:custGeom>
              <a:rect b="b" l="l" r="r" t="t"/>
              <a:pathLst>
                <a:path extrusionOk="0" h="239283" w="3577000">
                  <a:moveTo>
                    <a:pt x="0" y="0"/>
                  </a:moveTo>
                  <a:lnTo>
                    <a:pt x="3577000" y="0"/>
                  </a:lnTo>
                  <a:lnTo>
                    <a:pt x="3577000" y="239283"/>
                  </a:lnTo>
                  <a:lnTo>
                    <a:pt x="0" y="23928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241273" l="0" r="0" t="-241273"/>
              </a:stretch>
            </a:blipFill>
            <a:ln>
              <a:noFill/>
            </a:ln>
          </p:spPr>
        </p:sp>
        <p:sp>
          <p:nvSpPr>
            <p:cNvPr id="720" name="Google Shape;720;p29"/>
            <p:cNvSpPr txBox="1"/>
            <p:nvPr/>
          </p:nvSpPr>
          <p:spPr>
            <a:xfrm>
              <a:off x="0" y="-28575"/>
              <a:ext cx="3577006" cy="2678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SAR · PDF · Regulatory</a:t>
              </a:r>
              <a:endParaRPr sz="700"/>
            </a:p>
          </p:txBody>
        </p:sp>
      </p:grpSp>
      <p:grpSp>
        <p:nvGrpSpPr>
          <p:cNvPr id="721" name="Google Shape;721;p29"/>
          <p:cNvGrpSpPr/>
          <p:nvPr/>
        </p:nvGrpSpPr>
        <p:grpSpPr>
          <a:xfrm>
            <a:off x="-14102" y="4216689"/>
            <a:ext cx="9150381" cy="353853"/>
            <a:chOff x="0" y="0"/>
            <a:chExt cx="24401018" cy="943610"/>
          </a:xfrm>
        </p:grpSpPr>
        <p:sp>
          <p:nvSpPr>
            <p:cNvPr id="722" name="Google Shape;722;p29"/>
            <p:cNvSpPr/>
            <p:nvPr/>
          </p:nvSpPr>
          <p:spPr>
            <a:xfrm>
              <a:off x="8509" y="8509"/>
              <a:ext cx="24384001" cy="926592"/>
            </a:xfrm>
            <a:custGeom>
              <a:rect b="b" l="l" r="r" t="t"/>
              <a:pathLst>
                <a:path extrusionOk="0" h="926592" w="24384001">
                  <a:moveTo>
                    <a:pt x="0" y="0"/>
                  </a:moveTo>
                  <a:lnTo>
                    <a:pt x="24384001" y="0"/>
                  </a:lnTo>
                  <a:lnTo>
                    <a:pt x="24384001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D47A1"/>
            </a:solidFill>
            <a:ln>
              <a:noFill/>
            </a:ln>
          </p:spPr>
        </p:sp>
        <p:sp>
          <p:nvSpPr>
            <p:cNvPr id="723" name="Google Shape;723;p29"/>
            <p:cNvSpPr/>
            <p:nvPr/>
          </p:nvSpPr>
          <p:spPr>
            <a:xfrm>
              <a:off x="0" y="0"/>
              <a:ext cx="24401018" cy="943610"/>
            </a:xfrm>
            <a:custGeom>
              <a:rect b="b" l="l" r="r" t="t"/>
              <a:pathLst>
                <a:path extrusionOk="0" h="943610" w="24401018">
                  <a:moveTo>
                    <a:pt x="8509" y="0"/>
                  </a:moveTo>
                  <a:lnTo>
                    <a:pt x="24392510" y="0"/>
                  </a:lnTo>
                  <a:cubicBezTo>
                    <a:pt x="24397208" y="0"/>
                    <a:pt x="24401018" y="3810"/>
                    <a:pt x="24401018" y="8509"/>
                  </a:cubicBezTo>
                  <a:lnTo>
                    <a:pt x="24401018" y="935101"/>
                  </a:lnTo>
                  <a:cubicBezTo>
                    <a:pt x="24401018" y="939800"/>
                    <a:pt x="24397208" y="943610"/>
                    <a:pt x="24392510" y="943610"/>
                  </a:cubicBezTo>
                  <a:lnTo>
                    <a:pt x="8509" y="943610"/>
                  </a:lnTo>
                  <a:cubicBezTo>
                    <a:pt x="3810" y="943483"/>
                    <a:pt x="0" y="939800"/>
                    <a:pt x="0" y="935101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935101"/>
                  </a:lnTo>
                  <a:lnTo>
                    <a:pt x="8509" y="935101"/>
                  </a:lnTo>
                  <a:lnTo>
                    <a:pt x="8509" y="926592"/>
                  </a:lnTo>
                  <a:lnTo>
                    <a:pt x="24392510" y="926592"/>
                  </a:lnTo>
                  <a:lnTo>
                    <a:pt x="24392510" y="935101"/>
                  </a:lnTo>
                  <a:lnTo>
                    <a:pt x="24384000" y="935101"/>
                  </a:lnTo>
                  <a:lnTo>
                    <a:pt x="24384000" y="8509"/>
                  </a:lnTo>
                  <a:lnTo>
                    <a:pt x="24392510" y="8509"/>
                  </a:lnTo>
                  <a:lnTo>
                    <a:pt x="2439251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D47A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4" name="Google Shape;724;p29"/>
          <p:cNvGrpSpPr/>
          <p:nvPr/>
        </p:nvGrpSpPr>
        <p:grpSpPr>
          <a:xfrm>
            <a:off x="328798" y="4306643"/>
            <a:ext cx="2840993" cy="159635"/>
            <a:chOff x="0" y="-38100"/>
            <a:chExt cx="7575982" cy="425693"/>
          </a:xfrm>
        </p:grpSpPr>
        <p:sp>
          <p:nvSpPr>
            <p:cNvPr id="725" name="Google Shape;725;p29"/>
            <p:cNvSpPr/>
            <p:nvPr/>
          </p:nvSpPr>
          <p:spPr>
            <a:xfrm>
              <a:off x="0" y="0"/>
              <a:ext cx="7575979" cy="387593"/>
            </a:xfrm>
            <a:custGeom>
              <a:rect b="b" l="l" r="r" t="t"/>
              <a:pathLst>
                <a:path extrusionOk="0" h="387593" w="7575979">
                  <a:moveTo>
                    <a:pt x="0" y="0"/>
                  </a:moveTo>
                  <a:lnTo>
                    <a:pt x="7575979" y="0"/>
                  </a:lnTo>
                  <a:lnTo>
                    <a:pt x="7575979" y="387593"/>
                  </a:lnTo>
                  <a:lnTo>
                    <a:pt x="0" y="38759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0865" l="0" r="0" t="-330865"/>
              </a:stretch>
            </a:blipFill>
            <a:ln>
              <a:noFill/>
            </a:ln>
          </p:spPr>
        </p:sp>
        <p:sp>
          <p:nvSpPr>
            <p:cNvPr id="726" name="Google Shape;726;p29"/>
            <p:cNvSpPr txBox="1"/>
            <p:nvPr/>
          </p:nvSpPr>
          <p:spPr>
            <a:xfrm>
              <a:off x="0" y="-38100"/>
              <a:ext cx="7575982" cy="4256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BBDEFB"/>
                  </a:solidFill>
                  <a:latin typeface="Calibri"/>
                  <a:ea typeface="Calibri"/>
                  <a:cs typeface="Calibri"/>
                  <a:sym typeface="Calibri"/>
                </a:rPr>
                <a:t>  &lt;200ms end-to-end latency  ·  Pathway stateful streaming</a:t>
              </a:r>
              <a:endParaRPr sz="700"/>
            </a:p>
          </p:txBody>
        </p:sp>
      </p:grpSp>
      <p:sp>
        <p:nvSpPr>
          <p:cNvPr id="727" name="Google Shape;727;p29"/>
          <p:cNvSpPr/>
          <p:nvPr/>
        </p:nvSpPr>
        <p:spPr>
          <a:xfrm>
            <a:off x="3178426" y="4274730"/>
            <a:ext cx="3810" cy="237744"/>
          </a:xfrm>
          <a:custGeom>
            <a:rect b="b" l="l" r="r" t="t"/>
            <a:pathLst>
              <a:path extrusionOk="0" h="633984" w="10160">
                <a:moveTo>
                  <a:pt x="10160" y="0"/>
                </a:moveTo>
                <a:lnTo>
                  <a:pt x="10160" y="633984"/>
                </a:lnTo>
                <a:lnTo>
                  <a:pt x="0" y="633984"/>
                </a:lnTo>
                <a:lnTo>
                  <a:pt x="0" y="0"/>
                </a:lnTo>
                <a:close/>
              </a:path>
            </a:pathLst>
          </a:custGeom>
          <a:solidFill>
            <a:srgbClr val="4A7FBF"/>
          </a:solidFill>
          <a:ln>
            <a:noFill/>
          </a:ln>
        </p:spPr>
      </p:sp>
      <p:grpSp>
        <p:nvGrpSpPr>
          <p:cNvPr id="728" name="Google Shape;728;p29"/>
          <p:cNvGrpSpPr/>
          <p:nvPr/>
        </p:nvGrpSpPr>
        <p:grpSpPr>
          <a:xfrm>
            <a:off x="3328030" y="4249493"/>
            <a:ext cx="2840993" cy="273935"/>
            <a:chOff x="0" y="-38100"/>
            <a:chExt cx="7575982" cy="730493"/>
          </a:xfrm>
        </p:grpSpPr>
        <p:sp>
          <p:nvSpPr>
            <p:cNvPr id="729" name="Google Shape;729;p29"/>
            <p:cNvSpPr/>
            <p:nvPr/>
          </p:nvSpPr>
          <p:spPr>
            <a:xfrm>
              <a:off x="0" y="0"/>
              <a:ext cx="7575976" cy="692393"/>
            </a:xfrm>
            <a:custGeom>
              <a:rect b="b" l="l" r="r" t="t"/>
              <a:pathLst>
                <a:path extrusionOk="0" h="692393" w="7575976">
                  <a:moveTo>
                    <a:pt x="0" y="0"/>
                  </a:moveTo>
                  <a:lnTo>
                    <a:pt x="7575976" y="0"/>
                  </a:lnTo>
                  <a:lnTo>
                    <a:pt x="7575976" y="692393"/>
                  </a:lnTo>
                  <a:lnTo>
                    <a:pt x="0" y="69239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63201" l="0" r="0" t="-163201"/>
              </a:stretch>
            </a:blipFill>
            <a:ln>
              <a:noFill/>
            </a:ln>
          </p:spPr>
        </p:sp>
        <p:sp>
          <p:nvSpPr>
            <p:cNvPr id="730" name="Google Shape;730;p29"/>
            <p:cNvSpPr txBox="1"/>
            <p:nvPr/>
          </p:nvSpPr>
          <p:spPr>
            <a:xfrm>
              <a:off x="0" y="-38100"/>
              <a:ext cx="7575982" cy="7304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BBDEFB"/>
                  </a:solidFill>
                  <a:latin typeface="Calibri"/>
                  <a:ea typeface="Calibri"/>
                  <a:cs typeface="Calibri"/>
                  <a:sym typeface="Calibri"/>
                </a:rPr>
                <a:t> FraudGT Graph Transformer  ·  F1: 0.72 on IBM AML-HI-Large (180M txns)</a:t>
              </a:r>
              <a:endParaRPr sz="700"/>
            </a:p>
          </p:txBody>
        </p:sp>
      </p:grpSp>
      <p:sp>
        <p:nvSpPr>
          <p:cNvPr id="731" name="Google Shape;731;p29"/>
          <p:cNvSpPr/>
          <p:nvPr/>
        </p:nvSpPr>
        <p:spPr>
          <a:xfrm>
            <a:off x="6177658" y="4274730"/>
            <a:ext cx="3810" cy="237744"/>
          </a:xfrm>
          <a:custGeom>
            <a:rect b="b" l="l" r="r" t="t"/>
            <a:pathLst>
              <a:path extrusionOk="0" h="633984" w="10160">
                <a:moveTo>
                  <a:pt x="10160" y="0"/>
                </a:moveTo>
                <a:lnTo>
                  <a:pt x="10160" y="633984"/>
                </a:lnTo>
                <a:lnTo>
                  <a:pt x="0" y="633984"/>
                </a:lnTo>
                <a:lnTo>
                  <a:pt x="0" y="0"/>
                </a:lnTo>
                <a:close/>
              </a:path>
            </a:pathLst>
          </a:custGeom>
          <a:solidFill>
            <a:srgbClr val="4A7FBF"/>
          </a:solidFill>
          <a:ln>
            <a:noFill/>
          </a:ln>
        </p:spPr>
      </p:sp>
      <p:grpSp>
        <p:nvGrpSpPr>
          <p:cNvPr id="732" name="Google Shape;732;p29"/>
          <p:cNvGrpSpPr/>
          <p:nvPr/>
        </p:nvGrpSpPr>
        <p:grpSpPr>
          <a:xfrm>
            <a:off x="6354694" y="4296823"/>
            <a:ext cx="2840993" cy="159635"/>
            <a:chOff x="0" y="-38100"/>
            <a:chExt cx="7575982" cy="425693"/>
          </a:xfrm>
        </p:grpSpPr>
        <p:sp>
          <p:nvSpPr>
            <p:cNvPr id="733" name="Google Shape;733;p29"/>
            <p:cNvSpPr/>
            <p:nvPr/>
          </p:nvSpPr>
          <p:spPr>
            <a:xfrm>
              <a:off x="0" y="0"/>
              <a:ext cx="7575977" cy="387593"/>
            </a:xfrm>
            <a:custGeom>
              <a:rect b="b" l="l" r="r" t="t"/>
              <a:pathLst>
                <a:path extrusionOk="0" h="387593" w="7575977">
                  <a:moveTo>
                    <a:pt x="0" y="0"/>
                  </a:moveTo>
                  <a:lnTo>
                    <a:pt x="7575977" y="0"/>
                  </a:lnTo>
                  <a:lnTo>
                    <a:pt x="7575977" y="387593"/>
                  </a:lnTo>
                  <a:lnTo>
                    <a:pt x="0" y="38759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30865" l="0" r="0" t="-330865"/>
              </a:stretch>
            </a:blipFill>
            <a:ln>
              <a:noFill/>
            </a:ln>
          </p:spPr>
        </p:sp>
        <p:sp>
          <p:nvSpPr>
            <p:cNvPr id="734" name="Google Shape;734;p29"/>
            <p:cNvSpPr txBox="1"/>
            <p:nvPr/>
          </p:nvSpPr>
          <p:spPr>
            <a:xfrm>
              <a:off x="0" y="-38100"/>
              <a:ext cx="7575982" cy="4256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BBDEFB"/>
                  </a:solidFill>
                  <a:latin typeface="Calibri"/>
                  <a:ea typeface="Calibri"/>
                  <a:cs typeface="Calibri"/>
                  <a:sym typeface="Calibri"/>
                </a:rPr>
                <a:t>To be deployed on AWS  ·  FastAPI backend  ·  React + Vite dashboard</a:t>
              </a:r>
              <a:endParaRPr sz="700"/>
            </a:p>
          </p:txBody>
        </p:sp>
      </p:grpSp>
      <p:grpSp>
        <p:nvGrpSpPr>
          <p:cNvPr id="735" name="Google Shape;735;p29"/>
          <p:cNvGrpSpPr/>
          <p:nvPr/>
        </p:nvGrpSpPr>
        <p:grpSpPr>
          <a:xfrm>
            <a:off x="1074335" y="4618773"/>
            <a:ext cx="1678400" cy="480536"/>
            <a:chOff x="0" y="0"/>
            <a:chExt cx="4475734" cy="1281430"/>
          </a:xfrm>
        </p:grpSpPr>
        <p:sp>
          <p:nvSpPr>
            <p:cNvPr id="736" name="Google Shape;736;p29"/>
            <p:cNvSpPr/>
            <p:nvPr/>
          </p:nvSpPr>
          <p:spPr>
            <a:xfrm>
              <a:off x="6731" y="6731"/>
              <a:ext cx="4462272" cy="1267968"/>
            </a:xfrm>
            <a:custGeom>
              <a:rect b="b" l="l" r="r" t="t"/>
              <a:pathLst>
                <a:path extrusionOk="0" h="1267968" w="4462272">
                  <a:moveTo>
                    <a:pt x="0" y="0"/>
                  </a:moveTo>
                  <a:lnTo>
                    <a:pt x="4462272" y="0"/>
                  </a:lnTo>
                  <a:lnTo>
                    <a:pt x="446227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37" name="Google Shape;737;p29"/>
            <p:cNvSpPr/>
            <p:nvPr/>
          </p:nvSpPr>
          <p:spPr>
            <a:xfrm>
              <a:off x="0" y="0"/>
              <a:ext cx="4475734" cy="1281430"/>
            </a:xfrm>
            <a:custGeom>
              <a:rect b="b" l="l" r="r" t="t"/>
              <a:pathLst>
                <a:path extrusionOk="0" h="1281430" w="4475734">
                  <a:moveTo>
                    <a:pt x="6731" y="0"/>
                  </a:moveTo>
                  <a:lnTo>
                    <a:pt x="4469003" y="0"/>
                  </a:lnTo>
                  <a:cubicBezTo>
                    <a:pt x="4472686" y="0"/>
                    <a:pt x="4475734" y="3048"/>
                    <a:pt x="4475734" y="6731"/>
                  </a:cubicBezTo>
                  <a:lnTo>
                    <a:pt x="4475734" y="1274699"/>
                  </a:lnTo>
                  <a:cubicBezTo>
                    <a:pt x="4475734" y="1278382"/>
                    <a:pt x="4472686" y="1281430"/>
                    <a:pt x="4469003" y="1281430"/>
                  </a:cubicBezTo>
                  <a:lnTo>
                    <a:pt x="6731" y="1281430"/>
                  </a:lnTo>
                  <a:cubicBezTo>
                    <a:pt x="3048" y="1281430"/>
                    <a:pt x="0" y="1278382"/>
                    <a:pt x="0" y="1274699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274699"/>
                  </a:lnTo>
                  <a:lnTo>
                    <a:pt x="6731" y="1274699"/>
                  </a:lnTo>
                  <a:lnTo>
                    <a:pt x="6731" y="1267968"/>
                  </a:lnTo>
                  <a:lnTo>
                    <a:pt x="4469003" y="1267968"/>
                  </a:lnTo>
                  <a:lnTo>
                    <a:pt x="4469003" y="1274699"/>
                  </a:lnTo>
                  <a:lnTo>
                    <a:pt x="4462272" y="1274699"/>
                  </a:lnTo>
                  <a:lnTo>
                    <a:pt x="4462272" y="6731"/>
                  </a:lnTo>
                  <a:lnTo>
                    <a:pt x="4469003" y="6731"/>
                  </a:lnTo>
                  <a:lnTo>
                    <a:pt x="4469003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8" name="Google Shape;738;p29"/>
          <p:cNvGrpSpPr/>
          <p:nvPr/>
        </p:nvGrpSpPr>
        <p:grpSpPr>
          <a:xfrm>
            <a:off x="1073696" y="4618139"/>
            <a:ext cx="1679733" cy="97821"/>
            <a:chOff x="0" y="0"/>
            <a:chExt cx="4479290" cy="260858"/>
          </a:xfrm>
        </p:grpSpPr>
        <p:sp>
          <p:nvSpPr>
            <p:cNvPr id="739" name="Google Shape;739;p29"/>
            <p:cNvSpPr/>
            <p:nvPr/>
          </p:nvSpPr>
          <p:spPr>
            <a:xfrm>
              <a:off x="8509" y="8509"/>
              <a:ext cx="4462272" cy="243840"/>
            </a:xfrm>
            <a:custGeom>
              <a:rect b="b" l="l" r="r" t="t"/>
              <a:pathLst>
                <a:path extrusionOk="0" h="243840" w="4462272">
                  <a:moveTo>
                    <a:pt x="0" y="0"/>
                  </a:moveTo>
                  <a:lnTo>
                    <a:pt x="4462272" y="0"/>
                  </a:lnTo>
                  <a:lnTo>
                    <a:pt x="446227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</p:sp>
        <p:sp>
          <p:nvSpPr>
            <p:cNvPr id="740" name="Google Shape;740;p29"/>
            <p:cNvSpPr/>
            <p:nvPr/>
          </p:nvSpPr>
          <p:spPr>
            <a:xfrm>
              <a:off x="0" y="0"/>
              <a:ext cx="4479290" cy="260858"/>
            </a:xfrm>
            <a:custGeom>
              <a:rect b="b" l="l" r="r" t="t"/>
              <a:pathLst>
                <a:path extrusionOk="0" h="260858" w="4479290">
                  <a:moveTo>
                    <a:pt x="8509" y="0"/>
                  </a:moveTo>
                  <a:lnTo>
                    <a:pt x="4470781" y="0"/>
                  </a:lnTo>
                  <a:cubicBezTo>
                    <a:pt x="4475480" y="0"/>
                    <a:pt x="4479290" y="3810"/>
                    <a:pt x="4479290" y="8509"/>
                  </a:cubicBezTo>
                  <a:lnTo>
                    <a:pt x="4479290" y="252349"/>
                  </a:lnTo>
                  <a:cubicBezTo>
                    <a:pt x="4479290" y="257048"/>
                    <a:pt x="4475480" y="260858"/>
                    <a:pt x="4470781" y="260858"/>
                  </a:cubicBezTo>
                  <a:lnTo>
                    <a:pt x="8509" y="260858"/>
                  </a:lnTo>
                  <a:cubicBezTo>
                    <a:pt x="3810" y="260858"/>
                    <a:pt x="0" y="257048"/>
                    <a:pt x="0" y="2523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52349"/>
                  </a:lnTo>
                  <a:lnTo>
                    <a:pt x="8509" y="252349"/>
                  </a:lnTo>
                  <a:lnTo>
                    <a:pt x="8509" y="243840"/>
                  </a:lnTo>
                  <a:lnTo>
                    <a:pt x="4470781" y="243840"/>
                  </a:lnTo>
                  <a:lnTo>
                    <a:pt x="4470781" y="252349"/>
                  </a:lnTo>
                  <a:lnTo>
                    <a:pt x="4462272" y="252349"/>
                  </a:lnTo>
                  <a:lnTo>
                    <a:pt x="4462272" y="8509"/>
                  </a:lnTo>
                  <a:lnTo>
                    <a:pt x="4470781" y="8509"/>
                  </a:lnTo>
                  <a:lnTo>
                    <a:pt x="447078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1565C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Google Shape;741;p29"/>
          <p:cNvGrpSpPr/>
          <p:nvPr/>
        </p:nvGrpSpPr>
        <p:grpSpPr>
          <a:xfrm>
            <a:off x="1151420" y="4697601"/>
            <a:ext cx="1524257" cy="246613"/>
            <a:chOff x="0" y="-57150"/>
            <a:chExt cx="4064686" cy="657633"/>
          </a:xfrm>
        </p:grpSpPr>
        <p:sp>
          <p:nvSpPr>
            <p:cNvPr id="742" name="Google Shape;742;p29"/>
            <p:cNvSpPr/>
            <p:nvPr/>
          </p:nvSpPr>
          <p:spPr>
            <a:xfrm>
              <a:off x="0" y="0"/>
              <a:ext cx="4064683" cy="600483"/>
            </a:xfrm>
            <a:custGeom>
              <a:rect b="b" l="l" r="r" t="t"/>
              <a:pathLst>
                <a:path extrusionOk="0" h="600483" w="4064683">
                  <a:moveTo>
                    <a:pt x="0" y="0"/>
                  </a:moveTo>
                  <a:lnTo>
                    <a:pt x="4064683" y="0"/>
                  </a:lnTo>
                  <a:lnTo>
                    <a:pt x="4064683" y="600483"/>
                  </a:lnTo>
                  <a:lnTo>
                    <a:pt x="0" y="60048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1891" l="0" r="0" t="-81891"/>
              </a:stretch>
            </a:blipFill>
            <a:ln>
              <a:noFill/>
            </a:ln>
          </p:spPr>
        </p:sp>
        <p:sp>
          <p:nvSpPr>
            <p:cNvPr id="743" name="Google Shape;743;p29"/>
            <p:cNvSpPr txBox="1"/>
            <p:nvPr/>
          </p:nvSpPr>
          <p:spPr>
            <a:xfrm>
              <a:off x="0" y="-57150"/>
              <a:ext cx="4064686" cy="657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300" u="none" cap="none" strike="noStrike">
                  <a:solidFill>
                    <a:srgbClr val="1565C0"/>
                  </a:solidFill>
                  <a:latin typeface="Calibri"/>
                  <a:ea typeface="Calibri"/>
                  <a:cs typeface="Calibri"/>
                  <a:sym typeface="Calibri"/>
                </a:rPr>
                <a:t>&lt;200ms</a:t>
              </a:r>
              <a:endParaRPr sz="700"/>
            </a:p>
          </p:txBody>
        </p:sp>
      </p:grpSp>
      <p:grpSp>
        <p:nvGrpSpPr>
          <p:cNvPr id="744" name="Google Shape;744;p29"/>
          <p:cNvGrpSpPr/>
          <p:nvPr/>
        </p:nvGrpSpPr>
        <p:grpSpPr>
          <a:xfrm>
            <a:off x="1151420" y="4939560"/>
            <a:ext cx="1524257" cy="157465"/>
            <a:chOff x="0" y="-28575"/>
            <a:chExt cx="4064686" cy="419906"/>
          </a:xfrm>
        </p:grpSpPr>
        <p:sp>
          <p:nvSpPr>
            <p:cNvPr id="745" name="Google Shape;745;p29"/>
            <p:cNvSpPr/>
            <p:nvPr/>
          </p:nvSpPr>
          <p:spPr>
            <a:xfrm>
              <a:off x="0" y="0"/>
              <a:ext cx="4064683" cy="391331"/>
            </a:xfrm>
            <a:custGeom>
              <a:rect b="b" l="l" r="r" t="t"/>
              <a:pathLst>
                <a:path extrusionOk="0" h="391331" w="4064683">
                  <a:moveTo>
                    <a:pt x="0" y="0"/>
                  </a:moveTo>
                  <a:lnTo>
                    <a:pt x="4064683" y="0"/>
                  </a:lnTo>
                  <a:lnTo>
                    <a:pt x="4064683" y="391331"/>
                  </a:lnTo>
                  <a:lnTo>
                    <a:pt x="0" y="3913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52386" l="0" r="0" t="-152390"/>
              </a:stretch>
            </a:blipFill>
            <a:ln>
              <a:noFill/>
            </a:ln>
          </p:spPr>
        </p:sp>
        <p:sp>
          <p:nvSpPr>
            <p:cNvPr id="746" name="Google Shape;746;p29"/>
            <p:cNvSpPr txBox="1"/>
            <p:nvPr/>
          </p:nvSpPr>
          <p:spPr>
            <a:xfrm>
              <a:off x="0" y="-28575"/>
              <a:ext cx="4064686" cy="41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Detection latency</a:t>
              </a:r>
              <a:endParaRPr sz="700"/>
            </a:p>
          </p:txBody>
        </p:sp>
      </p:grpSp>
      <p:grpSp>
        <p:nvGrpSpPr>
          <p:cNvPr id="747" name="Google Shape;747;p29"/>
          <p:cNvGrpSpPr/>
          <p:nvPr/>
        </p:nvGrpSpPr>
        <p:grpSpPr>
          <a:xfrm>
            <a:off x="2793406" y="4618773"/>
            <a:ext cx="1678400" cy="480536"/>
            <a:chOff x="0" y="0"/>
            <a:chExt cx="4475734" cy="1281430"/>
          </a:xfrm>
        </p:grpSpPr>
        <p:sp>
          <p:nvSpPr>
            <p:cNvPr id="748" name="Google Shape;748;p29"/>
            <p:cNvSpPr/>
            <p:nvPr/>
          </p:nvSpPr>
          <p:spPr>
            <a:xfrm>
              <a:off x="6731" y="6731"/>
              <a:ext cx="4462272" cy="1267968"/>
            </a:xfrm>
            <a:custGeom>
              <a:rect b="b" l="l" r="r" t="t"/>
              <a:pathLst>
                <a:path extrusionOk="0" h="1267968" w="4462272">
                  <a:moveTo>
                    <a:pt x="0" y="0"/>
                  </a:moveTo>
                  <a:lnTo>
                    <a:pt x="4462272" y="0"/>
                  </a:lnTo>
                  <a:lnTo>
                    <a:pt x="446227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49" name="Google Shape;749;p29"/>
            <p:cNvSpPr/>
            <p:nvPr/>
          </p:nvSpPr>
          <p:spPr>
            <a:xfrm>
              <a:off x="0" y="0"/>
              <a:ext cx="4475734" cy="1281430"/>
            </a:xfrm>
            <a:custGeom>
              <a:rect b="b" l="l" r="r" t="t"/>
              <a:pathLst>
                <a:path extrusionOk="0" h="1281430" w="4475734">
                  <a:moveTo>
                    <a:pt x="6731" y="0"/>
                  </a:moveTo>
                  <a:lnTo>
                    <a:pt x="4469003" y="0"/>
                  </a:lnTo>
                  <a:cubicBezTo>
                    <a:pt x="4472686" y="0"/>
                    <a:pt x="4475734" y="3048"/>
                    <a:pt x="4475734" y="6731"/>
                  </a:cubicBezTo>
                  <a:lnTo>
                    <a:pt x="4475734" y="1274699"/>
                  </a:lnTo>
                  <a:cubicBezTo>
                    <a:pt x="4475734" y="1278382"/>
                    <a:pt x="4472686" y="1281430"/>
                    <a:pt x="4469003" y="1281430"/>
                  </a:cubicBezTo>
                  <a:lnTo>
                    <a:pt x="6731" y="1281430"/>
                  </a:lnTo>
                  <a:cubicBezTo>
                    <a:pt x="3048" y="1281430"/>
                    <a:pt x="0" y="1278382"/>
                    <a:pt x="0" y="1274699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274699"/>
                  </a:lnTo>
                  <a:lnTo>
                    <a:pt x="6731" y="1274699"/>
                  </a:lnTo>
                  <a:lnTo>
                    <a:pt x="6731" y="1267968"/>
                  </a:lnTo>
                  <a:lnTo>
                    <a:pt x="4469003" y="1267968"/>
                  </a:lnTo>
                  <a:lnTo>
                    <a:pt x="4469003" y="1274699"/>
                  </a:lnTo>
                  <a:lnTo>
                    <a:pt x="4462272" y="1274699"/>
                  </a:lnTo>
                  <a:lnTo>
                    <a:pt x="4462272" y="6731"/>
                  </a:lnTo>
                  <a:lnTo>
                    <a:pt x="4469003" y="6731"/>
                  </a:lnTo>
                  <a:lnTo>
                    <a:pt x="4469003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29"/>
          <p:cNvGrpSpPr/>
          <p:nvPr/>
        </p:nvGrpSpPr>
        <p:grpSpPr>
          <a:xfrm>
            <a:off x="2792773" y="4618139"/>
            <a:ext cx="1679734" cy="97821"/>
            <a:chOff x="0" y="0"/>
            <a:chExt cx="4479290" cy="260858"/>
          </a:xfrm>
        </p:grpSpPr>
        <p:sp>
          <p:nvSpPr>
            <p:cNvPr id="751" name="Google Shape;751;p29"/>
            <p:cNvSpPr/>
            <p:nvPr/>
          </p:nvSpPr>
          <p:spPr>
            <a:xfrm>
              <a:off x="8509" y="8509"/>
              <a:ext cx="4462272" cy="243840"/>
            </a:xfrm>
            <a:custGeom>
              <a:rect b="b" l="l" r="r" t="t"/>
              <a:pathLst>
                <a:path extrusionOk="0" h="243840" w="4462272">
                  <a:moveTo>
                    <a:pt x="0" y="0"/>
                  </a:moveTo>
                  <a:lnTo>
                    <a:pt x="4462272" y="0"/>
                  </a:lnTo>
                  <a:lnTo>
                    <a:pt x="446227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</p:sp>
        <p:sp>
          <p:nvSpPr>
            <p:cNvPr id="752" name="Google Shape;752;p29"/>
            <p:cNvSpPr/>
            <p:nvPr/>
          </p:nvSpPr>
          <p:spPr>
            <a:xfrm>
              <a:off x="0" y="0"/>
              <a:ext cx="4479290" cy="260858"/>
            </a:xfrm>
            <a:custGeom>
              <a:rect b="b" l="l" r="r" t="t"/>
              <a:pathLst>
                <a:path extrusionOk="0" h="260858" w="4479290">
                  <a:moveTo>
                    <a:pt x="8509" y="0"/>
                  </a:moveTo>
                  <a:lnTo>
                    <a:pt x="4470781" y="0"/>
                  </a:lnTo>
                  <a:cubicBezTo>
                    <a:pt x="4475480" y="0"/>
                    <a:pt x="4479290" y="3810"/>
                    <a:pt x="4479290" y="8509"/>
                  </a:cubicBezTo>
                  <a:lnTo>
                    <a:pt x="4479290" y="252349"/>
                  </a:lnTo>
                  <a:cubicBezTo>
                    <a:pt x="4479290" y="257048"/>
                    <a:pt x="4475480" y="260858"/>
                    <a:pt x="4470781" y="260858"/>
                  </a:cubicBezTo>
                  <a:lnTo>
                    <a:pt x="8509" y="260858"/>
                  </a:lnTo>
                  <a:cubicBezTo>
                    <a:pt x="3810" y="260858"/>
                    <a:pt x="0" y="257048"/>
                    <a:pt x="0" y="2523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52349"/>
                  </a:lnTo>
                  <a:lnTo>
                    <a:pt x="8509" y="252349"/>
                  </a:lnTo>
                  <a:lnTo>
                    <a:pt x="8509" y="243840"/>
                  </a:lnTo>
                  <a:lnTo>
                    <a:pt x="4470781" y="243840"/>
                  </a:lnTo>
                  <a:lnTo>
                    <a:pt x="4470781" y="252349"/>
                  </a:lnTo>
                  <a:lnTo>
                    <a:pt x="4462272" y="252349"/>
                  </a:lnTo>
                  <a:lnTo>
                    <a:pt x="4462272" y="8509"/>
                  </a:lnTo>
                  <a:lnTo>
                    <a:pt x="4470781" y="8509"/>
                  </a:lnTo>
                  <a:lnTo>
                    <a:pt x="447078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4527A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3" name="Google Shape;753;p29"/>
          <p:cNvGrpSpPr/>
          <p:nvPr/>
        </p:nvGrpSpPr>
        <p:grpSpPr>
          <a:xfrm>
            <a:off x="2870492" y="4697601"/>
            <a:ext cx="1524257" cy="246613"/>
            <a:chOff x="0" y="-57150"/>
            <a:chExt cx="4064686" cy="657633"/>
          </a:xfrm>
        </p:grpSpPr>
        <p:sp>
          <p:nvSpPr>
            <p:cNvPr id="754" name="Google Shape;754;p29"/>
            <p:cNvSpPr/>
            <p:nvPr/>
          </p:nvSpPr>
          <p:spPr>
            <a:xfrm>
              <a:off x="0" y="0"/>
              <a:ext cx="4064680" cy="600483"/>
            </a:xfrm>
            <a:custGeom>
              <a:rect b="b" l="l" r="r" t="t"/>
              <a:pathLst>
                <a:path extrusionOk="0" h="600483" w="4064680">
                  <a:moveTo>
                    <a:pt x="0" y="0"/>
                  </a:moveTo>
                  <a:lnTo>
                    <a:pt x="4064680" y="0"/>
                  </a:lnTo>
                  <a:lnTo>
                    <a:pt x="4064680" y="600483"/>
                  </a:lnTo>
                  <a:lnTo>
                    <a:pt x="0" y="60048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1891" l="0" r="0" t="-81891"/>
              </a:stretch>
            </a:blipFill>
            <a:ln>
              <a:noFill/>
            </a:ln>
          </p:spPr>
        </p:sp>
        <p:sp>
          <p:nvSpPr>
            <p:cNvPr id="755" name="Google Shape;755;p29"/>
            <p:cNvSpPr txBox="1"/>
            <p:nvPr/>
          </p:nvSpPr>
          <p:spPr>
            <a:xfrm>
              <a:off x="0" y="-57150"/>
              <a:ext cx="4064686" cy="657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300" u="none" cap="none" strike="noStrike">
                  <a:solidFill>
                    <a:srgbClr val="4527A0"/>
                  </a:solidFill>
                  <a:latin typeface="Calibri"/>
                  <a:ea typeface="Calibri"/>
                  <a:cs typeface="Calibri"/>
                  <a:sym typeface="Calibri"/>
                </a:rPr>
                <a:t>F1: 0.72</a:t>
              </a:r>
              <a:endParaRPr sz="700"/>
            </a:p>
          </p:txBody>
        </p:sp>
      </p:grpSp>
      <p:grpSp>
        <p:nvGrpSpPr>
          <p:cNvPr id="756" name="Google Shape;756;p29"/>
          <p:cNvGrpSpPr/>
          <p:nvPr/>
        </p:nvGrpSpPr>
        <p:grpSpPr>
          <a:xfrm>
            <a:off x="2870492" y="4939560"/>
            <a:ext cx="1524257" cy="157465"/>
            <a:chOff x="0" y="-28575"/>
            <a:chExt cx="4064686" cy="419906"/>
          </a:xfrm>
        </p:grpSpPr>
        <p:sp>
          <p:nvSpPr>
            <p:cNvPr id="757" name="Google Shape;757;p29"/>
            <p:cNvSpPr/>
            <p:nvPr/>
          </p:nvSpPr>
          <p:spPr>
            <a:xfrm>
              <a:off x="0" y="0"/>
              <a:ext cx="4064680" cy="391331"/>
            </a:xfrm>
            <a:custGeom>
              <a:rect b="b" l="l" r="r" t="t"/>
              <a:pathLst>
                <a:path extrusionOk="0" h="391331" w="4064680">
                  <a:moveTo>
                    <a:pt x="0" y="0"/>
                  </a:moveTo>
                  <a:lnTo>
                    <a:pt x="4064680" y="0"/>
                  </a:lnTo>
                  <a:lnTo>
                    <a:pt x="4064680" y="391331"/>
                  </a:lnTo>
                  <a:lnTo>
                    <a:pt x="0" y="3913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52386" l="0" r="0" t="-152390"/>
              </a:stretch>
            </a:blipFill>
            <a:ln>
              <a:noFill/>
            </a:ln>
          </p:spPr>
        </p:sp>
        <p:sp>
          <p:nvSpPr>
            <p:cNvPr id="758" name="Google Shape;758;p29"/>
            <p:cNvSpPr txBox="1"/>
            <p:nvPr/>
          </p:nvSpPr>
          <p:spPr>
            <a:xfrm>
              <a:off x="0" y="-28575"/>
              <a:ext cx="4064686" cy="41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IBM AML benchmark</a:t>
              </a:r>
              <a:endParaRPr sz="700"/>
            </a:p>
          </p:txBody>
        </p:sp>
      </p:grpSp>
      <p:grpSp>
        <p:nvGrpSpPr>
          <p:cNvPr id="759" name="Google Shape;759;p29"/>
          <p:cNvGrpSpPr/>
          <p:nvPr/>
        </p:nvGrpSpPr>
        <p:grpSpPr>
          <a:xfrm>
            <a:off x="4558494" y="4618773"/>
            <a:ext cx="1678400" cy="480536"/>
            <a:chOff x="0" y="0"/>
            <a:chExt cx="4475734" cy="1281430"/>
          </a:xfrm>
        </p:grpSpPr>
        <p:sp>
          <p:nvSpPr>
            <p:cNvPr id="760" name="Google Shape;760;p29"/>
            <p:cNvSpPr/>
            <p:nvPr/>
          </p:nvSpPr>
          <p:spPr>
            <a:xfrm>
              <a:off x="6731" y="6731"/>
              <a:ext cx="4462272" cy="1267968"/>
            </a:xfrm>
            <a:custGeom>
              <a:rect b="b" l="l" r="r" t="t"/>
              <a:pathLst>
                <a:path extrusionOk="0" h="1267968" w="4462272">
                  <a:moveTo>
                    <a:pt x="0" y="0"/>
                  </a:moveTo>
                  <a:lnTo>
                    <a:pt x="4462272" y="0"/>
                  </a:lnTo>
                  <a:lnTo>
                    <a:pt x="446227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61" name="Google Shape;761;p29"/>
            <p:cNvSpPr/>
            <p:nvPr/>
          </p:nvSpPr>
          <p:spPr>
            <a:xfrm>
              <a:off x="0" y="0"/>
              <a:ext cx="4475734" cy="1281430"/>
            </a:xfrm>
            <a:custGeom>
              <a:rect b="b" l="l" r="r" t="t"/>
              <a:pathLst>
                <a:path extrusionOk="0" h="1281430" w="4475734">
                  <a:moveTo>
                    <a:pt x="6731" y="0"/>
                  </a:moveTo>
                  <a:lnTo>
                    <a:pt x="4469003" y="0"/>
                  </a:lnTo>
                  <a:cubicBezTo>
                    <a:pt x="4472686" y="0"/>
                    <a:pt x="4475734" y="3048"/>
                    <a:pt x="4475734" y="6731"/>
                  </a:cubicBezTo>
                  <a:lnTo>
                    <a:pt x="4475734" y="1274699"/>
                  </a:lnTo>
                  <a:cubicBezTo>
                    <a:pt x="4475734" y="1278382"/>
                    <a:pt x="4472686" y="1281430"/>
                    <a:pt x="4469003" y="1281430"/>
                  </a:cubicBezTo>
                  <a:lnTo>
                    <a:pt x="6731" y="1281430"/>
                  </a:lnTo>
                  <a:cubicBezTo>
                    <a:pt x="3048" y="1281430"/>
                    <a:pt x="0" y="1278382"/>
                    <a:pt x="0" y="1274699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274699"/>
                  </a:lnTo>
                  <a:lnTo>
                    <a:pt x="6731" y="1274699"/>
                  </a:lnTo>
                  <a:lnTo>
                    <a:pt x="6731" y="1267968"/>
                  </a:lnTo>
                  <a:lnTo>
                    <a:pt x="4469003" y="1267968"/>
                  </a:lnTo>
                  <a:lnTo>
                    <a:pt x="4469003" y="1274699"/>
                  </a:lnTo>
                  <a:lnTo>
                    <a:pt x="4462272" y="1274699"/>
                  </a:lnTo>
                  <a:lnTo>
                    <a:pt x="4462272" y="6731"/>
                  </a:lnTo>
                  <a:lnTo>
                    <a:pt x="4469003" y="6731"/>
                  </a:lnTo>
                  <a:lnTo>
                    <a:pt x="4469003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2" name="Google Shape;762;p29"/>
          <p:cNvGrpSpPr/>
          <p:nvPr/>
        </p:nvGrpSpPr>
        <p:grpSpPr>
          <a:xfrm>
            <a:off x="4557855" y="4618139"/>
            <a:ext cx="1679734" cy="97821"/>
            <a:chOff x="0" y="0"/>
            <a:chExt cx="4479290" cy="260858"/>
          </a:xfrm>
        </p:grpSpPr>
        <p:sp>
          <p:nvSpPr>
            <p:cNvPr id="763" name="Google Shape;763;p29"/>
            <p:cNvSpPr/>
            <p:nvPr/>
          </p:nvSpPr>
          <p:spPr>
            <a:xfrm>
              <a:off x="8509" y="8509"/>
              <a:ext cx="4462272" cy="243840"/>
            </a:xfrm>
            <a:custGeom>
              <a:rect b="b" l="l" r="r" t="t"/>
              <a:pathLst>
                <a:path extrusionOk="0" h="243840" w="4462272">
                  <a:moveTo>
                    <a:pt x="0" y="0"/>
                  </a:moveTo>
                  <a:lnTo>
                    <a:pt x="4462272" y="0"/>
                  </a:lnTo>
                  <a:lnTo>
                    <a:pt x="446227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</p:sp>
        <p:sp>
          <p:nvSpPr>
            <p:cNvPr id="764" name="Google Shape;764;p29"/>
            <p:cNvSpPr/>
            <p:nvPr/>
          </p:nvSpPr>
          <p:spPr>
            <a:xfrm>
              <a:off x="0" y="0"/>
              <a:ext cx="4479290" cy="260858"/>
            </a:xfrm>
            <a:custGeom>
              <a:rect b="b" l="l" r="r" t="t"/>
              <a:pathLst>
                <a:path extrusionOk="0" h="260858" w="4479290">
                  <a:moveTo>
                    <a:pt x="8509" y="0"/>
                  </a:moveTo>
                  <a:lnTo>
                    <a:pt x="4470781" y="0"/>
                  </a:lnTo>
                  <a:cubicBezTo>
                    <a:pt x="4475480" y="0"/>
                    <a:pt x="4479290" y="3810"/>
                    <a:pt x="4479290" y="8509"/>
                  </a:cubicBezTo>
                  <a:lnTo>
                    <a:pt x="4479290" y="252349"/>
                  </a:lnTo>
                  <a:cubicBezTo>
                    <a:pt x="4479290" y="257048"/>
                    <a:pt x="4475480" y="260858"/>
                    <a:pt x="4470781" y="260858"/>
                  </a:cubicBezTo>
                  <a:lnTo>
                    <a:pt x="8509" y="260858"/>
                  </a:lnTo>
                  <a:cubicBezTo>
                    <a:pt x="3810" y="260858"/>
                    <a:pt x="0" y="257048"/>
                    <a:pt x="0" y="2523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52349"/>
                  </a:lnTo>
                  <a:lnTo>
                    <a:pt x="8509" y="252349"/>
                  </a:lnTo>
                  <a:lnTo>
                    <a:pt x="8509" y="243840"/>
                  </a:lnTo>
                  <a:lnTo>
                    <a:pt x="4470781" y="243840"/>
                  </a:lnTo>
                  <a:lnTo>
                    <a:pt x="4470781" y="252349"/>
                  </a:lnTo>
                  <a:lnTo>
                    <a:pt x="4462272" y="252349"/>
                  </a:lnTo>
                  <a:lnTo>
                    <a:pt x="4462272" y="8509"/>
                  </a:lnTo>
                  <a:lnTo>
                    <a:pt x="4470781" y="8509"/>
                  </a:lnTo>
                  <a:lnTo>
                    <a:pt x="447078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00695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5" name="Google Shape;765;p29"/>
          <p:cNvGrpSpPr/>
          <p:nvPr/>
        </p:nvGrpSpPr>
        <p:grpSpPr>
          <a:xfrm>
            <a:off x="4635580" y="4697601"/>
            <a:ext cx="1524257" cy="246613"/>
            <a:chOff x="0" y="-57150"/>
            <a:chExt cx="4064686" cy="657633"/>
          </a:xfrm>
        </p:grpSpPr>
        <p:sp>
          <p:nvSpPr>
            <p:cNvPr id="766" name="Google Shape;766;p29"/>
            <p:cNvSpPr/>
            <p:nvPr/>
          </p:nvSpPr>
          <p:spPr>
            <a:xfrm>
              <a:off x="0" y="0"/>
              <a:ext cx="4064680" cy="600483"/>
            </a:xfrm>
            <a:custGeom>
              <a:rect b="b" l="l" r="r" t="t"/>
              <a:pathLst>
                <a:path extrusionOk="0" h="600483" w="4064680">
                  <a:moveTo>
                    <a:pt x="0" y="0"/>
                  </a:moveTo>
                  <a:lnTo>
                    <a:pt x="4064680" y="0"/>
                  </a:lnTo>
                  <a:lnTo>
                    <a:pt x="4064680" y="600483"/>
                  </a:lnTo>
                  <a:lnTo>
                    <a:pt x="0" y="60048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1891" l="0" r="0" t="-81891"/>
              </a:stretch>
            </a:blipFill>
            <a:ln>
              <a:noFill/>
            </a:ln>
          </p:spPr>
        </p:sp>
        <p:sp>
          <p:nvSpPr>
            <p:cNvPr id="767" name="Google Shape;767;p29"/>
            <p:cNvSpPr txBox="1"/>
            <p:nvPr/>
          </p:nvSpPr>
          <p:spPr>
            <a:xfrm>
              <a:off x="0" y="-57150"/>
              <a:ext cx="4064686" cy="657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300" u="none" cap="none" strike="noStrike">
                  <a:solidFill>
                    <a:srgbClr val="00695C"/>
                  </a:solidFill>
                  <a:latin typeface="Calibri"/>
                  <a:ea typeface="Calibri"/>
                  <a:cs typeface="Calibri"/>
                  <a:sym typeface="Calibri"/>
                </a:rPr>
                <a:t>6-step</a:t>
              </a:r>
              <a:endParaRPr sz="700"/>
            </a:p>
          </p:txBody>
        </p:sp>
      </p:grpSp>
      <p:grpSp>
        <p:nvGrpSpPr>
          <p:cNvPr id="768" name="Google Shape;768;p29"/>
          <p:cNvGrpSpPr/>
          <p:nvPr/>
        </p:nvGrpSpPr>
        <p:grpSpPr>
          <a:xfrm>
            <a:off x="4635580" y="4939560"/>
            <a:ext cx="1524257" cy="157465"/>
            <a:chOff x="0" y="-28575"/>
            <a:chExt cx="4064686" cy="419906"/>
          </a:xfrm>
        </p:grpSpPr>
        <p:sp>
          <p:nvSpPr>
            <p:cNvPr id="769" name="Google Shape;769;p29"/>
            <p:cNvSpPr/>
            <p:nvPr/>
          </p:nvSpPr>
          <p:spPr>
            <a:xfrm>
              <a:off x="0" y="0"/>
              <a:ext cx="4064680" cy="391331"/>
            </a:xfrm>
            <a:custGeom>
              <a:rect b="b" l="l" r="r" t="t"/>
              <a:pathLst>
                <a:path extrusionOk="0" h="391331" w="4064680">
                  <a:moveTo>
                    <a:pt x="0" y="0"/>
                  </a:moveTo>
                  <a:lnTo>
                    <a:pt x="4064680" y="0"/>
                  </a:lnTo>
                  <a:lnTo>
                    <a:pt x="4064680" y="391331"/>
                  </a:lnTo>
                  <a:lnTo>
                    <a:pt x="0" y="3913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52386" l="0" r="0" t="-152390"/>
              </a:stretch>
            </a:blipFill>
            <a:ln>
              <a:noFill/>
            </a:ln>
          </p:spPr>
        </p:sp>
        <p:sp>
          <p:nvSpPr>
            <p:cNvPr id="770" name="Google Shape;770;p29"/>
            <p:cNvSpPr txBox="1"/>
            <p:nvPr/>
          </p:nvSpPr>
          <p:spPr>
            <a:xfrm>
              <a:off x="0" y="-28575"/>
              <a:ext cx="4064686" cy="41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End-to-end pipeline</a:t>
              </a:r>
              <a:endParaRPr sz="700"/>
            </a:p>
          </p:txBody>
        </p:sp>
      </p:grpSp>
      <p:grpSp>
        <p:nvGrpSpPr>
          <p:cNvPr id="771" name="Google Shape;771;p29"/>
          <p:cNvGrpSpPr/>
          <p:nvPr/>
        </p:nvGrpSpPr>
        <p:grpSpPr>
          <a:xfrm>
            <a:off x="6277566" y="4618773"/>
            <a:ext cx="1678400" cy="480536"/>
            <a:chOff x="0" y="0"/>
            <a:chExt cx="4475734" cy="1281430"/>
          </a:xfrm>
        </p:grpSpPr>
        <p:sp>
          <p:nvSpPr>
            <p:cNvPr id="772" name="Google Shape;772;p29"/>
            <p:cNvSpPr/>
            <p:nvPr/>
          </p:nvSpPr>
          <p:spPr>
            <a:xfrm>
              <a:off x="6731" y="6731"/>
              <a:ext cx="4462272" cy="1267968"/>
            </a:xfrm>
            <a:custGeom>
              <a:rect b="b" l="l" r="r" t="t"/>
              <a:pathLst>
                <a:path extrusionOk="0" h="1267968" w="4462272">
                  <a:moveTo>
                    <a:pt x="0" y="0"/>
                  </a:moveTo>
                  <a:lnTo>
                    <a:pt x="4462272" y="0"/>
                  </a:lnTo>
                  <a:lnTo>
                    <a:pt x="4462272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73" name="Google Shape;773;p29"/>
            <p:cNvSpPr/>
            <p:nvPr/>
          </p:nvSpPr>
          <p:spPr>
            <a:xfrm>
              <a:off x="0" y="0"/>
              <a:ext cx="4475734" cy="1281430"/>
            </a:xfrm>
            <a:custGeom>
              <a:rect b="b" l="l" r="r" t="t"/>
              <a:pathLst>
                <a:path extrusionOk="0" h="1281430" w="4475734">
                  <a:moveTo>
                    <a:pt x="6731" y="0"/>
                  </a:moveTo>
                  <a:lnTo>
                    <a:pt x="4469003" y="0"/>
                  </a:lnTo>
                  <a:cubicBezTo>
                    <a:pt x="4472686" y="0"/>
                    <a:pt x="4475734" y="3048"/>
                    <a:pt x="4475734" y="6731"/>
                  </a:cubicBezTo>
                  <a:lnTo>
                    <a:pt x="4475734" y="1274699"/>
                  </a:lnTo>
                  <a:cubicBezTo>
                    <a:pt x="4475734" y="1278382"/>
                    <a:pt x="4472686" y="1281430"/>
                    <a:pt x="4469003" y="1281430"/>
                  </a:cubicBezTo>
                  <a:lnTo>
                    <a:pt x="6731" y="1281430"/>
                  </a:lnTo>
                  <a:cubicBezTo>
                    <a:pt x="3048" y="1281430"/>
                    <a:pt x="0" y="1278382"/>
                    <a:pt x="0" y="1274699"/>
                  </a:cubicBezTo>
                  <a:lnTo>
                    <a:pt x="0" y="6731"/>
                  </a:lnTo>
                  <a:cubicBezTo>
                    <a:pt x="0" y="3048"/>
                    <a:pt x="3048" y="0"/>
                    <a:pt x="6731" y="0"/>
                  </a:cubicBezTo>
                  <a:moveTo>
                    <a:pt x="6731" y="13589"/>
                  </a:moveTo>
                  <a:lnTo>
                    <a:pt x="6731" y="6731"/>
                  </a:lnTo>
                  <a:lnTo>
                    <a:pt x="13462" y="6731"/>
                  </a:lnTo>
                  <a:lnTo>
                    <a:pt x="13462" y="1274699"/>
                  </a:lnTo>
                  <a:lnTo>
                    <a:pt x="6731" y="1274699"/>
                  </a:lnTo>
                  <a:lnTo>
                    <a:pt x="6731" y="1267968"/>
                  </a:lnTo>
                  <a:lnTo>
                    <a:pt x="4469003" y="1267968"/>
                  </a:lnTo>
                  <a:lnTo>
                    <a:pt x="4469003" y="1274699"/>
                  </a:lnTo>
                  <a:lnTo>
                    <a:pt x="4462272" y="1274699"/>
                  </a:lnTo>
                  <a:lnTo>
                    <a:pt x="4462272" y="6731"/>
                  </a:lnTo>
                  <a:lnTo>
                    <a:pt x="4469003" y="6731"/>
                  </a:lnTo>
                  <a:lnTo>
                    <a:pt x="4469003" y="13462"/>
                  </a:lnTo>
                  <a:lnTo>
                    <a:pt x="6731" y="13462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4" name="Google Shape;774;p29"/>
          <p:cNvGrpSpPr/>
          <p:nvPr/>
        </p:nvGrpSpPr>
        <p:grpSpPr>
          <a:xfrm>
            <a:off x="6276932" y="4618139"/>
            <a:ext cx="1679734" cy="97821"/>
            <a:chOff x="0" y="0"/>
            <a:chExt cx="4479290" cy="260858"/>
          </a:xfrm>
        </p:grpSpPr>
        <p:sp>
          <p:nvSpPr>
            <p:cNvPr id="775" name="Google Shape;775;p29"/>
            <p:cNvSpPr/>
            <p:nvPr/>
          </p:nvSpPr>
          <p:spPr>
            <a:xfrm>
              <a:off x="8509" y="8509"/>
              <a:ext cx="4462272" cy="243840"/>
            </a:xfrm>
            <a:custGeom>
              <a:rect b="b" l="l" r="r" t="t"/>
              <a:pathLst>
                <a:path extrusionOk="0" h="243840" w="4462272">
                  <a:moveTo>
                    <a:pt x="0" y="0"/>
                  </a:moveTo>
                  <a:lnTo>
                    <a:pt x="4462272" y="0"/>
                  </a:lnTo>
                  <a:lnTo>
                    <a:pt x="4462272" y="243840"/>
                  </a:lnTo>
                  <a:lnTo>
                    <a:pt x="0" y="243840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776" name="Google Shape;776;p29"/>
            <p:cNvSpPr/>
            <p:nvPr/>
          </p:nvSpPr>
          <p:spPr>
            <a:xfrm>
              <a:off x="0" y="0"/>
              <a:ext cx="4479290" cy="260858"/>
            </a:xfrm>
            <a:custGeom>
              <a:rect b="b" l="l" r="r" t="t"/>
              <a:pathLst>
                <a:path extrusionOk="0" h="260858" w="4479290">
                  <a:moveTo>
                    <a:pt x="8509" y="0"/>
                  </a:moveTo>
                  <a:lnTo>
                    <a:pt x="4470781" y="0"/>
                  </a:lnTo>
                  <a:cubicBezTo>
                    <a:pt x="4475480" y="0"/>
                    <a:pt x="4479290" y="3810"/>
                    <a:pt x="4479290" y="8509"/>
                  </a:cubicBezTo>
                  <a:lnTo>
                    <a:pt x="4479290" y="252349"/>
                  </a:lnTo>
                  <a:cubicBezTo>
                    <a:pt x="4479290" y="257048"/>
                    <a:pt x="4475480" y="260858"/>
                    <a:pt x="4470781" y="260858"/>
                  </a:cubicBezTo>
                  <a:lnTo>
                    <a:pt x="8509" y="260858"/>
                  </a:lnTo>
                  <a:cubicBezTo>
                    <a:pt x="3810" y="260858"/>
                    <a:pt x="0" y="257048"/>
                    <a:pt x="0" y="25234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52349"/>
                  </a:lnTo>
                  <a:lnTo>
                    <a:pt x="8509" y="252349"/>
                  </a:lnTo>
                  <a:lnTo>
                    <a:pt x="8509" y="243840"/>
                  </a:lnTo>
                  <a:lnTo>
                    <a:pt x="4470781" y="243840"/>
                  </a:lnTo>
                  <a:lnTo>
                    <a:pt x="4470781" y="252349"/>
                  </a:lnTo>
                  <a:lnTo>
                    <a:pt x="4462272" y="252349"/>
                  </a:lnTo>
                  <a:lnTo>
                    <a:pt x="4462272" y="8509"/>
                  </a:lnTo>
                  <a:lnTo>
                    <a:pt x="4470781" y="8509"/>
                  </a:lnTo>
                  <a:lnTo>
                    <a:pt x="4470781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7" name="Google Shape;777;p29"/>
          <p:cNvGrpSpPr/>
          <p:nvPr/>
        </p:nvGrpSpPr>
        <p:grpSpPr>
          <a:xfrm>
            <a:off x="6354652" y="4697601"/>
            <a:ext cx="1524257" cy="246613"/>
            <a:chOff x="0" y="-57150"/>
            <a:chExt cx="4064686" cy="657633"/>
          </a:xfrm>
        </p:grpSpPr>
        <p:sp>
          <p:nvSpPr>
            <p:cNvPr id="778" name="Google Shape;778;p29"/>
            <p:cNvSpPr/>
            <p:nvPr/>
          </p:nvSpPr>
          <p:spPr>
            <a:xfrm>
              <a:off x="0" y="0"/>
              <a:ext cx="4064681" cy="600483"/>
            </a:xfrm>
            <a:custGeom>
              <a:rect b="b" l="l" r="r" t="t"/>
              <a:pathLst>
                <a:path extrusionOk="0" h="600483" w="4064681">
                  <a:moveTo>
                    <a:pt x="0" y="0"/>
                  </a:moveTo>
                  <a:lnTo>
                    <a:pt x="4064681" y="0"/>
                  </a:lnTo>
                  <a:lnTo>
                    <a:pt x="4064681" y="600483"/>
                  </a:lnTo>
                  <a:lnTo>
                    <a:pt x="0" y="600483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1891" l="0" r="0" t="-81891"/>
              </a:stretch>
            </a:blipFill>
            <a:ln>
              <a:noFill/>
            </a:ln>
          </p:spPr>
        </p:sp>
        <p:sp>
          <p:nvSpPr>
            <p:cNvPr id="779" name="Google Shape;779;p29"/>
            <p:cNvSpPr txBox="1"/>
            <p:nvPr/>
          </p:nvSpPr>
          <p:spPr>
            <a:xfrm>
              <a:off x="0" y="-57150"/>
              <a:ext cx="4064686" cy="6576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300" u="none" cap="none" strike="noStrike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Auto SAR</a:t>
              </a:r>
              <a:endParaRPr sz="700"/>
            </a:p>
          </p:txBody>
        </p:sp>
      </p:grpSp>
      <p:grpSp>
        <p:nvGrpSpPr>
          <p:cNvPr id="780" name="Google Shape;780;p29"/>
          <p:cNvGrpSpPr/>
          <p:nvPr/>
        </p:nvGrpSpPr>
        <p:grpSpPr>
          <a:xfrm>
            <a:off x="6354652" y="4939560"/>
            <a:ext cx="1524257" cy="157465"/>
            <a:chOff x="0" y="-28575"/>
            <a:chExt cx="4064686" cy="419906"/>
          </a:xfrm>
        </p:grpSpPr>
        <p:sp>
          <p:nvSpPr>
            <p:cNvPr id="781" name="Google Shape;781;p29"/>
            <p:cNvSpPr/>
            <p:nvPr/>
          </p:nvSpPr>
          <p:spPr>
            <a:xfrm>
              <a:off x="0" y="0"/>
              <a:ext cx="4064681" cy="391331"/>
            </a:xfrm>
            <a:custGeom>
              <a:rect b="b" l="l" r="r" t="t"/>
              <a:pathLst>
                <a:path extrusionOk="0" h="391331" w="4064681">
                  <a:moveTo>
                    <a:pt x="0" y="0"/>
                  </a:moveTo>
                  <a:lnTo>
                    <a:pt x="4064681" y="0"/>
                  </a:lnTo>
                  <a:lnTo>
                    <a:pt x="4064681" y="391331"/>
                  </a:lnTo>
                  <a:lnTo>
                    <a:pt x="0" y="39133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152386" l="0" r="0" t="-152390"/>
              </a:stretch>
            </a:blipFill>
            <a:ln>
              <a:noFill/>
            </a:ln>
          </p:spPr>
        </p:sp>
        <p:sp>
          <p:nvSpPr>
            <p:cNvPr id="782" name="Google Shape;782;p29"/>
            <p:cNvSpPr txBox="1"/>
            <p:nvPr/>
          </p:nvSpPr>
          <p:spPr>
            <a:xfrm>
              <a:off x="0" y="-28575"/>
              <a:ext cx="4064686" cy="41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700" u="none" cap="none" strike="noStrike">
                  <a:solidFill>
                    <a:srgbClr val="546E7A"/>
                  </a:solidFill>
                  <a:latin typeface="Calibri"/>
                  <a:ea typeface="Calibri"/>
                  <a:cs typeface="Calibri"/>
                  <a:sym typeface="Calibri"/>
                </a:rPr>
                <a:t>FIU evidence in &lt;5s</a:t>
              </a:r>
              <a:endParaRPr sz="700"/>
            </a:p>
          </p:txBody>
        </p:sp>
      </p:grpSp>
      <p:sp>
        <p:nvSpPr>
          <p:cNvPr id="783" name="Google Shape;783;p29"/>
          <p:cNvSpPr/>
          <p:nvPr/>
        </p:nvSpPr>
        <p:spPr>
          <a:xfrm>
            <a:off x="14" y="14"/>
            <a:ext cx="9144000" cy="848582"/>
          </a:xfrm>
          <a:custGeom>
            <a:rect b="b" l="l" r="r" t="t"/>
            <a:pathLst>
              <a:path extrusionOk="0" h="2262886" w="24384001">
                <a:moveTo>
                  <a:pt x="0" y="0"/>
                </a:moveTo>
                <a:lnTo>
                  <a:pt x="24384001" y="0"/>
                </a:lnTo>
                <a:lnTo>
                  <a:pt x="24384001" y="2262886"/>
                </a:lnTo>
                <a:lnTo>
                  <a:pt x="0" y="22628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84" name="Google Shape;784;p29"/>
          <p:cNvSpPr/>
          <p:nvPr/>
        </p:nvSpPr>
        <p:spPr>
          <a:xfrm>
            <a:off x="3330677" y="60648"/>
            <a:ext cx="1451044" cy="746260"/>
          </a:xfrm>
          <a:custGeom>
            <a:rect b="b" l="l" r="r" t="t"/>
            <a:pathLst>
              <a:path extrusionOk="0" h="2567591" w="4992476">
                <a:moveTo>
                  <a:pt x="0" y="0"/>
                </a:moveTo>
                <a:lnTo>
                  <a:pt x="4992477" y="0"/>
                </a:lnTo>
                <a:lnTo>
                  <a:pt x="4992477" y="2567591"/>
                </a:lnTo>
                <a:lnTo>
                  <a:pt x="0" y="256759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7516" l="-182" r="-182" t="-47637"/>
            </a:stretch>
          </a:blipFill>
          <a:ln>
            <a:noFill/>
          </a:ln>
        </p:spPr>
      </p:sp>
      <p:sp>
        <p:nvSpPr>
          <p:cNvPr id="785" name="Google Shape;785;p29"/>
          <p:cNvSpPr/>
          <p:nvPr/>
        </p:nvSpPr>
        <p:spPr>
          <a:xfrm>
            <a:off x="5484943" y="294465"/>
            <a:ext cx="2511219" cy="374571"/>
          </a:xfrm>
          <a:custGeom>
            <a:rect b="b" l="l" r="r" t="t"/>
            <a:pathLst>
              <a:path extrusionOk="0" h="998855" w="6696583">
                <a:moveTo>
                  <a:pt x="0" y="0"/>
                </a:moveTo>
                <a:lnTo>
                  <a:pt x="6696583" y="0"/>
                </a:lnTo>
                <a:lnTo>
                  <a:pt x="6696583" y="998855"/>
                </a:lnTo>
                <a:lnTo>
                  <a:pt x="0" y="998855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844" l="-563" r="-562" t="-851"/>
            </a:stretch>
          </a:blipFill>
          <a:ln>
            <a:noFill/>
          </a:ln>
        </p:spPr>
      </p:sp>
      <p:sp>
        <p:nvSpPr>
          <p:cNvPr id="786" name="Google Shape;786;p29"/>
          <p:cNvSpPr/>
          <p:nvPr/>
        </p:nvSpPr>
        <p:spPr>
          <a:xfrm>
            <a:off x="1581674" y="261861"/>
            <a:ext cx="1345264" cy="439769"/>
          </a:xfrm>
          <a:custGeom>
            <a:rect b="b" l="l" r="r" t="t"/>
            <a:pathLst>
              <a:path extrusionOk="0" h="1172718" w="3587369">
                <a:moveTo>
                  <a:pt x="0" y="0"/>
                </a:moveTo>
                <a:lnTo>
                  <a:pt x="3587369" y="0"/>
                </a:lnTo>
                <a:lnTo>
                  <a:pt x="3587369" y="1172718"/>
                </a:lnTo>
                <a:lnTo>
                  <a:pt x="0" y="1172718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724" l="-723" r="-720" t="-725"/>
            </a:stretch>
          </a:blipFill>
          <a:ln>
            <a:noFill/>
          </a:ln>
        </p:spPr>
      </p:sp>
      <p:sp>
        <p:nvSpPr>
          <p:cNvPr id="787" name="Google Shape;787;p29"/>
          <p:cNvSpPr/>
          <p:nvPr/>
        </p:nvSpPr>
        <p:spPr>
          <a:xfrm>
            <a:off x="200754" y="140613"/>
            <a:ext cx="1222915" cy="611457"/>
          </a:xfrm>
          <a:custGeom>
            <a:rect b="b" l="l" r="r" t="t"/>
            <a:pathLst>
              <a:path extrusionOk="0" h="1630553" w="3261106">
                <a:moveTo>
                  <a:pt x="0" y="0"/>
                </a:moveTo>
                <a:lnTo>
                  <a:pt x="3261106" y="0"/>
                </a:lnTo>
                <a:lnTo>
                  <a:pt x="3261106" y="1630553"/>
                </a:lnTo>
                <a:lnTo>
                  <a:pt x="0" y="1630553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518" l="-520" r="-520" t="-521"/>
            </a:stretch>
          </a:blipFill>
          <a:ln>
            <a:noFill/>
          </a:ln>
        </p:spPr>
      </p:sp>
      <p:sp>
        <p:nvSpPr>
          <p:cNvPr id="788" name="Google Shape;788;p29"/>
          <p:cNvSpPr txBox="1"/>
          <p:nvPr/>
        </p:nvSpPr>
        <p:spPr>
          <a:xfrm>
            <a:off x="2164499" y="871895"/>
            <a:ext cx="4564547" cy="417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700" u="sng" cap="none" strike="noStrike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TECHNICAL APPROACH</a:t>
            </a:r>
            <a:endParaRPr sz="700"/>
          </a:p>
        </p:txBody>
      </p:sp>
      <p:sp>
        <p:nvSpPr>
          <p:cNvPr id="789" name="Google Shape;789;p29"/>
          <p:cNvSpPr/>
          <p:nvPr/>
        </p:nvSpPr>
        <p:spPr>
          <a:xfrm>
            <a:off x="8369617" y="235625"/>
            <a:ext cx="520065" cy="516445"/>
          </a:xfrm>
          <a:custGeom>
            <a:rect b="b" l="l" r="r" t="t"/>
            <a:pathLst>
              <a:path extrusionOk="0" h="1377188" w="1386840">
                <a:moveTo>
                  <a:pt x="0" y="0"/>
                </a:moveTo>
                <a:lnTo>
                  <a:pt x="1386840" y="0"/>
                </a:lnTo>
                <a:lnTo>
                  <a:pt x="1386840" y="1377188"/>
                </a:lnTo>
                <a:lnTo>
                  <a:pt x="0" y="1377188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966" l="-613" r="-613" t="-970"/>
            </a:stretch>
          </a:blipFill>
          <a:ln>
            <a:noFill/>
          </a:ln>
        </p:spPr>
      </p:sp>
      <p:sp>
        <p:nvSpPr>
          <p:cNvPr id="790" name="Google Shape;790;p29"/>
          <p:cNvSpPr txBox="1"/>
          <p:nvPr/>
        </p:nvSpPr>
        <p:spPr>
          <a:xfrm>
            <a:off x="4424317" y="1704985"/>
            <a:ext cx="319236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800" u="none" cap="none" strike="noStrik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Open AI</a:t>
            </a:r>
            <a:endParaRPr sz="700"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800" u="none" cap="none" strike="noStrike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4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0"/>
          <p:cNvSpPr/>
          <p:nvPr/>
        </p:nvSpPr>
        <p:spPr>
          <a:xfrm>
            <a:off x="14" y="383"/>
            <a:ext cx="9144000" cy="946608"/>
          </a:xfrm>
          <a:custGeom>
            <a:rect b="b" l="l" r="r" t="t"/>
            <a:pathLst>
              <a:path extrusionOk="0" h="2524288" w="24384001">
                <a:moveTo>
                  <a:pt x="0" y="0"/>
                </a:moveTo>
                <a:lnTo>
                  <a:pt x="24384001" y="0"/>
                </a:lnTo>
                <a:lnTo>
                  <a:pt x="24384001" y="2524287"/>
                </a:lnTo>
                <a:lnTo>
                  <a:pt x="0" y="25242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96" name="Google Shape;796;p30"/>
          <p:cNvSpPr/>
          <p:nvPr/>
        </p:nvSpPr>
        <p:spPr>
          <a:xfrm>
            <a:off x="3391289" y="75729"/>
            <a:ext cx="1629263" cy="800061"/>
          </a:xfrm>
          <a:custGeom>
            <a:rect b="b" l="l" r="r" t="t"/>
            <a:pathLst>
              <a:path extrusionOk="0" h="2351322" w="4788284">
                <a:moveTo>
                  <a:pt x="0" y="0"/>
                </a:moveTo>
                <a:lnTo>
                  <a:pt x="4788284" y="0"/>
                </a:lnTo>
                <a:lnTo>
                  <a:pt x="4788284" y="2351322"/>
                </a:lnTo>
                <a:lnTo>
                  <a:pt x="0" y="23513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2149" l="-182" r="-182" t="-52237"/>
            </a:stretch>
          </a:blipFill>
          <a:ln>
            <a:noFill/>
          </a:ln>
        </p:spPr>
      </p:sp>
      <p:sp>
        <p:nvSpPr>
          <p:cNvPr id="797" name="Google Shape;797;p30"/>
          <p:cNvSpPr/>
          <p:nvPr/>
        </p:nvSpPr>
        <p:spPr>
          <a:xfrm>
            <a:off x="5484943" y="294465"/>
            <a:ext cx="2511219" cy="374571"/>
          </a:xfrm>
          <a:custGeom>
            <a:rect b="b" l="l" r="r" t="t"/>
            <a:pathLst>
              <a:path extrusionOk="0" h="998855" w="6696583">
                <a:moveTo>
                  <a:pt x="0" y="0"/>
                </a:moveTo>
                <a:lnTo>
                  <a:pt x="6696583" y="0"/>
                </a:lnTo>
                <a:lnTo>
                  <a:pt x="6696583" y="998855"/>
                </a:lnTo>
                <a:lnTo>
                  <a:pt x="0" y="998855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44" l="-563" r="-562" t="-851"/>
            </a:stretch>
          </a:blipFill>
          <a:ln>
            <a:noFill/>
          </a:ln>
        </p:spPr>
      </p:sp>
      <p:sp>
        <p:nvSpPr>
          <p:cNvPr id="798" name="Google Shape;798;p30"/>
          <p:cNvSpPr/>
          <p:nvPr/>
        </p:nvSpPr>
        <p:spPr>
          <a:xfrm>
            <a:off x="1581674" y="261861"/>
            <a:ext cx="1345264" cy="439769"/>
          </a:xfrm>
          <a:custGeom>
            <a:rect b="b" l="l" r="r" t="t"/>
            <a:pathLst>
              <a:path extrusionOk="0" h="1172718" w="3587369">
                <a:moveTo>
                  <a:pt x="0" y="0"/>
                </a:moveTo>
                <a:lnTo>
                  <a:pt x="3587369" y="0"/>
                </a:lnTo>
                <a:lnTo>
                  <a:pt x="3587369" y="1172718"/>
                </a:lnTo>
                <a:lnTo>
                  <a:pt x="0" y="1172718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724" l="-723" r="-720" t="-725"/>
            </a:stretch>
          </a:blipFill>
          <a:ln>
            <a:noFill/>
          </a:ln>
        </p:spPr>
      </p:sp>
      <p:sp>
        <p:nvSpPr>
          <p:cNvPr id="799" name="Google Shape;799;p30"/>
          <p:cNvSpPr/>
          <p:nvPr/>
        </p:nvSpPr>
        <p:spPr>
          <a:xfrm>
            <a:off x="200754" y="140613"/>
            <a:ext cx="1222915" cy="611457"/>
          </a:xfrm>
          <a:custGeom>
            <a:rect b="b" l="l" r="r" t="t"/>
            <a:pathLst>
              <a:path extrusionOk="0" h="1630553" w="3261106">
                <a:moveTo>
                  <a:pt x="0" y="0"/>
                </a:moveTo>
                <a:lnTo>
                  <a:pt x="3261106" y="0"/>
                </a:lnTo>
                <a:lnTo>
                  <a:pt x="3261106" y="1630553"/>
                </a:lnTo>
                <a:lnTo>
                  <a:pt x="0" y="1630553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518" l="-520" r="-520" t="-521"/>
            </a:stretch>
          </a:blipFill>
          <a:ln>
            <a:noFill/>
          </a:ln>
        </p:spPr>
      </p:sp>
      <p:sp>
        <p:nvSpPr>
          <p:cNvPr id="800" name="Google Shape;800;p30"/>
          <p:cNvSpPr txBox="1"/>
          <p:nvPr/>
        </p:nvSpPr>
        <p:spPr>
          <a:xfrm>
            <a:off x="2289724" y="983861"/>
            <a:ext cx="4564547" cy="417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700" u="sng" cap="none" strike="noStrike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FEASIBILITY &amp; VIABILITY</a:t>
            </a:r>
            <a:endParaRPr sz="700"/>
          </a:p>
        </p:txBody>
      </p:sp>
      <p:sp>
        <p:nvSpPr>
          <p:cNvPr id="801" name="Google Shape;801;p30"/>
          <p:cNvSpPr/>
          <p:nvPr/>
        </p:nvSpPr>
        <p:spPr>
          <a:xfrm>
            <a:off x="8369617" y="235625"/>
            <a:ext cx="520065" cy="516445"/>
          </a:xfrm>
          <a:custGeom>
            <a:rect b="b" l="l" r="r" t="t"/>
            <a:pathLst>
              <a:path extrusionOk="0" h="1377188" w="1386840">
                <a:moveTo>
                  <a:pt x="0" y="0"/>
                </a:moveTo>
                <a:lnTo>
                  <a:pt x="1386840" y="0"/>
                </a:lnTo>
                <a:lnTo>
                  <a:pt x="1386840" y="1377188"/>
                </a:lnTo>
                <a:lnTo>
                  <a:pt x="0" y="1377188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966" l="-613" r="-613" t="-970"/>
            </a:stretch>
          </a:blipFill>
          <a:ln>
            <a:noFill/>
          </a:ln>
        </p:spPr>
      </p:sp>
      <p:grpSp>
        <p:nvGrpSpPr>
          <p:cNvPr id="802" name="Google Shape;802;p30"/>
          <p:cNvGrpSpPr/>
          <p:nvPr/>
        </p:nvGrpSpPr>
        <p:grpSpPr>
          <a:xfrm>
            <a:off x="377700" y="1463664"/>
            <a:ext cx="2755868" cy="378429"/>
            <a:chOff x="0" y="0"/>
            <a:chExt cx="7348982" cy="1009144"/>
          </a:xfrm>
        </p:grpSpPr>
        <p:sp>
          <p:nvSpPr>
            <p:cNvPr id="803" name="Google Shape;803;p30"/>
            <p:cNvSpPr/>
            <p:nvPr/>
          </p:nvSpPr>
          <p:spPr>
            <a:xfrm>
              <a:off x="16891" y="16891"/>
              <a:ext cx="7315200" cy="975360"/>
            </a:xfrm>
            <a:custGeom>
              <a:rect b="b" l="l" r="r" t="t"/>
              <a:pathLst>
                <a:path extrusionOk="0"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A56A0"/>
            </a:solidFill>
            <a:ln>
              <a:noFill/>
            </a:ln>
          </p:spPr>
        </p:sp>
        <p:sp>
          <p:nvSpPr>
            <p:cNvPr id="804" name="Google Shape;804;p30"/>
            <p:cNvSpPr/>
            <p:nvPr/>
          </p:nvSpPr>
          <p:spPr>
            <a:xfrm>
              <a:off x="0" y="0"/>
              <a:ext cx="7348982" cy="1009144"/>
            </a:xfrm>
            <a:custGeom>
              <a:rect b="b" l="l" r="r" t="t"/>
              <a:pathLst>
                <a:path extrusionOk="0" h="100914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92251"/>
                  </a:lnTo>
                  <a:cubicBezTo>
                    <a:pt x="7348982" y="1001649"/>
                    <a:pt x="7341362" y="1009142"/>
                    <a:pt x="733209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7332091" y="975360"/>
                  </a:lnTo>
                  <a:lnTo>
                    <a:pt x="7332091" y="992251"/>
                  </a:lnTo>
                  <a:lnTo>
                    <a:pt x="7315200" y="9922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6A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5" name="Google Shape;805;p30"/>
          <p:cNvGrpSpPr/>
          <p:nvPr/>
        </p:nvGrpSpPr>
        <p:grpSpPr>
          <a:xfrm>
            <a:off x="426591" y="1527525"/>
            <a:ext cx="2658110" cy="236448"/>
            <a:chOff x="0" y="-38100"/>
            <a:chExt cx="7088294" cy="630530"/>
          </a:xfrm>
        </p:grpSpPr>
        <p:sp>
          <p:nvSpPr>
            <p:cNvPr id="806" name="Google Shape;806;p30"/>
            <p:cNvSpPr/>
            <p:nvPr/>
          </p:nvSpPr>
          <p:spPr>
            <a:xfrm>
              <a:off x="0" y="0"/>
              <a:ext cx="7088294" cy="592427"/>
            </a:xfrm>
            <a:custGeom>
              <a:rect b="b" l="l" r="r" t="t"/>
              <a:pathLst>
                <a:path extrusionOk="0" h="592427" w="7088294">
                  <a:moveTo>
                    <a:pt x="0" y="0"/>
                  </a:moveTo>
                  <a:lnTo>
                    <a:pt x="7088294" y="0"/>
                  </a:lnTo>
                  <a:lnTo>
                    <a:pt x="7088294" y="592427"/>
                  </a:lnTo>
                  <a:lnTo>
                    <a:pt x="0" y="592427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183144" l="0" r="0" t="-183144"/>
              </a:stretch>
            </a:blipFill>
            <a:ln>
              <a:noFill/>
            </a:ln>
          </p:spPr>
        </p:sp>
        <p:sp>
          <p:nvSpPr>
            <p:cNvPr id="807" name="Google Shape;807;p30"/>
            <p:cNvSpPr txBox="1"/>
            <p:nvPr/>
          </p:nvSpPr>
          <p:spPr>
            <a:xfrm>
              <a:off x="0" y="-38100"/>
              <a:ext cx="7088289" cy="6305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Proven Performance</a:t>
              </a:r>
              <a:endParaRPr sz="700"/>
            </a:p>
          </p:txBody>
        </p:sp>
      </p:grpSp>
      <p:grpSp>
        <p:nvGrpSpPr>
          <p:cNvPr id="808" name="Google Shape;808;p30"/>
          <p:cNvGrpSpPr/>
          <p:nvPr/>
        </p:nvGrpSpPr>
        <p:grpSpPr>
          <a:xfrm>
            <a:off x="380872" y="1832596"/>
            <a:ext cx="2749581" cy="266986"/>
            <a:chOff x="0" y="0"/>
            <a:chExt cx="7332218" cy="711962"/>
          </a:xfrm>
        </p:grpSpPr>
        <p:sp>
          <p:nvSpPr>
            <p:cNvPr id="809" name="Google Shape;809;p30"/>
            <p:cNvSpPr/>
            <p:nvPr/>
          </p:nvSpPr>
          <p:spPr>
            <a:xfrm>
              <a:off x="8509" y="8509"/>
              <a:ext cx="7315200" cy="694944"/>
            </a:xfrm>
            <a:custGeom>
              <a:rect b="b" l="l" r="r" t="t"/>
              <a:pathLst>
                <a:path extrusionOk="0" h="6949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"/>
                  </a:lnTo>
                  <a:lnTo>
                    <a:pt x="0" y="6949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10" name="Google Shape;810;p30"/>
            <p:cNvSpPr/>
            <p:nvPr/>
          </p:nvSpPr>
          <p:spPr>
            <a:xfrm>
              <a:off x="0" y="0"/>
              <a:ext cx="7332218" cy="711962"/>
            </a:xfrm>
            <a:custGeom>
              <a:rect b="b" l="l" r="r" t="t"/>
              <a:pathLst>
                <a:path extrusionOk="0" h="711962" w="7332218">
                  <a:moveTo>
                    <a:pt x="8509" y="0"/>
                  </a:moveTo>
                  <a:lnTo>
                    <a:pt x="7323709" y="0"/>
                  </a:lnTo>
                  <a:cubicBezTo>
                    <a:pt x="7328408" y="0"/>
                    <a:pt x="7332218" y="3810"/>
                    <a:pt x="7332218" y="8509"/>
                  </a:cubicBezTo>
                  <a:lnTo>
                    <a:pt x="7332218" y="703453"/>
                  </a:lnTo>
                  <a:cubicBezTo>
                    <a:pt x="7332218" y="708152"/>
                    <a:pt x="7328408" y="711962"/>
                    <a:pt x="7323709" y="711962"/>
                  </a:cubicBezTo>
                  <a:lnTo>
                    <a:pt x="8509" y="711962"/>
                  </a:lnTo>
                  <a:cubicBezTo>
                    <a:pt x="3810" y="711962"/>
                    <a:pt x="0" y="708152"/>
                    <a:pt x="0" y="70345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03453"/>
                  </a:lnTo>
                  <a:lnTo>
                    <a:pt x="8509" y="703453"/>
                  </a:lnTo>
                  <a:lnTo>
                    <a:pt x="8509" y="694944"/>
                  </a:lnTo>
                  <a:lnTo>
                    <a:pt x="7323709" y="694944"/>
                  </a:lnTo>
                  <a:lnTo>
                    <a:pt x="7323709" y="703453"/>
                  </a:lnTo>
                  <a:lnTo>
                    <a:pt x="7315200" y="703453"/>
                  </a:lnTo>
                  <a:lnTo>
                    <a:pt x="7315200" y="8509"/>
                  </a:lnTo>
                  <a:lnTo>
                    <a:pt x="7323709" y="8509"/>
                  </a:lnTo>
                  <a:lnTo>
                    <a:pt x="7323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8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1" name="Google Shape;811;p30"/>
          <p:cNvGrpSpPr/>
          <p:nvPr/>
        </p:nvGrpSpPr>
        <p:grpSpPr>
          <a:xfrm>
            <a:off x="472311" y="1899894"/>
            <a:ext cx="2621537" cy="121644"/>
            <a:chOff x="0" y="-28575"/>
            <a:chExt cx="6990766" cy="324383"/>
          </a:xfrm>
        </p:grpSpPr>
        <p:sp>
          <p:nvSpPr>
            <p:cNvPr id="812" name="Google Shape;812;p30"/>
            <p:cNvSpPr/>
            <p:nvPr/>
          </p:nvSpPr>
          <p:spPr>
            <a:xfrm>
              <a:off x="0" y="0"/>
              <a:ext cx="6990762" cy="295807"/>
            </a:xfrm>
            <a:custGeom>
              <a:rect b="b" l="l" r="r" t="t"/>
              <a:pathLst>
                <a:path extrusionOk="0" h="295807" w="6990762">
                  <a:moveTo>
                    <a:pt x="0" y="0"/>
                  </a:moveTo>
                  <a:lnTo>
                    <a:pt x="6990762" y="0"/>
                  </a:lnTo>
                  <a:lnTo>
                    <a:pt x="6990762" y="295807"/>
                  </a:lnTo>
                  <a:lnTo>
                    <a:pt x="0" y="295807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410490" l="0" r="0" t="-410490"/>
              </a:stretch>
            </a:blipFill>
            <a:ln>
              <a:noFill/>
            </a:ln>
          </p:spPr>
        </p:sp>
        <p:sp>
          <p:nvSpPr>
            <p:cNvPr id="813" name="Google Shape;813;p30"/>
            <p:cNvSpPr txBox="1"/>
            <p:nvPr/>
          </p:nvSpPr>
          <p:spPr>
            <a:xfrm>
              <a:off x="0" y="-28575"/>
              <a:ext cx="6990766" cy="324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Tested on IBM AMLSim (large-scale AML benchmark)</a:t>
              </a:r>
              <a:endParaRPr sz="700"/>
            </a:p>
          </p:txBody>
        </p:sp>
      </p:grpSp>
      <p:grpSp>
        <p:nvGrpSpPr>
          <p:cNvPr id="814" name="Google Shape;814;p30"/>
          <p:cNvGrpSpPr/>
          <p:nvPr/>
        </p:nvGrpSpPr>
        <p:grpSpPr>
          <a:xfrm>
            <a:off x="380872" y="2093200"/>
            <a:ext cx="2749581" cy="266986"/>
            <a:chOff x="0" y="0"/>
            <a:chExt cx="7332218" cy="711962"/>
          </a:xfrm>
        </p:grpSpPr>
        <p:sp>
          <p:nvSpPr>
            <p:cNvPr id="815" name="Google Shape;815;p30"/>
            <p:cNvSpPr/>
            <p:nvPr/>
          </p:nvSpPr>
          <p:spPr>
            <a:xfrm>
              <a:off x="8509" y="8509"/>
              <a:ext cx="7315200" cy="694944"/>
            </a:xfrm>
            <a:custGeom>
              <a:rect b="b" l="l" r="r" t="t"/>
              <a:pathLst>
                <a:path extrusionOk="0" h="6949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"/>
                  </a:lnTo>
                  <a:lnTo>
                    <a:pt x="0" y="694944"/>
                  </a:lnTo>
                  <a:close/>
                </a:path>
              </a:pathLst>
            </a:custGeom>
            <a:solidFill>
              <a:srgbClr val="EEF2FB"/>
            </a:solidFill>
            <a:ln>
              <a:noFill/>
            </a:ln>
          </p:spPr>
        </p:sp>
        <p:sp>
          <p:nvSpPr>
            <p:cNvPr id="816" name="Google Shape;816;p30"/>
            <p:cNvSpPr/>
            <p:nvPr/>
          </p:nvSpPr>
          <p:spPr>
            <a:xfrm>
              <a:off x="0" y="0"/>
              <a:ext cx="7332218" cy="711962"/>
            </a:xfrm>
            <a:custGeom>
              <a:rect b="b" l="l" r="r" t="t"/>
              <a:pathLst>
                <a:path extrusionOk="0" h="711962" w="7332218">
                  <a:moveTo>
                    <a:pt x="8509" y="0"/>
                  </a:moveTo>
                  <a:lnTo>
                    <a:pt x="7323709" y="0"/>
                  </a:lnTo>
                  <a:cubicBezTo>
                    <a:pt x="7328408" y="0"/>
                    <a:pt x="7332218" y="3810"/>
                    <a:pt x="7332218" y="8509"/>
                  </a:cubicBezTo>
                  <a:lnTo>
                    <a:pt x="7332218" y="703453"/>
                  </a:lnTo>
                  <a:cubicBezTo>
                    <a:pt x="7332218" y="708152"/>
                    <a:pt x="7328408" y="711962"/>
                    <a:pt x="7323709" y="711962"/>
                  </a:cubicBezTo>
                  <a:lnTo>
                    <a:pt x="8509" y="711962"/>
                  </a:lnTo>
                  <a:cubicBezTo>
                    <a:pt x="3810" y="711962"/>
                    <a:pt x="0" y="708152"/>
                    <a:pt x="0" y="70345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03453"/>
                  </a:lnTo>
                  <a:lnTo>
                    <a:pt x="8509" y="703453"/>
                  </a:lnTo>
                  <a:lnTo>
                    <a:pt x="8509" y="694944"/>
                  </a:lnTo>
                  <a:lnTo>
                    <a:pt x="7323709" y="694944"/>
                  </a:lnTo>
                  <a:lnTo>
                    <a:pt x="7323709" y="703453"/>
                  </a:lnTo>
                  <a:lnTo>
                    <a:pt x="7315200" y="703453"/>
                  </a:lnTo>
                  <a:lnTo>
                    <a:pt x="7315200" y="8509"/>
                  </a:lnTo>
                  <a:lnTo>
                    <a:pt x="7323709" y="8509"/>
                  </a:lnTo>
                  <a:lnTo>
                    <a:pt x="7323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8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7" name="Google Shape;817;p30"/>
          <p:cNvGrpSpPr/>
          <p:nvPr/>
        </p:nvGrpSpPr>
        <p:grpSpPr>
          <a:xfrm>
            <a:off x="472311" y="2160498"/>
            <a:ext cx="2621537" cy="121644"/>
            <a:chOff x="0" y="-28575"/>
            <a:chExt cx="6990766" cy="324383"/>
          </a:xfrm>
        </p:grpSpPr>
        <p:sp>
          <p:nvSpPr>
            <p:cNvPr id="818" name="Google Shape;818;p30"/>
            <p:cNvSpPr/>
            <p:nvPr/>
          </p:nvSpPr>
          <p:spPr>
            <a:xfrm>
              <a:off x="0" y="0"/>
              <a:ext cx="6990762" cy="295805"/>
            </a:xfrm>
            <a:custGeom>
              <a:rect b="b" l="l" r="r" t="t"/>
              <a:pathLst>
                <a:path extrusionOk="0" h="295805" w="6990762">
                  <a:moveTo>
                    <a:pt x="0" y="0"/>
                  </a:moveTo>
                  <a:lnTo>
                    <a:pt x="6990762" y="0"/>
                  </a:lnTo>
                  <a:lnTo>
                    <a:pt x="6990762" y="295805"/>
                  </a:lnTo>
                  <a:lnTo>
                    <a:pt x="0" y="295805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410490" l="0" r="0" t="-410490"/>
              </a:stretch>
            </a:blipFill>
            <a:ln>
              <a:noFill/>
            </a:ln>
          </p:spPr>
        </p:sp>
        <p:sp>
          <p:nvSpPr>
            <p:cNvPr id="819" name="Google Shape;819;p30"/>
            <p:cNvSpPr txBox="1"/>
            <p:nvPr/>
          </p:nvSpPr>
          <p:spPr>
            <a:xfrm>
              <a:off x="0" y="-28575"/>
              <a:ext cx="6990766" cy="324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Graph-based methods outperform traditional models</a:t>
              </a:r>
              <a:endParaRPr sz="700"/>
            </a:p>
          </p:txBody>
        </p:sp>
      </p:grpSp>
      <p:grpSp>
        <p:nvGrpSpPr>
          <p:cNvPr id="820" name="Google Shape;820;p30"/>
          <p:cNvGrpSpPr/>
          <p:nvPr/>
        </p:nvGrpSpPr>
        <p:grpSpPr>
          <a:xfrm>
            <a:off x="380872" y="2353809"/>
            <a:ext cx="2749581" cy="266986"/>
            <a:chOff x="0" y="0"/>
            <a:chExt cx="7332218" cy="711962"/>
          </a:xfrm>
        </p:grpSpPr>
        <p:sp>
          <p:nvSpPr>
            <p:cNvPr id="821" name="Google Shape;821;p30"/>
            <p:cNvSpPr/>
            <p:nvPr/>
          </p:nvSpPr>
          <p:spPr>
            <a:xfrm>
              <a:off x="8509" y="8509"/>
              <a:ext cx="7315200" cy="694944"/>
            </a:xfrm>
            <a:custGeom>
              <a:rect b="b" l="l" r="r" t="t"/>
              <a:pathLst>
                <a:path extrusionOk="0" h="6949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"/>
                  </a:lnTo>
                  <a:lnTo>
                    <a:pt x="0" y="6949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22" name="Google Shape;822;p30"/>
            <p:cNvSpPr/>
            <p:nvPr/>
          </p:nvSpPr>
          <p:spPr>
            <a:xfrm>
              <a:off x="0" y="0"/>
              <a:ext cx="7332218" cy="711962"/>
            </a:xfrm>
            <a:custGeom>
              <a:rect b="b" l="l" r="r" t="t"/>
              <a:pathLst>
                <a:path extrusionOk="0" h="711962" w="7332218">
                  <a:moveTo>
                    <a:pt x="8509" y="0"/>
                  </a:moveTo>
                  <a:lnTo>
                    <a:pt x="7323709" y="0"/>
                  </a:lnTo>
                  <a:cubicBezTo>
                    <a:pt x="7328408" y="0"/>
                    <a:pt x="7332218" y="3810"/>
                    <a:pt x="7332218" y="8509"/>
                  </a:cubicBezTo>
                  <a:lnTo>
                    <a:pt x="7332218" y="703453"/>
                  </a:lnTo>
                  <a:cubicBezTo>
                    <a:pt x="7332218" y="708152"/>
                    <a:pt x="7328408" y="711962"/>
                    <a:pt x="7323709" y="711962"/>
                  </a:cubicBezTo>
                  <a:lnTo>
                    <a:pt x="8509" y="711962"/>
                  </a:lnTo>
                  <a:cubicBezTo>
                    <a:pt x="3810" y="711962"/>
                    <a:pt x="0" y="708152"/>
                    <a:pt x="0" y="70345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03453"/>
                  </a:lnTo>
                  <a:lnTo>
                    <a:pt x="8509" y="703453"/>
                  </a:lnTo>
                  <a:lnTo>
                    <a:pt x="8509" y="694944"/>
                  </a:lnTo>
                  <a:lnTo>
                    <a:pt x="7323709" y="694944"/>
                  </a:lnTo>
                  <a:lnTo>
                    <a:pt x="7323709" y="703453"/>
                  </a:lnTo>
                  <a:lnTo>
                    <a:pt x="7315200" y="703453"/>
                  </a:lnTo>
                  <a:lnTo>
                    <a:pt x="7315200" y="8509"/>
                  </a:lnTo>
                  <a:lnTo>
                    <a:pt x="7323709" y="8509"/>
                  </a:lnTo>
                  <a:lnTo>
                    <a:pt x="7323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8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3" name="Google Shape;823;p30"/>
          <p:cNvGrpSpPr/>
          <p:nvPr/>
        </p:nvGrpSpPr>
        <p:grpSpPr>
          <a:xfrm>
            <a:off x="472311" y="2421102"/>
            <a:ext cx="2621537" cy="121644"/>
            <a:chOff x="0" y="-28575"/>
            <a:chExt cx="6990766" cy="324383"/>
          </a:xfrm>
        </p:grpSpPr>
        <p:sp>
          <p:nvSpPr>
            <p:cNvPr id="824" name="Google Shape;824;p30"/>
            <p:cNvSpPr/>
            <p:nvPr/>
          </p:nvSpPr>
          <p:spPr>
            <a:xfrm>
              <a:off x="0" y="0"/>
              <a:ext cx="6990762" cy="295805"/>
            </a:xfrm>
            <a:custGeom>
              <a:rect b="b" l="l" r="r" t="t"/>
              <a:pathLst>
                <a:path extrusionOk="0" h="295805" w="6990762">
                  <a:moveTo>
                    <a:pt x="0" y="0"/>
                  </a:moveTo>
                  <a:lnTo>
                    <a:pt x="6990762" y="0"/>
                  </a:lnTo>
                  <a:lnTo>
                    <a:pt x="6990762" y="295805"/>
                  </a:lnTo>
                  <a:lnTo>
                    <a:pt x="0" y="295805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410490" l="0" r="0" t="-410490"/>
              </a:stretch>
            </a:blipFill>
            <a:ln>
              <a:noFill/>
            </a:ln>
          </p:spPr>
        </p:sp>
        <p:sp>
          <p:nvSpPr>
            <p:cNvPr id="825" name="Google Shape;825;p30"/>
            <p:cNvSpPr txBox="1"/>
            <p:nvPr/>
          </p:nvSpPr>
          <p:spPr>
            <a:xfrm>
              <a:off x="0" y="-28575"/>
              <a:ext cx="6990766" cy="324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Designed for &lt;2s detection latency</a:t>
              </a:r>
              <a:endParaRPr sz="700"/>
            </a:p>
          </p:txBody>
        </p:sp>
      </p:grpSp>
      <p:grpSp>
        <p:nvGrpSpPr>
          <p:cNvPr id="826" name="Google Shape;826;p30"/>
          <p:cNvGrpSpPr/>
          <p:nvPr/>
        </p:nvGrpSpPr>
        <p:grpSpPr>
          <a:xfrm>
            <a:off x="380872" y="2614413"/>
            <a:ext cx="2749581" cy="266986"/>
            <a:chOff x="0" y="0"/>
            <a:chExt cx="7332218" cy="711962"/>
          </a:xfrm>
        </p:grpSpPr>
        <p:sp>
          <p:nvSpPr>
            <p:cNvPr id="827" name="Google Shape;827;p30"/>
            <p:cNvSpPr/>
            <p:nvPr/>
          </p:nvSpPr>
          <p:spPr>
            <a:xfrm>
              <a:off x="8509" y="8509"/>
              <a:ext cx="7315200" cy="694944"/>
            </a:xfrm>
            <a:custGeom>
              <a:rect b="b" l="l" r="r" t="t"/>
              <a:pathLst>
                <a:path extrusionOk="0" h="6949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"/>
                  </a:lnTo>
                  <a:lnTo>
                    <a:pt x="0" y="694944"/>
                  </a:lnTo>
                  <a:close/>
                </a:path>
              </a:pathLst>
            </a:custGeom>
            <a:solidFill>
              <a:srgbClr val="EEF2FB"/>
            </a:solidFill>
            <a:ln>
              <a:noFill/>
            </a:ln>
          </p:spPr>
        </p:sp>
        <p:sp>
          <p:nvSpPr>
            <p:cNvPr id="828" name="Google Shape;828;p30"/>
            <p:cNvSpPr/>
            <p:nvPr/>
          </p:nvSpPr>
          <p:spPr>
            <a:xfrm>
              <a:off x="0" y="0"/>
              <a:ext cx="7332218" cy="711962"/>
            </a:xfrm>
            <a:custGeom>
              <a:rect b="b" l="l" r="r" t="t"/>
              <a:pathLst>
                <a:path extrusionOk="0" h="711962" w="7332218">
                  <a:moveTo>
                    <a:pt x="8509" y="0"/>
                  </a:moveTo>
                  <a:lnTo>
                    <a:pt x="7323709" y="0"/>
                  </a:lnTo>
                  <a:cubicBezTo>
                    <a:pt x="7328408" y="0"/>
                    <a:pt x="7332218" y="3810"/>
                    <a:pt x="7332218" y="8509"/>
                  </a:cubicBezTo>
                  <a:lnTo>
                    <a:pt x="7332218" y="703453"/>
                  </a:lnTo>
                  <a:cubicBezTo>
                    <a:pt x="7332218" y="708152"/>
                    <a:pt x="7328408" y="711962"/>
                    <a:pt x="7323709" y="711962"/>
                  </a:cubicBezTo>
                  <a:lnTo>
                    <a:pt x="8509" y="711962"/>
                  </a:lnTo>
                  <a:cubicBezTo>
                    <a:pt x="3810" y="711962"/>
                    <a:pt x="0" y="708152"/>
                    <a:pt x="0" y="70345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03453"/>
                  </a:lnTo>
                  <a:lnTo>
                    <a:pt x="8509" y="703453"/>
                  </a:lnTo>
                  <a:lnTo>
                    <a:pt x="8509" y="694944"/>
                  </a:lnTo>
                  <a:lnTo>
                    <a:pt x="7323709" y="694944"/>
                  </a:lnTo>
                  <a:lnTo>
                    <a:pt x="7323709" y="703453"/>
                  </a:lnTo>
                  <a:lnTo>
                    <a:pt x="7315200" y="703453"/>
                  </a:lnTo>
                  <a:lnTo>
                    <a:pt x="7315200" y="8509"/>
                  </a:lnTo>
                  <a:lnTo>
                    <a:pt x="7323709" y="8509"/>
                  </a:lnTo>
                  <a:lnTo>
                    <a:pt x="7323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8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9" name="Google Shape;829;p30"/>
          <p:cNvGrpSpPr/>
          <p:nvPr/>
        </p:nvGrpSpPr>
        <p:grpSpPr>
          <a:xfrm>
            <a:off x="472311" y="2681706"/>
            <a:ext cx="2621537" cy="121644"/>
            <a:chOff x="0" y="-28575"/>
            <a:chExt cx="6990766" cy="324383"/>
          </a:xfrm>
        </p:grpSpPr>
        <p:sp>
          <p:nvSpPr>
            <p:cNvPr id="830" name="Google Shape;830;p30"/>
            <p:cNvSpPr/>
            <p:nvPr/>
          </p:nvSpPr>
          <p:spPr>
            <a:xfrm>
              <a:off x="0" y="0"/>
              <a:ext cx="6990762" cy="295805"/>
            </a:xfrm>
            <a:custGeom>
              <a:rect b="b" l="l" r="r" t="t"/>
              <a:pathLst>
                <a:path extrusionOk="0" h="295805" w="6990762">
                  <a:moveTo>
                    <a:pt x="0" y="0"/>
                  </a:moveTo>
                  <a:lnTo>
                    <a:pt x="6990762" y="0"/>
                  </a:lnTo>
                  <a:lnTo>
                    <a:pt x="6990762" y="295805"/>
                  </a:lnTo>
                  <a:lnTo>
                    <a:pt x="0" y="295805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410490" l="0" r="0" t="-410490"/>
              </a:stretch>
            </a:blipFill>
            <a:ln>
              <a:noFill/>
            </a:ln>
          </p:spPr>
        </p:sp>
        <p:sp>
          <p:nvSpPr>
            <p:cNvPr id="831" name="Google Shape;831;p30"/>
            <p:cNvSpPr txBox="1"/>
            <p:nvPr/>
          </p:nvSpPr>
          <p:spPr>
            <a:xfrm>
              <a:off x="0" y="-28575"/>
              <a:ext cx="6990766" cy="324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vs T+1 next-day batch systems at most banks</a:t>
              </a:r>
              <a:endParaRPr sz="700"/>
            </a:p>
          </p:txBody>
        </p:sp>
      </p:grpSp>
      <p:grpSp>
        <p:nvGrpSpPr>
          <p:cNvPr id="832" name="Google Shape;832;p30"/>
          <p:cNvGrpSpPr/>
          <p:nvPr/>
        </p:nvGrpSpPr>
        <p:grpSpPr>
          <a:xfrm>
            <a:off x="3194052" y="1463664"/>
            <a:ext cx="2755868" cy="378429"/>
            <a:chOff x="0" y="0"/>
            <a:chExt cx="7348982" cy="1009144"/>
          </a:xfrm>
        </p:grpSpPr>
        <p:sp>
          <p:nvSpPr>
            <p:cNvPr id="833" name="Google Shape;833;p30"/>
            <p:cNvSpPr/>
            <p:nvPr/>
          </p:nvSpPr>
          <p:spPr>
            <a:xfrm>
              <a:off x="16891" y="16891"/>
              <a:ext cx="7315200" cy="975360"/>
            </a:xfrm>
            <a:custGeom>
              <a:rect b="b" l="l" r="r" t="t"/>
              <a:pathLst>
                <a:path extrusionOk="0"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6B3FA0"/>
            </a:solidFill>
            <a:ln>
              <a:noFill/>
            </a:ln>
          </p:spPr>
        </p:sp>
        <p:sp>
          <p:nvSpPr>
            <p:cNvPr id="834" name="Google Shape;834;p30"/>
            <p:cNvSpPr/>
            <p:nvPr/>
          </p:nvSpPr>
          <p:spPr>
            <a:xfrm>
              <a:off x="0" y="0"/>
              <a:ext cx="7348982" cy="1009144"/>
            </a:xfrm>
            <a:custGeom>
              <a:rect b="b" l="l" r="r" t="t"/>
              <a:pathLst>
                <a:path extrusionOk="0" h="100914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92251"/>
                  </a:lnTo>
                  <a:cubicBezTo>
                    <a:pt x="7348982" y="1001649"/>
                    <a:pt x="7341362" y="1009142"/>
                    <a:pt x="733209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7332091" y="975360"/>
                  </a:lnTo>
                  <a:lnTo>
                    <a:pt x="7332091" y="992251"/>
                  </a:lnTo>
                  <a:lnTo>
                    <a:pt x="7315200" y="9922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FA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30"/>
          <p:cNvGrpSpPr/>
          <p:nvPr/>
        </p:nvGrpSpPr>
        <p:grpSpPr>
          <a:xfrm>
            <a:off x="3242943" y="1527525"/>
            <a:ext cx="2658110" cy="236448"/>
            <a:chOff x="0" y="-38100"/>
            <a:chExt cx="7088294" cy="630530"/>
          </a:xfrm>
        </p:grpSpPr>
        <p:sp>
          <p:nvSpPr>
            <p:cNvPr id="836" name="Google Shape;836;p30"/>
            <p:cNvSpPr/>
            <p:nvPr/>
          </p:nvSpPr>
          <p:spPr>
            <a:xfrm>
              <a:off x="0" y="0"/>
              <a:ext cx="7088294" cy="592427"/>
            </a:xfrm>
            <a:custGeom>
              <a:rect b="b" l="l" r="r" t="t"/>
              <a:pathLst>
                <a:path extrusionOk="0" h="592427" w="7088294">
                  <a:moveTo>
                    <a:pt x="0" y="0"/>
                  </a:moveTo>
                  <a:lnTo>
                    <a:pt x="7088294" y="0"/>
                  </a:lnTo>
                  <a:lnTo>
                    <a:pt x="7088294" y="592427"/>
                  </a:lnTo>
                  <a:lnTo>
                    <a:pt x="0" y="592427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183144" l="0" r="0" t="-183144"/>
              </a:stretch>
            </a:blipFill>
            <a:ln>
              <a:noFill/>
            </a:ln>
          </p:spPr>
        </p:sp>
        <p:sp>
          <p:nvSpPr>
            <p:cNvPr id="837" name="Google Shape;837;p30"/>
            <p:cNvSpPr txBox="1"/>
            <p:nvPr/>
          </p:nvSpPr>
          <p:spPr>
            <a:xfrm>
              <a:off x="0" y="-38100"/>
              <a:ext cx="7088289" cy="6305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Challenges &amp; Mitigations</a:t>
              </a:r>
              <a:endParaRPr sz="700"/>
            </a:p>
          </p:txBody>
        </p:sp>
      </p:grpSp>
      <p:grpSp>
        <p:nvGrpSpPr>
          <p:cNvPr id="838" name="Google Shape;838;p30"/>
          <p:cNvGrpSpPr/>
          <p:nvPr/>
        </p:nvGrpSpPr>
        <p:grpSpPr>
          <a:xfrm>
            <a:off x="3197224" y="1832596"/>
            <a:ext cx="2749581" cy="266986"/>
            <a:chOff x="0" y="0"/>
            <a:chExt cx="7332218" cy="711962"/>
          </a:xfrm>
        </p:grpSpPr>
        <p:sp>
          <p:nvSpPr>
            <p:cNvPr id="839" name="Google Shape;839;p30"/>
            <p:cNvSpPr/>
            <p:nvPr/>
          </p:nvSpPr>
          <p:spPr>
            <a:xfrm>
              <a:off x="8509" y="8509"/>
              <a:ext cx="7315200" cy="694944"/>
            </a:xfrm>
            <a:custGeom>
              <a:rect b="b" l="l" r="r" t="t"/>
              <a:pathLst>
                <a:path extrusionOk="0" h="6949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"/>
                  </a:lnTo>
                  <a:lnTo>
                    <a:pt x="0" y="6949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40" name="Google Shape;840;p30"/>
            <p:cNvSpPr/>
            <p:nvPr/>
          </p:nvSpPr>
          <p:spPr>
            <a:xfrm>
              <a:off x="0" y="0"/>
              <a:ext cx="7332218" cy="711962"/>
            </a:xfrm>
            <a:custGeom>
              <a:rect b="b" l="l" r="r" t="t"/>
              <a:pathLst>
                <a:path extrusionOk="0" h="711962" w="7332218">
                  <a:moveTo>
                    <a:pt x="8509" y="0"/>
                  </a:moveTo>
                  <a:lnTo>
                    <a:pt x="7323709" y="0"/>
                  </a:lnTo>
                  <a:cubicBezTo>
                    <a:pt x="7328408" y="0"/>
                    <a:pt x="7332218" y="3810"/>
                    <a:pt x="7332218" y="8509"/>
                  </a:cubicBezTo>
                  <a:lnTo>
                    <a:pt x="7332218" y="703453"/>
                  </a:lnTo>
                  <a:cubicBezTo>
                    <a:pt x="7332218" y="708152"/>
                    <a:pt x="7328408" y="711962"/>
                    <a:pt x="7323709" y="711962"/>
                  </a:cubicBezTo>
                  <a:lnTo>
                    <a:pt x="8509" y="711962"/>
                  </a:lnTo>
                  <a:cubicBezTo>
                    <a:pt x="3810" y="711962"/>
                    <a:pt x="0" y="708152"/>
                    <a:pt x="0" y="70345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03453"/>
                  </a:lnTo>
                  <a:lnTo>
                    <a:pt x="8509" y="703453"/>
                  </a:lnTo>
                  <a:lnTo>
                    <a:pt x="8509" y="694944"/>
                  </a:lnTo>
                  <a:lnTo>
                    <a:pt x="7323709" y="694944"/>
                  </a:lnTo>
                  <a:lnTo>
                    <a:pt x="7323709" y="703453"/>
                  </a:lnTo>
                  <a:lnTo>
                    <a:pt x="7315200" y="703453"/>
                  </a:lnTo>
                  <a:lnTo>
                    <a:pt x="7315200" y="8509"/>
                  </a:lnTo>
                  <a:lnTo>
                    <a:pt x="7323709" y="8509"/>
                  </a:lnTo>
                  <a:lnTo>
                    <a:pt x="7323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8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1" name="Google Shape;841;p30"/>
          <p:cNvGrpSpPr/>
          <p:nvPr/>
        </p:nvGrpSpPr>
        <p:grpSpPr>
          <a:xfrm>
            <a:off x="3288663" y="1899894"/>
            <a:ext cx="2621537" cy="121644"/>
            <a:chOff x="0" y="-28575"/>
            <a:chExt cx="6990766" cy="324383"/>
          </a:xfrm>
        </p:grpSpPr>
        <p:sp>
          <p:nvSpPr>
            <p:cNvPr id="842" name="Google Shape;842;p30"/>
            <p:cNvSpPr/>
            <p:nvPr/>
          </p:nvSpPr>
          <p:spPr>
            <a:xfrm>
              <a:off x="0" y="0"/>
              <a:ext cx="6990760" cy="295807"/>
            </a:xfrm>
            <a:custGeom>
              <a:rect b="b" l="l" r="r" t="t"/>
              <a:pathLst>
                <a:path extrusionOk="0" h="295807" w="6990760">
                  <a:moveTo>
                    <a:pt x="0" y="0"/>
                  </a:moveTo>
                  <a:lnTo>
                    <a:pt x="6990760" y="0"/>
                  </a:lnTo>
                  <a:lnTo>
                    <a:pt x="6990760" y="295807"/>
                  </a:lnTo>
                  <a:lnTo>
                    <a:pt x="0" y="295807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410490" l="0" r="0" t="-410490"/>
              </a:stretch>
            </a:blipFill>
            <a:ln>
              <a:noFill/>
            </a:ln>
          </p:spPr>
        </p:sp>
        <p:sp>
          <p:nvSpPr>
            <p:cNvPr id="843" name="Google Shape;843;p30"/>
            <p:cNvSpPr txBox="1"/>
            <p:nvPr/>
          </p:nvSpPr>
          <p:spPr>
            <a:xfrm>
              <a:off x="0" y="-28575"/>
              <a:ext cx="6990766" cy="324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Large-scale graphs → Incremental updates (Medium)</a:t>
              </a:r>
              <a:endParaRPr sz="700"/>
            </a:p>
          </p:txBody>
        </p:sp>
      </p:grpSp>
      <p:grpSp>
        <p:nvGrpSpPr>
          <p:cNvPr id="844" name="Google Shape;844;p30"/>
          <p:cNvGrpSpPr/>
          <p:nvPr/>
        </p:nvGrpSpPr>
        <p:grpSpPr>
          <a:xfrm>
            <a:off x="3197224" y="2093200"/>
            <a:ext cx="2749581" cy="266986"/>
            <a:chOff x="0" y="0"/>
            <a:chExt cx="7332218" cy="711962"/>
          </a:xfrm>
        </p:grpSpPr>
        <p:sp>
          <p:nvSpPr>
            <p:cNvPr id="845" name="Google Shape;845;p30"/>
            <p:cNvSpPr/>
            <p:nvPr/>
          </p:nvSpPr>
          <p:spPr>
            <a:xfrm>
              <a:off x="8509" y="8509"/>
              <a:ext cx="7315200" cy="694944"/>
            </a:xfrm>
            <a:custGeom>
              <a:rect b="b" l="l" r="r" t="t"/>
              <a:pathLst>
                <a:path extrusionOk="0" h="6949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"/>
                  </a:lnTo>
                  <a:lnTo>
                    <a:pt x="0" y="694944"/>
                  </a:lnTo>
                  <a:close/>
                </a:path>
              </a:pathLst>
            </a:custGeom>
            <a:solidFill>
              <a:srgbClr val="EEF2FB"/>
            </a:solidFill>
            <a:ln>
              <a:noFill/>
            </a:ln>
          </p:spPr>
        </p:sp>
        <p:sp>
          <p:nvSpPr>
            <p:cNvPr id="846" name="Google Shape;846;p30"/>
            <p:cNvSpPr/>
            <p:nvPr/>
          </p:nvSpPr>
          <p:spPr>
            <a:xfrm>
              <a:off x="0" y="0"/>
              <a:ext cx="7332218" cy="711962"/>
            </a:xfrm>
            <a:custGeom>
              <a:rect b="b" l="l" r="r" t="t"/>
              <a:pathLst>
                <a:path extrusionOk="0" h="711962" w="7332218">
                  <a:moveTo>
                    <a:pt x="8509" y="0"/>
                  </a:moveTo>
                  <a:lnTo>
                    <a:pt x="7323709" y="0"/>
                  </a:lnTo>
                  <a:cubicBezTo>
                    <a:pt x="7328408" y="0"/>
                    <a:pt x="7332218" y="3810"/>
                    <a:pt x="7332218" y="8509"/>
                  </a:cubicBezTo>
                  <a:lnTo>
                    <a:pt x="7332218" y="703453"/>
                  </a:lnTo>
                  <a:cubicBezTo>
                    <a:pt x="7332218" y="708152"/>
                    <a:pt x="7328408" y="711962"/>
                    <a:pt x="7323709" y="711962"/>
                  </a:cubicBezTo>
                  <a:lnTo>
                    <a:pt x="8509" y="711962"/>
                  </a:lnTo>
                  <a:cubicBezTo>
                    <a:pt x="3810" y="711962"/>
                    <a:pt x="0" y="708152"/>
                    <a:pt x="0" y="70345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03453"/>
                  </a:lnTo>
                  <a:lnTo>
                    <a:pt x="8509" y="703453"/>
                  </a:lnTo>
                  <a:lnTo>
                    <a:pt x="8509" y="694944"/>
                  </a:lnTo>
                  <a:lnTo>
                    <a:pt x="7323709" y="694944"/>
                  </a:lnTo>
                  <a:lnTo>
                    <a:pt x="7323709" y="703453"/>
                  </a:lnTo>
                  <a:lnTo>
                    <a:pt x="7315200" y="703453"/>
                  </a:lnTo>
                  <a:lnTo>
                    <a:pt x="7315200" y="8509"/>
                  </a:lnTo>
                  <a:lnTo>
                    <a:pt x="7323709" y="8509"/>
                  </a:lnTo>
                  <a:lnTo>
                    <a:pt x="7323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8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7" name="Google Shape;847;p30"/>
          <p:cNvGrpSpPr/>
          <p:nvPr/>
        </p:nvGrpSpPr>
        <p:grpSpPr>
          <a:xfrm>
            <a:off x="3288663" y="2160498"/>
            <a:ext cx="2621537" cy="121644"/>
            <a:chOff x="0" y="-28575"/>
            <a:chExt cx="6990766" cy="324383"/>
          </a:xfrm>
        </p:grpSpPr>
        <p:sp>
          <p:nvSpPr>
            <p:cNvPr id="848" name="Google Shape;848;p30"/>
            <p:cNvSpPr/>
            <p:nvPr/>
          </p:nvSpPr>
          <p:spPr>
            <a:xfrm>
              <a:off x="0" y="0"/>
              <a:ext cx="6990760" cy="295805"/>
            </a:xfrm>
            <a:custGeom>
              <a:rect b="b" l="l" r="r" t="t"/>
              <a:pathLst>
                <a:path extrusionOk="0" h="295805" w="6990760">
                  <a:moveTo>
                    <a:pt x="0" y="0"/>
                  </a:moveTo>
                  <a:lnTo>
                    <a:pt x="6990760" y="0"/>
                  </a:lnTo>
                  <a:lnTo>
                    <a:pt x="6990760" y="295805"/>
                  </a:lnTo>
                  <a:lnTo>
                    <a:pt x="0" y="295805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410490" l="0" r="0" t="-410490"/>
              </a:stretch>
            </a:blipFill>
            <a:ln>
              <a:noFill/>
            </a:ln>
          </p:spPr>
        </p:sp>
        <p:sp>
          <p:nvSpPr>
            <p:cNvPr id="849" name="Google Shape;849;p30"/>
            <p:cNvSpPr txBox="1"/>
            <p:nvPr/>
          </p:nvSpPr>
          <p:spPr>
            <a:xfrm>
              <a:off x="0" y="-28575"/>
              <a:ext cx="6990766" cy="324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Data privacy → DPDP principles, minimal usage (Medium)</a:t>
              </a:r>
              <a:endParaRPr sz="700"/>
            </a:p>
          </p:txBody>
        </p:sp>
      </p:grpSp>
      <p:grpSp>
        <p:nvGrpSpPr>
          <p:cNvPr id="850" name="Google Shape;850;p30"/>
          <p:cNvGrpSpPr/>
          <p:nvPr/>
        </p:nvGrpSpPr>
        <p:grpSpPr>
          <a:xfrm>
            <a:off x="3197224" y="2353809"/>
            <a:ext cx="2749581" cy="266986"/>
            <a:chOff x="0" y="0"/>
            <a:chExt cx="7332218" cy="711962"/>
          </a:xfrm>
        </p:grpSpPr>
        <p:sp>
          <p:nvSpPr>
            <p:cNvPr id="851" name="Google Shape;851;p30"/>
            <p:cNvSpPr/>
            <p:nvPr/>
          </p:nvSpPr>
          <p:spPr>
            <a:xfrm>
              <a:off x="8509" y="8509"/>
              <a:ext cx="7315200" cy="694944"/>
            </a:xfrm>
            <a:custGeom>
              <a:rect b="b" l="l" r="r" t="t"/>
              <a:pathLst>
                <a:path extrusionOk="0" h="6949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"/>
                  </a:lnTo>
                  <a:lnTo>
                    <a:pt x="0" y="6949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52" name="Google Shape;852;p30"/>
            <p:cNvSpPr/>
            <p:nvPr/>
          </p:nvSpPr>
          <p:spPr>
            <a:xfrm>
              <a:off x="0" y="0"/>
              <a:ext cx="7332218" cy="711962"/>
            </a:xfrm>
            <a:custGeom>
              <a:rect b="b" l="l" r="r" t="t"/>
              <a:pathLst>
                <a:path extrusionOk="0" h="711962" w="7332218">
                  <a:moveTo>
                    <a:pt x="8509" y="0"/>
                  </a:moveTo>
                  <a:lnTo>
                    <a:pt x="7323709" y="0"/>
                  </a:lnTo>
                  <a:cubicBezTo>
                    <a:pt x="7328408" y="0"/>
                    <a:pt x="7332218" y="3810"/>
                    <a:pt x="7332218" y="8509"/>
                  </a:cubicBezTo>
                  <a:lnTo>
                    <a:pt x="7332218" y="703453"/>
                  </a:lnTo>
                  <a:cubicBezTo>
                    <a:pt x="7332218" y="708152"/>
                    <a:pt x="7328408" y="711962"/>
                    <a:pt x="7323709" y="711962"/>
                  </a:cubicBezTo>
                  <a:lnTo>
                    <a:pt x="8509" y="711962"/>
                  </a:lnTo>
                  <a:cubicBezTo>
                    <a:pt x="3810" y="711962"/>
                    <a:pt x="0" y="708152"/>
                    <a:pt x="0" y="70345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03453"/>
                  </a:lnTo>
                  <a:lnTo>
                    <a:pt x="8509" y="703453"/>
                  </a:lnTo>
                  <a:lnTo>
                    <a:pt x="8509" y="694944"/>
                  </a:lnTo>
                  <a:lnTo>
                    <a:pt x="7323709" y="694944"/>
                  </a:lnTo>
                  <a:lnTo>
                    <a:pt x="7323709" y="703453"/>
                  </a:lnTo>
                  <a:lnTo>
                    <a:pt x="7315200" y="703453"/>
                  </a:lnTo>
                  <a:lnTo>
                    <a:pt x="7315200" y="8509"/>
                  </a:lnTo>
                  <a:lnTo>
                    <a:pt x="7323709" y="8509"/>
                  </a:lnTo>
                  <a:lnTo>
                    <a:pt x="7323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8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3" name="Google Shape;853;p30"/>
          <p:cNvGrpSpPr/>
          <p:nvPr/>
        </p:nvGrpSpPr>
        <p:grpSpPr>
          <a:xfrm>
            <a:off x="3288663" y="2421102"/>
            <a:ext cx="2621537" cy="121644"/>
            <a:chOff x="0" y="-28575"/>
            <a:chExt cx="6990766" cy="324383"/>
          </a:xfrm>
        </p:grpSpPr>
        <p:sp>
          <p:nvSpPr>
            <p:cNvPr id="854" name="Google Shape;854;p30"/>
            <p:cNvSpPr/>
            <p:nvPr/>
          </p:nvSpPr>
          <p:spPr>
            <a:xfrm>
              <a:off x="0" y="0"/>
              <a:ext cx="6990760" cy="295805"/>
            </a:xfrm>
            <a:custGeom>
              <a:rect b="b" l="l" r="r" t="t"/>
              <a:pathLst>
                <a:path extrusionOk="0" h="295805" w="6990760">
                  <a:moveTo>
                    <a:pt x="0" y="0"/>
                  </a:moveTo>
                  <a:lnTo>
                    <a:pt x="6990760" y="0"/>
                  </a:lnTo>
                  <a:lnTo>
                    <a:pt x="6990760" y="295805"/>
                  </a:lnTo>
                  <a:lnTo>
                    <a:pt x="0" y="295805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410490" l="0" r="0" t="-410490"/>
              </a:stretch>
            </a:blipFill>
            <a:ln>
              <a:noFill/>
            </a:ln>
          </p:spPr>
        </p:sp>
        <p:sp>
          <p:nvSpPr>
            <p:cNvPr id="855" name="Google Shape;855;p30"/>
            <p:cNvSpPr txBox="1"/>
            <p:nvPr/>
          </p:nvSpPr>
          <p:spPr>
            <a:xfrm>
              <a:off x="0" y="-28575"/>
              <a:ext cx="6990766" cy="324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New users → 70+ rule-based cold-start checks (Low)</a:t>
              </a:r>
              <a:endParaRPr sz="700"/>
            </a:p>
          </p:txBody>
        </p:sp>
      </p:grpSp>
      <p:grpSp>
        <p:nvGrpSpPr>
          <p:cNvPr id="856" name="Google Shape;856;p30"/>
          <p:cNvGrpSpPr/>
          <p:nvPr/>
        </p:nvGrpSpPr>
        <p:grpSpPr>
          <a:xfrm>
            <a:off x="3197224" y="2614413"/>
            <a:ext cx="2749581" cy="266986"/>
            <a:chOff x="0" y="0"/>
            <a:chExt cx="7332218" cy="711962"/>
          </a:xfrm>
        </p:grpSpPr>
        <p:sp>
          <p:nvSpPr>
            <p:cNvPr id="857" name="Google Shape;857;p30"/>
            <p:cNvSpPr/>
            <p:nvPr/>
          </p:nvSpPr>
          <p:spPr>
            <a:xfrm>
              <a:off x="8509" y="8509"/>
              <a:ext cx="7315200" cy="694944"/>
            </a:xfrm>
            <a:custGeom>
              <a:rect b="b" l="l" r="r" t="t"/>
              <a:pathLst>
                <a:path extrusionOk="0" h="6949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"/>
                  </a:lnTo>
                  <a:lnTo>
                    <a:pt x="0" y="694944"/>
                  </a:lnTo>
                  <a:close/>
                </a:path>
              </a:pathLst>
            </a:custGeom>
            <a:solidFill>
              <a:srgbClr val="EEF2FB"/>
            </a:solidFill>
            <a:ln>
              <a:noFill/>
            </a:ln>
          </p:spPr>
        </p:sp>
        <p:sp>
          <p:nvSpPr>
            <p:cNvPr id="858" name="Google Shape;858;p30"/>
            <p:cNvSpPr/>
            <p:nvPr/>
          </p:nvSpPr>
          <p:spPr>
            <a:xfrm>
              <a:off x="0" y="0"/>
              <a:ext cx="7332218" cy="711962"/>
            </a:xfrm>
            <a:custGeom>
              <a:rect b="b" l="l" r="r" t="t"/>
              <a:pathLst>
                <a:path extrusionOk="0" h="711962" w="7332218">
                  <a:moveTo>
                    <a:pt x="8509" y="0"/>
                  </a:moveTo>
                  <a:lnTo>
                    <a:pt x="7323709" y="0"/>
                  </a:lnTo>
                  <a:cubicBezTo>
                    <a:pt x="7328408" y="0"/>
                    <a:pt x="7332218" y="3810"/>
                    <a:pt x="7332218" y="8509"/>
                  </a:cubicBezTo>
                  <a:lnTo>
                    <a:pt x="7332218" y="703453"/>
                  </a:lnTo>
                  <a:cubicBezTo>
                    <a:pt x="7332218" y="708152"/>
                    <a:pt x="7328408" y="711962"/>
                    <a:pt x="7323709" y="711962"/>
                  </a:cubicBezTo>
                  <a:lnTo>
                    <a:pt x="8509" y="711962"/>
                  </a:lnTo>
                  <a:cubicBezTo>
                    <a:pt x="3810" y="711962"/>
                    <a:pt x="0" y="708152"/>
                    <a:pt x="0" y="70345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03453"/>
                  </a:lnTo>
                  <a:lnTo>
                    <a:pt x="8509" y="703453"/>
                  </a:lnTo>
                  <a:lnTo>
                    <a:pt x="8509" y="694944"/>
                  </a:lnTo>
                  <a:lnTo>
                    <a:pt x="7323709" y="694944"/>
                  </a:lnTo>
                  <a:lnTo>
                    <a:pt x="7323709" y="703453"/>
                  </a:lnTo>
                  <a:lnTo>
                    <a:pt x="7315200" y="703453"/>
                  </a:lnTo>
                  <a:lnTo>
                    <a:pt x="7315200" y="8509"/>
                  </a:lnTo>
                  <a:lnTo>
                    <a:pt x="7323709" y="8509"/>
                  </a:lnTo>
                  <a:lnTo>
                    <a:pt x="7323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8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9" name="Google Shape;859;p30"/>
          <p:cNvGrpSpPr/>
          <p:nvPr/>
        </p:nvGrpSpPr>
        <p:grpSpPr>
          <a:xfrm>
            <a:off x="3288663" y="2681706"/>
            <a:ext cx="2621537" cy="121644"/>
            <a:chOff x="0" y="-28575"/>
            <a:chExt cx="6990766" cy="324383"/>
          </a:xfrm>
        </p:grpSpPr>
        <p:sp>
          <p:nvSpPr>
            <p:cNvPr id="860" name="Google Shape;860;p30"/>
            <p:cNvSpPr/>
            <p:nvPr/>
          </p:nvSpPr>
          <p:spPr>
            <a:xfrm>
              <a:off x="0" y="0"/>
              <a:ext cx="6990760" cy="295805"/>
            </a:xfrm>
            <a:custGeom>
              <a:rect b="b" l="l" r="r" t="t"/>
              <a:pathLst>
                <a:path extrusionOk="0" h="295805" w="6990760">
                  <a:moveTo>
                    <a:pt x="0" y="0"/>
                  </a:moveTo>
                  <a:lnTo>
                    <a:pt x="6990760" y="0"/>
                  </a:lnTo>
                  <a:lnTo>
                    <a:pt x="6990760" y="295805"/>
                  </a:lnTo>
                  <a:lnTo>
                    <a:pt x="0" y="295805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410490" l="0" r="0" t="-410490"/>
              </a:stretch>
            </a:blipFill>
            <a:ln>
              <a:noFill/>
            </a:ln>
          </p:spPr>
        </p:sp>
        <p:sp>
          <p:nvSpPr>
            <p:cNvPr id="861" name="Google Shape;861;p30"/>
            <p:cNvSpPr txBox="1"/>
            <p:nvPr/>
          </p:nvSpPr>
          <p:spPr>
            <a:xfrm>
              <a:off x="0" y="-28575"/>
              <a:ext cx="6990766" cy="324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Model drift → 30-day retraining + feedback loop (Low)</a:t>
              </a:r>
              <a:endParaRPr sz="700"/>
            </a:p>
          </p:txBody>
        </p:sp>
      </p:grpSp>
      <p:grpSp>
        <p:nvGrpSpPr>
          <p:cNvPr id="862" name="Google Shape;862;p30"/>
          <p:cNvGrpSpPr/>
          <p:nvPr/>
        </p:nvGrpSpPr>
        <p:grpSpPr>
          <a:xfrm>
            <a:off x="6010399" y="1463664"/>
            <a:ext cx="2755868" cy="378429"/>
            <a:chOff x="0" y="0"/>
            <a:chExt cx="7348982" cy="1009144"/>
          </a:xfrm>
        </p:grpSpPr>
        <p:sp>
          <p:nvSpPr>
            <p:cNvPr id="863" name="Google Shape;863;p30"/>
            <p:cNvSpPr/>
            <p:nvPr/>
          </p:nvSpPr>
          <p:spPr>
            <a:xfrm>
              <a:off x="16891" y="16891"/>
              <a:ext cx="7315200" cy="975360"/>
            </a:xfrm>
            <a:custGeom>
              <a:rect b="b" l="l" r="r" t="t"/>
              <a:pathLst>
                <a:path extrusionOk="0" h="9753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A7A5E"/>
            </a:solidFill>
            <a:ln>
              <a:noFill/>
            </a:ln>
          </p:spPr>
        </p:sp>
        <p:sp>
          <p:nvSpPr>
            <p:cNvPr id="864" name="Google Shape;864;p30"/>
            <p:cNvSpPr/>
            <p:nvPr/>
          </p:nvSpPr>
          <p:spPr>
            <a:xfrm>
              <a:off x="0" y="0"/>
              <a:ext cx="7348982" cy="1009144"/>
            </a:xfrm>
            <a:custGeom>
              <a:rect b="b" l="l" r="r" t="t"/>
              <a:pathLst>
                <a:path extrusionOk="0" h="100914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992251"/>
                  </a:lnTo>
                  <a:cubicBezTo>
                    <a:pt x="7348982" y="1001649"/>
                    <a:pt x="7341362" y="1009142"/>
                    <a:pt x="733209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7332091" y="975360"/>
                  </a:lnTo>
                  <a:lnTo>
                    <a:pt x="7332091" y="992251"/>
                  </a:lnTo>
                  <a:lnTo>
                    <a:pt x="7315200" y="9922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7A5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5" name="Google Shape;865;p30"/>
          <p:cNvGrpSpPr/>
          <p:nvPr/>
        </p:nvGrpSpPr>
        <p:grpSpPr>
          <a:xfrm>
            <a:off x="6059296" y="1527525"/>
            <a:ext cx="2658110" cy="236448"/>
            <a:chOff x="0" y="-38100"/>
            <a:chExt cx="7088294" cy="630530"/>
          </a:xfrm>
        </p:grpSpPr>
        <p:sp>
          <p:nvSpPr>
            <p:cNvPr id="866" name="Google Shape;866;p30"/>
            <p:cNvSpPr/>
            <p:nvPr/>
          </p:nvSpPr>
          <p:spPr>
            <a:xfrm>
              <a:off x="0" y="0"/>
              <a:ext cx="7088294" cy="592427"/>
            </a:xfrm>
            <a:custGeom>
              <a:rect b="b" l="l" r="r" t="t"/>
              <a:pathLst>
                <a:path extrusionOk="0" h="592427" w="7088294">
                  <a:moveTo>
                    <a:pt x="0" y="0"/>
                  </a:moveTo>
                  <a:lnTo>
                    <a:pt x="7088294" y="0"/>
                  </a:lnTo>
                  <a:lnTo>
                    <a:pt x="7088294" y="592427"/>
                  </a:lnTo>
                  <a:lnTo>
                    <a:pt x="0" y="592427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183144" l="0" r="0" t="-183144"/>
              </a:stretch>
            </a:blipFill>
            <a:ln>
              <a:noFill/>
            </a:ln>
          </p:spPr>
        </p:sp>
        <p:sp>
          <p:nvSpPr>
            <p:cNvPr id="867" name="Google Shape;867;p30"/>
            <p:cNvSpPr txBox="1"/>
            <p:nvPr/>
          </p:nvSpPr>
          <p:spPr>
            <a:xfrm>
              <a:off x="0" y="-38100"/>
              <a:ext cx="7088289" cy="6305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Regulatory Alignment</a:t>
              </a:r>
              <a:endParaRPr sz="700"/>
            </a:p>
          </p:txBody>
        </p:sp>
      </p:grpSp>
      <p:grpSp>
        <p:nvGrpSpPr>
          <p:cNvPr id="868" name="Google Shape;868;p30"/>
          <p:cNvGrpSpPr/>
          <p:nvPr/>
        </p:nvGrpSpPr>
        <p:grpSpPr>
          <a:xfrm>
            <a:off x="6013576" y="1832596"/>
            <a:ext cx="2749581" cy="266986"/>
            <a:chOff x="0" y="0"/>
            <a:chExt cx="7332218" cy="711962"/>
          </a:xfrm>
        </p:grpSpPr>
        <p:sp>
          <p:nvSpPr>
            <p:cNvPr id="869" name="Google Shape;869;p30"/>
            <p:cNvSpPr/>
            <p:nvPr/>
          </p:nvSpPr>
          <p:spPr>
            <a:xfrm>
              <a:off x="8509" y="8509"/>
              <a:ext cx="7315200" cy="694944"/>
            </a:xfrm>
            <a:custGeom>
              <a:rect b="b" l="l" r="r" t="t"/>
              <a:pathLst>
                <a:path extrusionOk="0" h="6949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"/>
                  </a:lnTo>
                  <a:lnTo>
                    <a:pt x="0" y="6949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70" name="Google Shape;870;p30"/>
            <p:cNvSpPr/>
            <p:nvPr/>
          </p:nvSpPr>
          <p:spPr>
            <a:xfrm>
              <a:off x="0" y="0"/>
              <a:ext cx="7332218" cy="711962"/>
            </a:xfrm>
            <a:custGeom>
              <a:rect b="b" l="l" r="r" t="t"/>
              <a:pathLst>
                <a:path extrusionOk="0" h="711962" w="7332218">
                  <a:moveTo>
                    <a:pt x="8509" y="0"/>
                  </a:moveTo>
                  <a:lnTo>
                    <a:pt x="7323709" y="0"/>
                  </a:lnTo>
                  <a:cubicBezTo>
                    <a:pt x="7328408" y="0"/>
                    <a:pt x="7332218" y="3810"/>
                    <a:pt x="7332218" y="8509"/>
                  </a:cubicBezTo>
                  <a:lnTo>
                    <a:pt x="7332218" y="703453"/>
                  </a:lnTo>
                  <a:cubicBezTo>
                    <a:pt x="7332218" y="708152"/>
                    <a:pt x="7328408" y="711962"/>
                    <a:pt x="7323709" y="711962"/>
                  </a:cubicBezTo>
                  <a:lnTo>
                    <a:pt x="8509" y="711962"/>
                  </a:lnTo>
                  <a:cubicBezTo>
                    <a:pt x="3810" y="711962"/>
                    <a:pt x="0" y="708152"/>
                    <a:pt x="0" y="70345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03453"/>
                  </a:lnTo>
                  <a:lnTo>
                    <a:pt x="8509" y="703453"/>
                  </a:lnTo>
                  <a:lnTo>
                    <a:pt x="8509" y="694944"/>
                  </a:lnTo>
                  <a:lnTo>
                    <a:pt x="7323709" y="694944"/>
                  </a:lnTo>
                  <a:lnTo>
                    <a:pt x="7323709" y="703453"/>
                  </a:lnTo>
                  <a:lnTo>
                    <a:pt x="7315200" y="703453"/>
                  </a:lnTo>
                  <a:lnTo>
                    <a:pt x="7315200" y="8509"/>
                  </a:lnTo>
                  <a:lnTo>
                    <a:pt x="7323709" y="8509"/>
                  </a:lnTo>
                  <a:lnTo>
                    <a:pt x="7323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8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1" name="Google Shape;871;p30"/>
          <p:cNvGrpSpPr/>
          <p:nvPr/>
        </p:nvGrpSpPr>
        <p:grpSpPr>
          <a:xfrm>
            <a:off x="6105016" y="1899894"/>
            <a:ext cx="2621537" cy="121644"/>
            <a:chOff x="0" y="-28575"/>
            <a:chExt cx="6990766" cy="324383"/>
          </a:xfrm>
        </p:grpSpPr>
        <p:sp>
          <p:nvSpPr>
            <p:cNvPr id="872" name="Google Shape;872;p30"/>
            <p:cNvSpPr/>
            <p:nvPr/>
          </p:nvSpPr>
          <p:spPr>
            <a:xfrm>
              <a:off x="0" y="0"/>
              <a:ext cx="6990760" cy="295807"/>
            </a:xfrm>
            <a:custGeom>
              <a:rect b="b" l="l" r="r" t="t"/>
              <a:pathLst>
                <a:path extrusionOk="0" h="295807" w="6990760">
                  <a:moveTo>
                    <a:pt x="0" y="0"/>
                  </a:moveTo>
                  <a:lnTo>
                    <a:pt x="6990760" y="0"/>
                  </a:lnTo>
                  <a:lnTo>
                    <a:pt x="6990760" y="295807"/>
                  </a:lnTo>
                  <a:lnTo>
                    <a:pt x="0" y="295807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410490" l="0" r="0" t="-410490"/>
              </a:stretch>
            </a:blipFill>
            <a:ln>
              <a:noFill/>
            </a:ln>
          </p:spPr>
        </p:sp>
        <p:sp>
          <p:nvSpPr>
            <p:cNvPr id="873" name="Google Shape;873;p30"/>
            <p:cNvSpPr txBox="1"/>
            <p:nvPr/>
          </p:nvSpPr>
          <p:spPr>
            <a:xfrm>
              <a:off x="0" y="-28575"/>
              <a:ext cx="6990766" cy="324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RBI fraud risk management guidelines</a:t>
              </a:r>
              <a:endParaRPr sz="700"/>
            </a:p>
          </p:txBody>
        </p:sp>
      </p:grpSp>
      <p:grpSp>
        <p:nvGrpSpPr>
          <p:cNvPr id="874" name="Google Shape;874;p30"/>
          <p:cNvGrpSpPr/>
          <p:nvPr/>
        </p:nvGrpSpPr>
        <p:grpSpPr>
          <a:xfrm>
            <a:off x="6013576" y="2093200"/>
            <a:ext cx="2749581" cy="266986"/>
            <a:chOff x="0" y="0"/>
            <a:chExt cx="7332218" cy="711962"/>
          </a:xfrm>
        </p:grpSpPr>
        <p:sp>
          <p:nvSpPr>
            <p:cNvPr id="875" name="Google Shape;875;p30"/>
            <p:cNvSpPr/>
            <p:nvPr/>
          </p:nvSpPr>
          <p:spPr>
            <a:xfrm>
              <a:off x="8509" y="8509"/>
              <a:ext cx="7315200" cy="694944"/>
            </a:xfrm>
            <a:custGeom>
              <a:rect b="b" l="l" r="r" t="t"/>
              <a:pathLst>
                <a:path extrusionOk="0" h="6949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"/>
                  </a:lnTo>
                  <a:lnTo>
                    <a:pt x="0" y="694944"/>
                  </a:lnTo>
                  <a:close/>
                </a:path>
              </a:pathLst>
            </a:custGeom>
            <a:solidFill>
              <a:srgbClr val="EEF2FB"/>
            </a:solidFill>
            <a:ln>
              <a:noFill/>
            </a:ln>
          </p:spPr>
        </p:sp>
        <p:sp>
          <p:nvSpPr>
            <p:cNvPr id="876" name="Google Shape;876;p30"/>
            <p:cNvSpPr/>
            <p:nvPr/>
          </p:nvSpPr>
          <p:spPr>
            <a:xfrm>
              <a:off x="0" y="0"/>
              <a:ext cx="7332218" cy="711962"/>
            </a:xfrm>
            <a:custGeom>
              <a:rect b="b" l="l" r="r" t="t"/>
              <a:pathLst>
                <a:path extrusionOk="0" h="711962" w="7332218">
                  <a:moveTo>
                    <a:pt x="8509" y="0"/>
                  </a:moveTo>
                  <a:lnTo>
                    <a:pt x="7323709" y="0"/>
                  </a:lnTo>
                  <a:cubicBezTo>
                    <a:pt x="7328408" y="0"/>
                    <a:pt x="7332218" y="3810"/>
                    <a:pt x="7332218" y="8509"/>
                  </a:cubicBezTo>
                  <a:lnTo>
                    <a:pt x="7332218" y="703453"/>
                  </a:lnTo>
                  <a:cubicBezTo>
                    <a:pt x="7332218" y="708152"/>
                    <a:pt x="7328408" y="711962"/>
                    <a:pt x="7323709" y="711962"/>
                  </a:cubicBezTo>
                  <a:lnTo>
                    <a:pt x="8509" y="711962"/>
                  </a:lnTo>
                  <a:cubicBezTo>
                    <a:pt x="3810" y="711962"/>
                    <a:pt x="0" y="708152"/>
                    <a:pt x="0" y="70345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03453"/>
                  </a:lnTo>
                  <a:lnTo>
                    <a:pt x="8509" y="703453"/>
                  </a:lnTo>
                  <a:lnTo>
                    <a:pt x="8509" y="694944"/>
                  </a:lnTo>
                  <a:lnTo>
                    <a:pt x="7323709" y="694944"/>
                  </a:lnTo>
                  <a:lnTo>
                    <a:pt x="7323709" y="703453"/>
                  </a:lnTo>
                  <a:lnTo>
                    <a:pt x="7315200" y="703453"/>
                  </a:lnTo>
                  <a:lnTo>
                    <a:pt x="7315200" y="8509"/>
                  </a:lnTo>
                  <a:lnTo>
                    <a:pt x="7323709" y="8509"/>
                  </a:lnTo>
                  <a:lnTo>
                    <a:pt x="7323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8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7" name="Google Shape;877;p30"/>
          <p:cNvGrpSpPr/>
          <p:nvPr/>
        </p:nvGrpSpPr>
        <p:grpSpPr>
          <a:xfrm>
            <a:off x="6105016" y="2160498"/>
            <a:ext cx="2621537" cy="121644"/>
            <a:chOff x="0" y="-28575"/>
            <a:chExt cx="6990766" cy="324383"/>
          </a:xfrm>
        </p:grpSpPr>
        <p:sp>
          <p:nvSpPr>
            <p:cNvPr id="878" name="Google Shape;878;p30"/>
            <p:cNvSpPr/>
            <p:nvPr/>
          </p:nvSpPr>
          <p:spPr>
            <a:xfrm>
              <a:off x="0" y="0"/>
              <a:ext cx="6990760" cy="295805"/>
            </a:xfrm>
            <a:custGeom>
              <a:rect b="b" l="l" r="r" t="t"/>
              <a:pathLst>
                <a:path extrusionOk="0" h="295805" w="6990760">
                  <a:moveTo>
                    <a:pt x="0" y="0"/>
                  </a:moveTo>
                  <a:lnTo>
                    <a:pt x="6990760" y="0"/>
                  </a:lnTo>
                  <a:lnTo>
                    <a:pt x="6990760" y="295805"/>
                  </a:lnTo>
                  <a:lnTo>
                    <a:pt x="0" y="295805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410490" l="0" r="0" t="-410490"/>
              </a:stretch>
            </a:blipFill>
            <a:ln>
              <a:noFill/>
            </a:ln>
          </p:spPr>
        </p:sp>
        <p:sp>
          <p:nvSpPr>
            <p:cNvPr id="879" name="Google Shape;879;p30"/>
            <p:cNvSpPr txBox="1"/>
            <p:nvPr/>
          </p:nvSpPr>
          <p:spPr>
            <a:xfrm>
              <a:off x="0" y="-28575"/>
              <a:ext cx="6990766" cy="324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PMLA reporting requirements</a:t>
              </a:r>
              <a:endParaRPr sz="700"/>
            </a:p>
          </p:txBody>
        </p:sp>
      </p:grpSp>
      <p:grpSp>
        <p:nvGrpSpPr>
          <p:cNvPr id="880" name="Google Shape;880;p30"/>
          <p:cNvGrpSpPr/>
          <p:nvPr/>
        </p:nvGrpSpPr>
        <p:grpSpPr>
          <a:xfrm>
            <a:off x="6013576" y="2353809"/>
            <a:ext cx="2749581" cy="266986"/>
            <a:chOff x="0" y="0"/>
            <a:chExt cx="7332218" cy="711962"/>
          </a:xfrm>
        </p:grpSpPr>
        <p:sp>
          <p:nvSpPr>
            <p:cNvPr id="881" name="Google Shape;881;p30"/>
            <p:cNvSpPr/>
            <p:nvPr/>
          </p:nvSpPr>
          <p:spPr>
            <a:xfrm>
              <a:off x="8509" y="8509"/>
              <a:ext cx="7315200" cy="694944"/>
            </a:xfrm>
            <a:custGeom>
              <a:rect b="b" l="l" r="r" t="t"/>
              <a:pathLst>
                <a:path extrusionOk="0" h="6949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"/>
                  </a:lnTo>
                  <a:lnTo>
                    <a:pt x="0" y="6949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82" name="Google Shape;882;p30"/>
            <p:cNvSpPr/>
            <p:nvPr/>
          </p:nvSpPr>
          <p:spPr>
            <a:xfrm>
              <a:off x="0" y="0"/>
              <a:ext cx="7332218" cy="711962"/>
            </a:xfrm>
            <a:custGeom>
              <a:rect b="b" l="l" r="r" t="t"/>
              <a:pathLst>
                <a:path extrusionOk="0" h="711962" w="7332218">
                  <a:moveTo>
                    <a:pt x="8509" y="0"/>
                  </a:moveTo>
                  <a:lnTo>
                    <a:pt x="7323709" y="0"/>
                  </a:lnTo>
                  <a:cubicBezTo>
                    <a:pt x="7328408" y="0"/>
                    <a:pt x="7332218" y="3810"/>
                    <a:pt x="7332218" y="8509"/>
                  </a:cubicBezTo>
                  <a:lnTo>
                    <a:pt x="7332218" y="703453"/>
                  </a:lnTo>
                  <a:cubicBezTo>
                    <a:pt x="7332218" y="708152"/>
                    <a:pt x="7328408" y="711962"/>
                    <a:pt x="7323709" y="711962"/>
                  </a:cubicBezTo>
                  <a:lnTo>
                    <a:pt x="8509" y="711962"/>
                  </a:lnTo>
                  <a:cubicBezTo>
                    <a:pt x="3810" y="711962"/>
                    <a:pt x="0" y="708152"/>
                    <a:pt x="0" y="70345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03453"/>
                  </a:lnTo>
                  <a:lnTo>
                    <a:pt x="8509" y="703453"/>
                  </a:lnTo>
                  <a:lnTo>
                    <a:pt x="8509" y="694944"/>
                  </a:lnTo>
                  <a:lnTo>
                    <a:pt x="7323709" y="694944"/>
                  </a:lnTo>
                  <a:lnTo>
                    <a:pt x="7323709" y="703453"/>
                  </a:lnTo>
                  <a:lnTo>
                    <a:pt x="7315200" y="703453"/>
                  </a:lnTo>
                  <a:lnTo>
                    <a:pt x="7315200" y="8509"/>
                  </a:lnTo>
                  <a:lnTo>
                    <a:pt x="7323709" y="8509"/>
                  </a:lnTo>
                  <a:lnTo>
                    <a:pt x="7323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8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3" name="Google Shape;883;p30"/>
          <p:cNvGrpSpPr/>
          <p:nvPr/>
        </p:nvGrpSpPr>
        <p:grpSpPr>
          <a:xfrm>
            <a:off x="6105016" y="2421102"/>
            <a:ext cx="2621537" cy="121644"/>
            <a:chOff x="0" y="-28575"/>
            <a:chExt cx="6990766" cy="324383"/>
          </a:xfrm>
        </p:grpSpPr>
        <p:sp>
          <p:nvSpPr>
            <p:cNvPr id="884" name="Google Shape;884;p30"/>
            <p:cNvSpPr/>
            <p:nvPr/>
          </p:nvSpPr>
          <p:spPr>
            <a:xfrm>
              <a:off x="0" y="0"/>
              <a:ext cx="6990760" cy="295805"/>
            </a:xfrm>
            <a:custGeom>
              <a:rect b="b" l="l" r="r" t="t"/>
              <a:pathLst>
                <a:path extrusionOk="0" h="295805" w="6990760">
                  <a:moveTo>
                    <a:pt x="0" y="0"/>
                  </a:moveTo>
                  <a:lnTo>
                    <a:pt x="6990760" y="0"/>
                  </a:lnTo>
                  <a:lnTo>
                    <a:pt x="6990760" y="295805"/>
                  </a:lnTo>
                  <a:lnTo>
                    <a:pt x="0" y="295805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410490" l="0" r="0" t="-410490"/>
              </a:stretch>
            </a:blipFill>
            <a:ln>
              <a:noFill/>
            </a:ln>
          </p:spPr>
        </p:sp>
        <p:sp>
          <p:nvSpPr>
            <p:cNvPr id="885" name="Google Shape;885;p30"/>
            <p:cNvSpPr txBox="1"/>
            <p:nvPr/>
          </p:nvSpPr>
          <p:spPr>
            <a:xfrm>
              <a:off x="0" y="-28575"/>
              <a:ext cx="6990766" cy="324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DPDP Act 2023 compliance</a:t>
              </a:r>
              <a:endParaRPr sz="700"/>
            </a:p>
          </p:txBody>
        </p:sp>
      </p:grpSp>
      <p:grpSp>
        <p:nvGrpSpPr>
          <p:cNvPr id="886" name="Google Shape;886;p30"/>
          <p:cNvGrpSpPr/>
          <p:nvPr/>
        </p:nvGrpSpPr>
        <p:grpSpPr>
          <a:xfrm>
            <a:off x="6013576" y="2614413"/>
            <a:ext cx="2749581" cy="266986"/>
            <a:chOff x="0" y="0"/>
            <a:chExt cx="7332218" cy="711962"/>
          </a:xfrm>
        </p:grpSpPr>
        <p:sp>
          <p:nvSpPr>
            <p:cNvPr id="887" name="Google Shape;887;p30"/>
            <p:cNvSpPr/>
            <p:nvPr/>
          </p:nvSpPr>
          <p:spPr>
            <a:xfrm>
              <a:off x="8509" y="8509"/>
              <a:ext cx="7315200" cy="694944"/>
            </a:xfrm>
            <a:custGeom>
              <a:rect b="b" l="l" r="r" t="t"/>
              <a:pathLst>
                <a:path extrusionOk="0" h="69494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94944"/>
                  </a:lnTo>
                  <a:lnTo>
                    <a:pt x="0" y="694944"/>
                  </a:lnTo>
                  <a:close/>
                </a:path>
              </a:pathLst>
            </a:custGeom>
            <a:solidFill>
              <a:srgbClr val="EEF2FB"/>
            </a:solidFill>
            <a:ln>
              <a:noFill/>
            </a:ln>
          </p:spPr>
        </p:sp>
        <p:sp>
          <p:nvSpPr>
            <p:cNvPr id="888" name="Google Shape;888;p30"/>
            <p:cNvSpPr/>
            <p:nvPr/>
          </p:nvSpPr>
          <p:spPr>
            <a:xfrm>
              <a:off x="0" y="0"/>
              <a:ext cx="7332218" cy="711962"/>
            </a:xfrm>
            <a:custGeom>
              <a:rect b="b" l="l" r="r" t="t"/>
              <a:pathLst>
                <a:path extrusionOk="0" h="711962" w="7332218">
                  <a:moveTo>
                    <a:pt x="8509" y="0"/>
                  </a:moveTo>
                  <a:lnTo>
                    <a:pt x="7323709" y="0"/>
                  </a:lnTo>
                  <a:cubicBezTo>
                    <a:pt x="7328408" y="0"/>
                    <a:pt x="7332218" y="3810"/>
                    <a:pt x="7332218" y="8509"/>
                  </a:cubicBezTo>
                  <a:lnTo>
                    <a:pt x="7332218" y="703453"/>
                  </a:lnTo>
                  <a:cubicBezTo>
                    <a:pt x="7332218" y="708152"/>
                    <a:pt x="7328408" y="711962"/>
                    <a:pt x="7323709" y="711962"/>
                  </a:cubicBezTo>
                  <a:lnTo>
                    <a:pt x="8509" y="711962"/>
                  </a:lnTo>
                  <a:cubicBezTo>
                    <a:pt x="3810" y="711962"/>
                    <a:pt x="0" y="708152"/>
                    <a:pt x="0" y="703453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703453"/>
                  </a:lnTo>
                  <a:lnTo>
                    <a:pt x="8509" y="703453"/>
                  </a:lnTo>
                  <a:lnTo>
                    <a:pt x="8509" y="694944"/>
                  </a:lnTo>
                  <a:lnTo>
                    <a:pt x="7323709" y="694944"/>
                  </a:lnTo>
                  <a:lnTo>
                    <a:pt x="7323709" y="703453"/>
                  </a:lnTo>
                  <a:lnTo>
                    <a:pt x="7315200" y="703453"/>
                  </a:lnTo>
                  <a:lnTo>
                    <a:pt x="7315200" y="8509"/>
                  </a:lnTo>
                  <a:lnTo>
                    <a:pt x="7323709" y="8509"/>
                  </a:lnTo>
                  <a:lnTo>
                    <a:pt x="73237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0D8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9" name="Google Shape;889;p30"/>
          <p:cNvGrpSpPr/>
          <p:nvPr/>
        </p:nvGrpSpPr>
        <p:grpSpPr>
          <a:xfrm>
            <a:off x="6105016" y="2681706"/>
            <a:ext cx="2621537" cy="121644"/>
            <a:chOff x="0" y="-28575"/>
            <a:chExt cx="6990766" cy="324383"/>
          </a:xfrm>
        </p:grpSpPr>
        <p:sp>
          <p:nvSpPr>
            <p:cNvPr id="890" name="Google Shape;890;p30"/>
            <p:cNvSpPr/>
            <p:nvPr/>
          </p:nvSpPr>
          <p:spPr>
            <a:xfrm>
              <a:off x="0" y="0"/>
              <a:ext cx="6990760" cy="295805"/>
            </a:xfrm>
            <a:custGeom>
              <a:rect b="b" l="l" r="r" t="t"/>
              <a:pathLst>
                <a:path extrusionOk="0" h="295805" w="6990760">
                  <a:moveTo>
                    <a:pt x="0" y="0"/>
                  </a:moveTo>
                  <a:lnTo>
                    <a:pt x="6990760" y="0"/>
                  </a:lnTo>
                  <a:lnTo>
                    <a:pt x="6990760" y="295805"/>
                  </a:lnTo>
                  <a:lnTo>
                    <a:pt x="0" y="295805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410490" l="0" r="0" t="-410490"/>
              </a:stretch>
            </a:blipFill>
            <a:ln>
              <a:noFill/>
            </a:ln>
          </p:spPr>
        </p:sp>
        <p:sp>
          <p:nvSpPr>
            <p:cNvPr id="891" name="Google Shape;891;p30"/>
            <p:cNvSpPr txBox="1"/>
            <p:nvPr/>
          </p:nvSpPr>
          <p:spPr>
            <a:xfrm>
              <a:off x="0" y="-28575"/>
              <a:ext cx="6990766" cy="3243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GB" sz="8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Deployable on standard AWS cloud infrastructure</a:t>
              </a:r>
              <a:endParaRPr sz="700"/>
            </a:p>
          </p:txBody>
        </p:sp>
      </p:grpSp>
      <p:grpSp>
        <p:nvGrpSpPr>
          <p:cNvPr id="892" name="Google Shape;892;p30"/>
          <p:cNvGrpSpPr/>
          <p:nvPr/>
        </p:nvGrpSpPr>
        <p:grpSpPr>
          <a:xfrm>
            <a:off x="362169" y="2956203"/>
            <a:ext cx="101346" cy="187404"/>
            <a:chOff x="0" y="0"/>
            <a:chExt cx="270256" cy="499745"/>
          </a:xfrm>
        </p:grpSpPr>
        <p:sp>
          <p:nvSpPr>
            <p:cNvPr id="893" name="Google Shape;893;p30"/>
            <p:cNvSpPr/>
            <p:nvPr/>
          </p:nvSpPr>
          <p:spPr>
            <a:xfrm>
              <a:off x="16891" y="16891"/>
              <a:ext cx="236474" cy="465963"/>
            </a:xfrm>
            <a:custGeom>
              <a:rect b="b" l="l" r="r" t="t"/>
              <a:pathLst>
                <a:path extrusionOk="0" h="465963" w="236474">
                  <a:moveTo>
                    <a:pt x="0" y="0"/>
                  </a:moveTo>
                  <a:lnTo>
                    <a:pt x="236474" y="0"/>
                  </a:lnTo>
                  <a:lnTo>
                    <a:pt x="236474" y="465963"/>
                  </a:lnTo>
                  <a:lnTo>
                    <a:pt x="0" y="465963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894" name="Google Shape;894;p30"/>
            <p:cNvSpPr/>
            <p:nvPr/>
          </p:nvSpPr>
          <p:spPr>
            <a:xfrm>
              <a:off x="0" y="0"/>
              <a:ext cx="270256" cy="499745"/>
            </a:xfrm>
            <a:custGeom>
              <a:rect b="b" l="l" r="r" t="t"/>
              <a:pathLst>
                <a:path extrusionOk="0" h="499745" w="270256">
                  <a:moveTo>
                    <a:pt x="16891" y="0"/>
                  </a:moveTo>
                  <a:lnTo>
                    <a:pt x="253365" y="0"/>
                  </a:lnTo>
                  <a:cubicBezTo>
                    <a:pt x="262763" y="0"/>
                    <a:pt x="270256" y="7620"/>
                    <a:pt x="270256" y="16891"/>
                  </a:cubicBezTo>
                  <a:lnTo>
                    <a:pt x="270256" y="482854"/>
                  </a:lnTo>
                  <a:cubicBezTo>
                    <a:pt x="270256" y="492252"/>
                    <a:pt x="262636" y="499745"/>
                    <a:pt x="253365" y="499745"/>
                  </a:cubicBezTo>
                  <a:lnTo>
                    <a:pt x="16891" y="499745"/>
                  </a:lnTo>
                  <a:cubicBezTo>
                    <a:pt x="7620" y="499745"/>
                    <a:pt x="0" y="492125"/>
                    <a:pt x="0" y="482854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2854"/>
                  </a:lnTo>
                  <a:lnTo>
                    <a:pt x="16891" y="482854"/>
                  </a:lnTo>
                  <a:lnTo>
                    <a:pt x="16891" y="465836"/>
                  </a:lnTo>
                  <a:lnTo>
                    <a:pt x="253365" y="465836"/>
                  </a:lnTo>
                  <a:lnTo>
                    <a:pt x="253365" y="482727"/>
                  </a:lnTo>
                  <a:lnTo>
                    <a:pt x="236474" y="482727"/>
                  </a:lnTo>
                  <a:lnTo>
                    <a:pt x="236474" y="16891"/>
                  </a:lnTo>
                  <a:lnTo>
                    <a:pt x="253365" y="16891"/>
                  </a:lnTo>
                  <a:lnTo>
                    <a:pt x="25336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5" name="Google Shape;895;p30"/>
          <p:cNvGrpSpPr/>
          <p:nvPr/>
        </p:nvGrpSpPr>
        <p:grpSpPr>
          <a:xfrm>
            <a:off x="508888" y="2970257"/>
            <a:ext cx="5492751" cy="145008"/>
            <a:chOff x="0" y="-38100"/>
            <a:chExt cx="14647335" cy="386690"/>
          </a:xfrm>
        </p:grpSpPr>
        <p:sp>
          <p:nvSpPr>
            <p:cNvPr id="896" name="Google Shape;896;p30"/>
            <p:cNvSpPr/>
            <p:nvPr/>
          </p:nvSpPr>
          <p:spPr>
            <a:xfrm>
              <a:off x="0" y="0"/>
              <a:ext cx="14647335" cy="348589"/>
            </a:xfrm>
            <a:custGeom>
              <a:rect b="b" l="l" r="r" t="t"/>
              <a:pathLst>
                <a:path extrusionOk="0" h="348589" w="14647335">
                  <a:moveTo>
                    <a:pt x="0" y="0"/>
                  </a:moveTo>
                  <a:lnTo>
                    <a:pt x="14647335" y="0"/>
                  </a:lnTo>
                  <a:lnTo>
                    <a:pt x="14647335" y="348589"/>
                  </a:lnTo>
                  <a:lnTo>
                    <a:pt x="0" y="348589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768867" l="0" r="0" t="-768867"/>
              </a:stretch>
            </a:blipFill>
            <a:ln>
              <a:noFill/>
            </a:ln>
          </p:spPr>
        </p:sp>
        <p:sp>
          <p:nvSpPr>
            <p:cNvPr id="897" name="Google Shape;897;p30"/>
            <p:cNvSpPr txBox="1"/>
            <p:nvPr/>
          </p:nvSpPr>
          <p:spPr>
            <a:xfrm>
              <a:off x="0" y="-38100"/>
              <a:ext cx="14647329" cy="386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0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Risk Classification &amp; Mitigation Strategy</a:t>
              </a:r>
              <a:endParaRPr sz="700"/>
            </a:p>
          </p:txBody>
        </p:sp>
      </p:grpSp>
      <p:grpSp>
        <p:nvGrpSpPr>
          <p:cNvPr id="898" name="Google Shape;898;p30"/>
          <p:cNvGrpSpPr/>
          <p:nvPr/>
        </p:nvGrpSpPr>
        <p:grpSpPr>
          <a:xfrm>
            <a:off x="359411" y="3182984"/>
            <a:ext cx="2088356" cy="163545"/>
            <a:chOff x="0" y="0"/>
            <a:chExt cx="5568950" cy="436118"/>
          </a:xfrm>
        </p:grpSpPr>
        <p:sp>
          <p:nvSpPr>
            <p:cNvPr id="899" name="Google Shape;899;p30"/>
            <p:cNvSpPr/>
            <p:nvPr/>
          </p:nvSpPr>
          <p:spPr>
            <a:xfrm>
              <a:off x="16891" y="16891"/>
              <a:ext cx="5535168" cy="402336"/>
            </a:xfrm>
            <a:custGeom>
              <a:rect b="b" l="l" r="r" t="t"/>
              <a:pathLst>
                <a:path extrusionOk="0" h="402336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</p:sp>
        <p:sp>
          <p:nvSpPr>
            <p:cNvPr id="900" name="Google Shape;900;p30"/>
            <p:cNvSpPr/>
            <p:nvPr/>
          </p:nvSpPr>
          <p:spPr>
            <a:xfrm>
              <a:off x="0" y="0"/>
              <a:ext cx="5568950" cy="436118"/>
            </a:xfrm>
            <a:custGeom>
              <a:rect b="b" l="l" r="r" t="t"/>
              <a:pathLst>
                <a:path extrusionOk="0" h="436118" w="5568950">
                  <a:moveTo>
                    <a:pt x="16891" y="0"/>
                  </a:moveTo>
                  <a:lnTo>
                    <a:pt x="5552059" y="0"/>
                  </a:lnTo>
                  <a:cubicBezTo>
                    <a:pt x="5561457" y="0"/>
                    <a:pt x="5568950" y="7620"/>
                    <a:pt x="5568950" y="16891"/>
                  </a:cubicBezTo>
                  <a:lnTo>
                    <a:pt x="5568950" y="419227"/>
                  </a:lnTo>
                  <a:cubicBezTo>
                    <a:pt x="5568950" y="428625"/>
                    <a:pt x="5561330" y="436118"/>
                    <a:pt x="5552059" y="436118"/>
                  </a:cubicBezTo>
                  <a:lnTo>
                    <a:pt x="16891" y="436118"/>
                  </a:lnTo>
                  <a:cubicBezTo>
                    <a:pt x="7620" y="436118"/>
                    <a:pt x="0" y="428625"/>
                    <a:pt x="0" y="4192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19227"/>
                  </a:lnTo>
                  <a:lnTo>
                    <a:pt x="16891" y="419227"/>
                  </a:lnTo>
                  <a:lnTo>
                    <a:pt x="16891" y="402336"/>
                  </a:lnTo>
                  <a:lnTo>
                    <a:pt x="5552059" y="402336"/>
                  </a:lnTo>
                  <a:lnTo>
                    <a:pt x="5552059" y="419227"/>
                  </a:lnTo>
                  <a:lnTo>
                    <a:pt x="5535168" y="419227"/>
                  </a:lnTo>
                  <a:lnTo>
                    <a:pt x="5535168" y="16891"/>
                  </a:lnTo>
                  <a:lnTo>
                    <a:pt x="5552059" y="16891"/>
                  </a:lnTo>
                  <a:lnTo>
                    <a:pt x="55520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1" name="Google Shape;901;p30"/>
          <p:cNvGrpSpPr/>
          <p:nvPr/>
        </p:nvGrpSpPr>
        <p:grpSpPr>
          <a:xfrm>
            <a:off x="356235" y="3330664"/>
            <a:ext cx="2094738" cy="1475184"/>
            <a:chOff x="0" y="0"/>
            <a:chExt cx="5585968" cy="3933825"/>
          </a:xfrm>
        </p:grpSpPr>
        <p:sp>
          <p:nvSpPr>
            <p:cNvPr id="902" name="Google Shape;902;p30"/>
            <p:cNvSpPr/>
            <p:nvPr/>
          </p:nvSpPr>
          <p:spPr>
            <a:xfrm>
              <a:off x="25400" y="25400"/>
              <a:ext cx="5535168" cy="3883025"/>
            </a:xfrm>
            <a:custGeom>
              <a:rect b="b" l="l" r="r" t="t"/>
              <a:pathLst>
                <a:path extrusionOk="0" h="3883025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3883025"/>
                  </a:lnTo>
                  <a:lnTo>
                    <a:pt x="0" y="38830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03" name="Google Shape;903;p30"/>
            <p:cNvSpPr/>
            <p:nvPr/>
          </p:nvSpPr>
          <p:spPr>
            <a:xfrm>
              <a:off x="0" y="0"/>
              <a:ext cx="5585968" cy="3933825"/>
            </a:xfrm>
            <a:custGeom>
              <a:rect b="b" l="l" r="r" t="t"/>
              <a:pathLst>
                <a:path extrusionOk="0" h="3933825" w="5585968">
                  <a:moveTo>
                    <a:pt x="25400" y="0"/>
                  </a:moveTo>
                  <a:lnTo>
                    <a:pt x="5560568" y="0"/>
                  </a:lnTo>
                  <a:cubicBezTo>
                    <a:pt x="5574538" y="0"/>
                    <a:pt x="5585968" y="11430"/>
                    <a:pt x="5585968" y="25400"/>
                  </a:cubicBezTo>
                  <a:lnTo>
                    <a:pt x="5585968" y="3908425"/>
                  </a:lnTo>
                  <a:cubicBezTo>
                    <a:pt x="5585968" y="3922395"/>
                    <a:pt x="5574538" y="3933825"/>
                    <a:pt x="5560568" y="3933825"/>
                  </a:cubicBezTo>
                  <a:lnTo>
                    <a:pt x="25400" y="3933825"/>
                  </a:lnTo>
                  <a:cubicBezTo>
                    <a:pt x="11430" y="3933825"/>
                    <a:pt x="0" y="3922395"/>
                    <a:pt x="0" y="3908425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08425"/>
                  </a:lnTo>
                  <a:lnTo>
                    <a:pt x="25400" y="3908425"/>
                  </a:lnTo>
                  <a:lnTo>
                    <a:pt x="25400" y="3883025"/>
                  </a:lnTo>
                  <a:lnTo>
                    <a:pt x="5560568" y="3883025"/>
                  </a:lnTo>
                  <a:lnTo>
                    <a:pt x="5560568" y="3908425"/>
                  </a:lnTo>
                  <a:lnTo>
                    <a:pt x="5535168" y="3908425"/>
                  </a:lnTo>
                  <a:lnTo>
                    <a:pt x="5535168" y="25400"/>
                  </a:lnTo>
                  <a:lnTo>
                    <a:pt x="5560568" y="25400"/>
                  </a:lnTo>
                  <a:lnTo>
                    <a:pt x="556056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4" name="Google Shape;904;p30"/>
          <p:cNvGrpSpPr/>
          <p:nvPr/>
        </p:nvGrpSpPr>
        <p:grpSpPr>
          <a:xfrm>
            <a:off x="1156335" y="3368574"/>
            <a:ext cx="494538" cy="494538"/>
            <a:chOff x="0" y="0"/>
            <a:chExt cx="1318768" cy="1318768"/>
          </a:xfrm>
        </p:grpSpPr>
        <p:sp>
          <p:nvSpPr>
            <p:cNvPr id="905" name="Google Shape;905;p30"/>
            <p:cNvSpPr/>
            <p:nvPr/>
          </p:nvSpPr>
          <p:spPr>
            <a:xfrm>
              <a:off x="25400" y="25400"/>
              <a:ext cx="1267968" cy="1267968"/>
            </a:xfrm>
            <a:custGeom>
              <a:rect b="b" l="l" r="r" t="t"/>
              <a:pathLst>
                <a:path extrusionOk="0"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B4530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0"/>
            <p:cNvSpPr/>
            <p:nvPr/>
          </p:nvSpPr>
          <p:spPr>
            <a:xfrm>
              <a:off x="0" y="0"/>
              <a:ext cx="1318768" cy="1318768"/>
            </a:xfrm>
            <a:custGeom>
              <a:rect b="b" l="l" r="r" t="t"/>
              <a:pathLst>
                <a:path extrusionOk="0" h="1318768" w="1318768">
                  <a:moveTo>
                    <a:pt x="0" y="659384"/>
                  </a:moveTo>
                  <a:cubicBezTo>
                    <a:pt x="0" y="295275"/>
                    <a:pt x="295275" y="0"/>
                    <a:pt x="659384" y="0"/>
                  </a:cubicBezTo>
                  <a:lnTo>
                    <a:pt x="659384" y="25400"/>
                  </a:lnTo>
                  <a:lnTo>
                    <a:pt x="659384" y="0"/>
                  </a:lnTo>
                  <a:cubicBezTo>
                    <a:pt x="1023493" y="0"/>
                    <a:pt x="1318768" y="295275"/>
                    <a:pt x="1318768" y="659384"/>
                  </a:cubicBezTo>
                  <a:lnTo>
                    <a:pt x="1293368" y="659384"/>
                  </a:lnTo>
                  <a:lnTo>
                    <a:pt x="1318768" y="659384"/>
                  </a:lnTo>
                  <a:cubicBezTo>
                    <a:pt x="1318768" y="1023493"/>
                    <a:pt x="1023493" y="1318768"/>
                    <a:pt x="659384" y="1318768"/>
                  </a:cubicBezTo>
                  <a:lnTo>
                    <a:pt x="659384" y="1293368"/>
                  </a:lnTo>
                  <a:lnTo>
                    <a:pt x="659384" y="1318768"/>
                  </a:lnTo>
                  <a:cubicBezTo>
                    <a:pt x="295275" y="1318768"/>
                    <a:pt x="0" y="1023493"/>
                    <a:pt x="0" y="659384"/>
                  </a:cubicBezTo>
                  <a:lnTo>
                    <a:pt x="25400" y="659384"/>
                  </a:lnTo>
                  <a:lnTo>
                    <a:pt x="50800" y="659384"/>
                  </a:lnTo>
                  <a:lnTo>
                    <a:pt x="25400" y="659384"/>
                  </a:lnTo>
                  <a:lnTo>
                    <a:pt x="0" y="659384"/>
                  </a:lnTo>
                  <a:moveTo>
                    <a:pt x="50800" y="659384"/>
                  </a:moveTo>
                  <a:cubicBezTo>
                    <a:pt x="50800" y="673354"/>
                    <a:pt x="39370" y="684784"/>
                    <a:pt x="25400" y="684784"/>
                  </a:cubicBezTo>
                  <a:cubicBezTo>
                    <a:pt x="11430" y="684784"/>
                    <a:pt x="0" y="673354"/>
                    <a:pt x="0" y="659384"/>
                  </a:cubicBezTo>
                  <a:cubicBezTo>
                    <a:pt x="0" y="645414"/>
                    <a:pt x="11430" y="633984"/>
                    <a:pt x="25400" y="633984"/>
                  </a:cubicBezTo>
                  <a:cubicBezTo>
                    <a:pt x="39370" y="633984"/>
                    <a:pt x="50800" y="645414"/>
                    <a:pt x="50800" y="659384"/>
                  </a:cubicBezTo>
                  <a:cubicBezTo>
                    <a:pt x="50800" y="995553"/>
                    <a:pt x="323215" y="1267968"/>
                    <a:pt x="659384" y="1267968"/>
                  </a:cubicBezTo>
                  <a:cubicBezTo>
                    <a:pt x="995553" y="1267968"/>
                    <a:pt x="1267968" y="995553"/>
                    <a:pt x="1267968" y="659384"/>
                  </a:cubicBezTo>
                  <a:cubicBezTo>
                    <a:pt x="1267968" y="323215"/>
                    <a:pt x="995553" y="50800"/>
                    <a:pt x="659384" y="50800"/>
                  </a:cubicBezTo>
                  <a:lnTo>
                    <a:pt x="659384" y="25400"/>
                  </a:lnTo>
                  <a:lnTo>
                    <a:pt x="659384" y="50800"/>
                  </a:lnTo>
                  <a:cubicBezTo>
                    <a:pt x="323215" y="50800"/>
                    <a:pt x="50800" y="323215"/>
                    <a:pt x="50800" y="659384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7" name="Google Shape;907;p30"/>
          <p:cNvGrpSpPr/>
          <p:nvPr/>
        </p:nvGrpSpPr>
        <p:grpSpPr>
          <a:xfrm>
            <a:off x="1208404" y="3482278"/>
            <a:ext cx="390397" cy="292308"/>
            <a:chOff x="0" y="-47625"/>
            <a:chExt cx="1041059" cy="779488"/>
          </a:xfrm>
        </p:grpSpPr>
        <p:sp>
          <p:nvSpPr>
            <p:cNvPr id="908" name="Google Shape;908;p30"/>
            <p:cNvSpPr/>
            <p:nvPr/>
          </p:nvSpPr>
          <p:spPr>
            <a:xfrm>
              <a:off x="0" y="0"/>
              <a:ext cx="1041059" cy="731863"/>
            </a:xfrm>
            <a:custGeom>
              <a:rect b="b" l="l" r="r" t="t"/>
              <a:pathLst>
                <a:path extrusionOk="0" h="731863" w="1041059">
                  <a:moveTo>
                    <a:pt x="0" y="0"/>
                  </a:moveTo>
                  <a:lnTo>
                    <a:pt x="1041059" y="0"/>
                  </a:lnTo>
                  <a:lnTo>
                    <a:pt x="1041059" y="731863"/>
                  </a:lnTo>
                  <a:lnTo>
                    <a:pt x="0" y="731863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0" l="-40197" r="-40197" t="0"/>
              </a:stretch>
            </a:blipFill>
            <a:ln>
              <a:noFill/>
            </a:ln>
          </p:spPr>
        </p:sp>
        <p:sp>
          <p:nvSpPr>
            <p:cNvPr id="909" name="Google Shape;909;p30"/>
            <p:cNvSpPr txBox="1"/>
            <p:nvPr/>
          </p:nvSpPr>
          <p:spPr>
            <a:xfrm>
              <a:off x="0" y="-47625"/>
              <a:ext cx="1041057" cy="779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700"/>
            </a:p>
          </p:txBody>
        </p:sp>
      </p:grpSp>
      <p:grpSp>
        <p:nvGrpSpPr>
          <p:cNvPr id="910" name="Google Shape;910;p30"/>
          <p:cNvGrpSpPr/>
          <p:nvPr/>
        </p:nvGrpSpPr>
        <p:grpSpPr>
          <a:xfrm>
            <a:off x="435735" y="3909908"/>
            <a:ext cx="1935737" cy="287512"/>
            <a:chOff x="0" y="-38100"/>
            <a:chExt cx="5161966" cy="766699"/>
          </a:xfrm>
        </p:grpSpPr>
        <p:sp>
          <p:nvSpPr>
            <p:cNvPr id="911" name="Google Shape;911;p30"/>
            <p:cNvSpPr/>
            <p:nvPr/>
          </p:nvSpPr>
          <p:spPr>
            <a:xfrm>
              <a:off x="0" y="0"/>
              <a:ext cx="5161961" cy="728597"/>
            </a:xfrm>
            <a:custGeom>
              <a:rect b="b" l="l" r="r" t="t"/>
              <a:pathLst>
                <a:path extrusionOk="0" h="728597" w="5161961">
                  <a:moveTo>
                    <a:pt x="0" y="0"/>
                  </a:moveTo>
                  <a:lnTo>
                    <a:pt x="5161961" y="0"/>
                  </a:lnTo>
                  <a:lnTo>
                    <a:pt x="5161961" y="728597"/>
                  </a:lnTo>
                  <a:lnTo>
                    <a:pt x="0" y="728597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88045" l="0" r="0" t="-88045"/>
              </a:stretch>
            </a:blipFill>
            <a:ln>
              <a:noFill/>
            </a:ln>
          </p:spPr>
        </p:sp>
        <p:sp>
          <p:nvSpPr>
            <p:cNvPr id="912" name="Google Shape;912;p30"/>
            <p:cNvSpPr txBox="1"/>
            <p:nvPr/>
          </p:nvSpPr>
          <p:spPr>
            <a:xfrm>
              <a:off x="0" y="-38100"/>
              <a:ext cx="5161966" cy="7666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Large-Scale</a:t>
              </a:r>
              <a:endParaRPr sz="700"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Transaction Graphs</a:t>
              </a:r>
              <a:endParaRPr sz="700"/>
            </a:p>
          </p:txBody>
        </p:sp>
      </p:grpSp>
      <p:grpSp>
        <p:nvGrpSpPr>
          <p:cNvPr id="913" name="Google Shape;913;p30"/>
          <p:cNvGrpSpPr/>
          <p:nvPr/>
        </p:nvGrpSpPr>
        <p:grpSpPr>
          <a:xfrm>
            <a:off x="670308" y="4250555"/>
            <a:ext cx="1466612" cy="232124"/>
            <a:chOff x="0" y="0"/>
            <a:chExt cx="3910965" cy="618998"/>
          </a:xfrm>
        </p:grpSpPr>
        <p:sp>
          <p:nvSpPr>
            <p:cNvPr id="914" name="Google Shape;914;p30"/>
            <p:cNvSpPr/>
            <p:nvPr/>
          </p:nvSpPr>
          <p:spPr>
            <a:xfrm>
              <a:off x="16891" y="16891"/>
              <a:ext cx="3877056" cy="585216"/>
            </a:xfrm>
            <a:custGeom>
              <a:rect b="b" l="l" r="r" t="t"/>
              <a:pathLst>
                <a:path extrusionOk="0" h="585216" w="3877056">
                  <a:moveTo>
                    <a:pt x="0" y="97536"/>
                  </a:moveTo>
                  <a:cubicBezTo>
                    <a:pt x="0" y="43688"/>
                    <a:pt x="45847" y="0"/>
                    <a:pt x="102235" y="0"/>
                  </a:cubicBezTo>
                  <a:lnTo>
                    <a:pt x="3774821" y="0"/>
                  </a:lnTo>
                  <a:cubicBezTo>
                    <a:pt x="3831336" y="0"/>
                    <a:pt x="3877056" y="43688"/>
                    <a:pt x="3877056" y="97536"/>
                  </a:cubicBezTo>
                  <a:lnTo>
                    <a:pt x="3877056" y="487680"/>
                  </a:lnTo>
                  <a:cubicBezTo>
                    <a:pt x="3877056" y="541528"/>
                    <a:pt x="3831209" y="585216"/>
                    <a:pt x="3774821" y="585216"/>
                  </a:cubicBezTo>
                  <a:lnTo>
                    <a:pt x="102362" y="585216"/>
                  </a:lnTo>
                  <a:cubicBezTo>
                    <a:pt x="45847" y="585216"/>
                    <a:pt x="127" y="541528"/>
                    <a:pt x="127" y="487680"/>
                  </a:cubicBezTo>
                  <a:close/>
                </a:path>
              </a:pathLst>
            </a:custGeom>
            <a:solidFill>
              <a:srgbClr val="FEF3C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0"/>
            <p:cNvSpPr/>
            <p:nvPr/>
          </p:nvSpPr>
          <p:spPr>
            <a:xfrm>
              <a:off x="0" y="0"/>
              <a:ext cx="3910965" cy="618998"/>
            </a:xfrm>
            <a:custGeom>
              <a:rect b="b" l="l" r="r" t="t"/>
              <a:pathLst>
                <a:path extrusionOk="0" h="618998" w="3910965">
                  <a:moveTo>
                    <a:pt x="0" y="114427"/>
                  </a:moveTo>
                  <a:cubicBezTo>
                    <a:pt x="0" y="50546"/>
                    <a:pt x="54102" y="0"/>
                    <a:pt x="119253" y="0"/>
                  </a:cubicBezTo>
                  <a:lnTo>
                    <a:pt x="3791712" y="0"/>
                  </a:lnTo>
                  <a:lnTo>
                    <a:pt x="3791712" y="16891"/>
                  </a:lnTo>
                  <a:lnTo>
                    <a:pt x="3791712" y="0"/>
                  </a:lnTo>
                  <a:cubicBezTo>
                    <a:pt x="3856736" y="0"/>
                    <a:pt x="3910965" y="50546"/>
                    <a:pt x="3910965" y="114427"/>
                  </a:cubicBezTo>
                  <a:lnTo>
                    <a:pt x="3894074" y="114427"/>
                  </a:lnTo>
                  <a:lnTo>
                    <a:pt x="3910965" y="114427"/>
                  </a:lnTo>
                  <a:lnTo>
                    <a:pt x="3910965" y="504571"/>
                  </a:lnTo>
                  <a:lnTo>
                    <a:pt x="3894074" y="504571"/>
                  </a:lnTo>
                  <a:lnTo>
                    <a:pt x="3910965" y="504571"/>
                  </a:lnTo>
                  <a:cubicBezTo>
                    <a:pt x="3910965" y="568579"/>
                    <a:pt x="3856863" y="618998"/>
                    <a:pt x="3791712" y="618998"/>
                  </a:cubicBezTo>
                  <a:lnTo>
                    <a:pt x="3791712" y="602107"/>
                  </a:lnTo>
                  <a:lnTo>
                    <a:pt x="3791712" y="618998"/>
                  </a:lnTo>
                  <a:lnTo>
                    <a:pt x="119253" y="618998"/>
                  </a:lnTo>
                  <a:lnTo>
                    <a:pt x="119253" y="602107"/>
                  </a:lnTo>
                  <a:lnTo>
                    <a:pt x="119253" y="618998"/>
                  </a:lnTo>
                  <a:cubicBezTo>
                    <a:pt x="54102" y="619125"/>
                    <a:pt x="0" y="568579"/>
                    <a:pt x="0" y="504571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504571"/>
                  </a:lnTo>
                  <a:lnTo>
                    <a:pt x="16891" y="504571"/>
                  </a:lnTo>
                  <a:lnTo>
                    <a:pt x="33909" y="504571"/>
                  </a:lnTo>
                  <a:cubicBezTo>
                    <a:pt x="33909" y="548386"/>
                    <a:pt x="71374" y="585216"/>
                    <a:pt x="119253" y="585216"/>
                  </a:cubicBezTo>
                  <a:lnTo>
                    <a:pt x="3791712" y="585216"/>
                  </a:lnTo>
                  <a:cubicBezTo>
                    <a:pt x="3839591" y="585216"/>
                    <a:pt x="3877056" y="548386"/>
                    <a:pt x="3877056" y="504571"/>
                  </a:cubicBezTo>
                  <a:lnTo>
                    <a:pt x="3877056" y="114427"/>
                  </a:lnTo>
                  <a:cubicBezTo>
                    <a:pt x="3877056" y="70612"/>
                    <a:pt x="3839591" y="33782"/>
                    <a:pt x="3791712" y="33782"/>
                  </a:cubicBezTo>
                  <a:lnTo>
                    <a:pt x="119253" y="33782"/>
                  </a:lnTo>
                  <a:lnTo>
                    <a:pt x="119253" y="16891"/>
                  </a:lnTo>
                  <a:lnTo>
                    <a:pt x="119253" y="33909"/>
                  </a:lnTo>
                  <a:cubicBezTo>
                    <a:pt x="71374" y="33909"/>
                    <a:pt x="33909" y="70739"/>
                    <a:pt x="33909" y="114554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6" name="Google Shape;916;p30"/>
          <p:cNvGrpSpPr/>
          <p:nvPr/>
        </p:nvGrpSpPr>
        <p:grpSpPr>
          <a:xfrm>
            <a:off x="719200" y="4254736"/>
            <a:ext cx="1368806" cy="213084"/>
            <a:chOff x="0" y="-28575"/>
            <a:chExt cx="3650149" cy="568223"/>
          </a:xfrm>
        </p:grpSpPr>
        <p:sp>
          <p:nvSpPr>
            <p:cNvPr id="917" name="Google Shape;917;p30"/>
            <p:cNvSpPr/>
            <p:nvPr/>
          </p:nvSpPr>
          <p:spPr>
            <a:xfrm>
              <a:off x="0" y="0"/>
              <a:ext cx="3650149" cy="539643"/>
            </a:xfrm>
            <a:custGeom>
              <a:rect b="b" l="l" r="r" t="t"/>
              <a:pathLst>
                <a:path extrusionOk="0" h="539643" w="3650149">
                  <a:moveTo>
                    <a:pt x="0" y="0"/>
                  </a:moveTo>
                  <a:lnTo>
                    <a:pt x="3650149" y="0"/>
                  </a:lnTo>
                  <a:lnTo>
                    <a:pt x="3650149" y="539643"/>
                  </a:lnTo>
                  <a:lnTo>
                    <a:pt x="0" y="539643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81799" l="0" r="0" t="-81796"/>
              </a:stretch>
            </a:blipFill>
            <a:ln>
              <a:noFill/>
            </a:ln>
          </p:spPr>
        </p:sp>
        <p:sp>
          <p:nvSpPr>
            <p:cNvPr id="918" name="Google Shape;918;p30"/>
            <p:cNvSpPr txBox="1"/>
            <p:nvPr/>
          </p:nvSpPr>
          <p:spPr>
            <a:xfrm>
              <a:off x="0" y="-28575"/>
              <a:ext cx="3650145" cy="568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800" u="none" cap="none" strike="noStrike">
                  <a:solidFill>
                    <a:srgbClr val="B45309"/>
                  </a:solidFill>
                  <a:latin typeface="Calibri"/>
                  <a:ea typeface="Calibri"/>
                  <a:cs typeface="Calibri"/>
                  <a:sym typeface="Calibri"/>
                </a:rPr>
                <a:t>MEDIUM RISK</a:t>
              </a:r>
              <a:endParaRPr sz="700"/>
            </a:p>
          </p:txBody>
        </p:sp>
      </p:grpSp>
      <p:grpSp>
        <p:nvGrpSpPr>
          <p:cNvPr id="919" name="Google Shape;919;p30"/>
          <p:cNvGrpSpPr/>
          <p:nvPr/>
        </p:nvGrpSpPr>
        <p:grpSpPr>
          <a:xfrm>
            <a:off x="435735" y="4466530"/>
            <a:ext cx="1935737" cy="263514"/>
            <a:chOff x="0" y="-38100"/>
            <a:chExt cx="5161966" cy="702704"/>
          </a:xfrm>
        </p:grpSpPr>
        <p:sp>
          <p:nvSpPr>
            <p:cNvPr id="920" name="Google Shape;920;p30"/>
            <p:cNvSpPr/>
            <p:nvPr/>
          </p:nvSpPr>
          <p:spPr>
            <a:xfrm>
              <a:off x="0" y="0"/>
              <a:ext cx="5161961" cy="664601"/>
            </a:xfrm>
            <a:custGeom>
              <a:rect b="b" l="l" r="r" t="t"/>
              <a:pathLst>
                <a:path extrusionOk="0" h="664601" w="5161961">
                  <a:moveTo>
                    <a:pt x="0" y="0"/>
                  </a:moveTo>
                  <a:lnTo>
                    <a:pt x="5161961" y="0"/>
                  </a:lnTo>
                  <a:lnTo>
                    <a:pt x="5161961" y="664601"/>
                  </a:lnTo>
                  <a:lnTo>
                    <a:pt x="0" y="664601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101341" l="0" r="0" t="-101341"/>
              </a:stretch>
            </a:blipFill>
            <a:ln>
              <a:noFill/>
            </a:ln>
          </p:spPr>
        </p:sp>
        <p:sp>
          <p:nvSpPr>
            <p:cNvPr id="921" name="Google Shape;921;p30"/>
            <p:cNvSpPr txBox="1"/>
            <p:nvPr/>
          </p:nvSpPr>
          <p:spPr>
            <a:xfrm>
              <a:off x="0" y="-38100"/>
              <a:ext cx="5161966" cy="702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Incremental updates </a:t>
              </a:r>
              <a:endParaRPr sz="700"/>
            </a:p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data split by account groups</a:t>
              </a:r>
              <a:endParaRPr sz="700"/>
            </a:p>
          </p:txBody>
        </p:sp>
      </p:grpSp>
      <p:grpSp>
        <p:nvGrpSpPr>
          <p:cNvPr id="922" name="Google Shape;922;p30"/>
          <p:cNvGrpSpPr/>
          <p:nvPr/>
        </p:nvGrpSpPr>
        <p:grpSpPr>
          <a:xfrm>
            <a:off x="2468499" y="3182984"/>
            <a:ext cx="2091547" cy="153306"/>
            <a:chOff x="0" y="0"/>
            <a:chExt cx="5577459" cy="408815"/>
          </a:xfrm>
        </p:grpSpPr>
        <p:sp>
          <p:nvSpPr>
            <p:cNvPr id="923" name="Google Shape;923;p30"/>
            <p:cNvSpPr/>
            <p:nvPr/>
          </p:nvSpPr>
          <p:spPr>
            <a:xfrm>
              <a:off x="16891" y="16891"/>
              <a:ext cx="5543677" cy="375031"/>
            </a:xfrm>
            <a:custGeom>
              <a:rect b="b" l="l" r="r" t="t"/>
              <a:pathLst>
                <a:path extrusionOk="0" h="375031" w="5543677">
                  <a:moveTo>
                    <a:pt x="0" y="0"/>
                  </a:moveTo>
                  <a:lnTo>
                    <a:pt x="5543677" y="0"/>
                  </a:lnTo>
                  <a:lnTo>
                    <a:pt x="5543677" y="375031"/>
                  </a:lnTo>
                  <a:lnTo>
                    <a:pt x="0" y="375031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</p:sp>
        <p:sp>
          <p:nvSpPr>
            <p:cNvPr id="924" name="Google Shape;924;p30"/>
            <p:cNvSpPr/>
            <p:nvPr/>
          </p:nvSpPr>
          <p:spPr>
            <a:xfrm>
              <a:off x="0" y="0"/>
              <a:ext cx="5577459" cy="408815"/>
            </a:xfrm>
            <a:custGeom>
              <a:rect b="b" l="l" r="r" t="t"/>
              <a:pathLst>
                <a:path extrusionOk="0" h="408815" w="5577459">
                  <a:moveTo>
                    <a:pt x="16891" y="0"/>
                  </a:moveTo>
                  <a:lnTo>
                    <a:pt x="5560568" y="0"/>
                  </a:lnTo>
                  <a:cubicBezTo>
                    <a:pt x="5569966" y="0"/>
                    <a:pt x="5577459" y="7620"/>
                    <a:pt x="5577459" y="16891"/>
                  </a:cubicBezTo>
                  <a:lnTo>
                    <a:pt x="5577459" y="391922"/>
                  </a:lnTo>
                  <a:cubicBezTo>
                    <a:pt x="5577459" y="401320"/>
                    <a:pt x="5569839" y="408813"/>
                    <a:pt x="5560568" y="408813"/>
                  </a:cubicBezTo>
                  <a:lnTo>
                    <a:pt x="16891" y="408813"/>
                  </a:lnTo>
                  <a:cubicBezTo>
                    <a:pt x="7620" y="408940"/>
                    <a:pt x="0" y="401320"/>
                    <a:pt x="0" y="391922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91922"/>
                  </a:lnTo>
                  <a:lnTo>
                    <a:pt x="16891" y="391922"/>
                  </a:lnTo>
                  <a:lnTo>
                    <a:pt x="16891" y="375031"/>
                  </a:lnTo>
                  <a:lnTo>
                    <a:pt x="5560568" y="375031"/>
                  </a:lnTo>
                  <a:lnTo>
                    <a:pt x="5560568" y="391922"/>
                  </a:lnTo>
                  <a:lnTo>
                    <a:pt x="5543677" y="391922"/>
                  </a:lnTo>
                  <a:lnTo>
                    <a:pt x="5543677" y="16891"/>
                  </a:lnTo>
                  <a:lnTo>
                    <a:pt x="5560568" y="16891"/>
                  </a:lnTo>
                  <a:lnTo>
                    <a:pt x="5560568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7556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5" name="Google Shape;925;p30"/>
          <p:cNvGrpSpPr/>
          <p:nvPr/>
        </p:nvGrpSpPr>
        <p:grpSpPr>
          <a:xfrm>
            <a:off x="2474847" y="3330664"/>
            <a:ext cx="2088404" cy="1475184"/>
            <a:chOff x="0" y="0"/>
            <a:chExt cx="5569077" cy="3933825"/>
          </a:xfrm>
        </p:grpSpPr>
        <p:sp>
          <p:nvSpPr>
            <p:cNvPr id="926" name="Google Shape;926;p30"/>
            <p:cNvSpPr/>
            <p:nvPr/>
          </p:nvSpPr>
          <p:spPr>
            <a:xfrm>
              <a:off x="25400" y="25400"/>
              <a:ext cx="5518277" cy="3883025"/>
            </a:xfrm>
            <a:custGeom>
              <a:rect b="b" l="l" r="r" t="t"/>
              <a:pathLst>
                <a:path extrusionOk="0" h="3883025" w="5518277">
                  <a:moveTo>
                    <a:pt x="0" y="0"/>
                  </a:moveTo>
                  <a:lnTo>
                    <a:pt x="5518277" y="0"/>
                  </a:lnTo>
                  <a:lnTo>
                    <a:pt x="5518277" y="3883025"/>
                  </a:lnTo>
                  <a:lnTo>
                    <a:pt x="0" y="38830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27" name="Google Shape;927;p30"/>
            <p:cNvSpPr/>
            <p:nvPr/>
          </p:nvSpPr>
          <p:spPr>
            <a:xfrm>
              <a:off x="0" y="0"/>
              <a:ext cx="5569077" cy="3933825"/>
            </a:xfrm>
            <a:custGeom>
              <a:rect b="b" l="l" r="r" t="t"/>
              <a:pathLst>
                <a:path extrusionOk="0" h="3933825" w="5569077">
                  <a:moveTo>
                    <a:pt x="25400" y="0"/>
                  </a:moveTo>
                  <a:lnTo>
                    <a:pt x="5543677" y="0"/>
                  </a:lnTo>
                  <a:cubicBezTo>
                    <a:pt x="5557647" y="0"/>
                    <a:pt x="5569077" y="11430"/>
                    <a:pt x="5569077" y="25400"/>
                  </a:cubicBezTo>
                  <a:lnTo>
                    <a:pt x="5569077" y="3908425"/>
                  </a:lnTo>
                  <a:cubicBezTo>
                    <a:pt x="5569077" y="3922395"/>
                    <a:pt x="5557647" y="3933825"/>
                    <a:pt x="5543677" y="3933825"/>
                  </a:cubicBezTo>
                  <a:lnTo>
                    <a:pt x="25400" y="3933825"/>
                  </a:lnTo>
                  <a:cubicBezTo>
                    <a:pt x="11430" y="3933825"/>
                    <a:pt x="0" y="3922395"/>
                    <a:pt x="0" y="3908425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08425"/>
                  </a:lnTo>
                  <a:lnTo>
                    <a:pt x="25400" y="3908425"/>
                  </a:lnTo>
                  <a:lnTo>
                    <a:pt x="25400" y="3883025"/>
                  </a:lnTo>
                  <a:lnTo>
                    <a:pt x="5543677" y="3883025"/>
                  </a:lnTo>
                  <a:lnTo>
                    <a:pt x="5543677" y="3908425"/>
                  </a:lnTo>
                  <a:lnTo>
                    <a:pt x="5518277" y="3908425"/>
                  </a:lnTo>
                  <a:lnTo>
                    <a:pt x="5518277" y="25400"/>
                  </a:lnTo>
                  <a:lnTo>
                    <a:pt x="5543677" y="25400"/>
                  </a:lnTo>
                  <a:lnTo>
                    <a:pt x="5543677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8" name="Google Shape;928;p30"/>
          <p:cNvGrpSpPr/>
          <p:nvPr/>
        </p:nvGrpSpPr>
        <p:grpSpPr>
          <a:xfrm>
            <a:off x="3268599" y="3368574"/>
            <a:ext cx="494538" cy="494538"/>
            <a:chOff x="0" y="0"/>
            <a:chExt cx="1318768" cy="1318768"/>
          </a:xfrm>
        </p:grpSpPr>
        <p:sp>
          <p:nvSpPr>
            <p:cNvPr id="929" name="Google Shape;929;p30"/>
            <p:cNvSpPr/>
            <p:nvPr/>
          </p:nvSpPr>
          <p:spPr>
            <a:xfrm>
              <a:off x="25400" y="25400"/>
              <a:ext cx="1267968" cy="1267968"/>
            </a:xfrm>
            <a:custGeom>
              <a:rect b="b" l="l" r="r" t="t"/>
              <a:pathLst>
                <a:path extrusionOk="0"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B4530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0"/>
            <p:cNvSpPr/>
            <p:nvPr/>
          </p:nvSpPr>
          <p:spPr>
            <a:xfrm>
              <a:off x="0" y="0"/>
              <a:ext cx="1318768" cy="1318768"/>
            </a:xfrm>
            <a:custGeom>
              <a:rect b="b" l="l" r="r" t="t"/>
              <a:pathLst>
                <a:path extrusionOk="0" h="1318768" w="1318768">
                  <a:moveTo>
                    <a:pt x="0" y="659384"/>
                  </a:moveTo>
                  <a:cubicBezTo>
                    <a:pt x="0" y="295275"/>
                    <a:pt x="295275" y="0"/>
                    <a:pt x="659384" y="0"/>
                  </a:cubicBezTo>
                  <a:lnTo>
                    <a:pt x="659384" y="25400"/>
                  </a:lnTo>
                  <a:lnTo>
                    <a:pt x="659384" y="0"/>
                  </a:lnTo>
                  <a:cubicBezTo>
                    <a:pt x="1023493" y="0"/>
                    <a:pt x="1318768" y="295275"/>
                    <a:pt x="1318768" y="659384"/>
                  </a:cubicBezTo>
                  <a:lnTo>
                    <a:pt x="1293368" y="659384"/>
                  </a:lnTo>
                  <a:lnTo>
                    <a:pt x="1318768" y="659384"/>
                  </a:lnTo>
                  <a:cubicBezTo>
                    <a:pt x="1318768" y="1023493"/>
                    <a:pt x="1023493" y="1318768"/>
                    <a:pt x="659384" y="1318768"/>
                  </a:cubicBezTo>
                  <a:lnTo>
                    <a:pt x="659384" y="1293368"/>
                  </a:lnTo>
                  <a:lnTo>
                    <a:pt x="659384" y="1318768"/>
                  </a:lnTo>
                  <a:cubicBezTo>
                    <a:pt x="295275" y="1318768"/>
                    <a:pt x="0" y="1023493"/>
                    <a:pt x="0" y="659384"/>
                  </a:cubicBezTo>
                  <a:lnTo>
                    <a:pt x="25400" y="659384"/>
                  </a:lnTo>
                  <a:lnTo>
                    <a:pt x="50800" y="659384"/>
                  </a:lnTo>
                  <a:lnTo>
                    <a:pt x="25400" y="659384"/>
                  </a:lnTo>
                  <a:lnTo>
                    <a:pt x="0" y="659384"/>
                  </a:lnTo>
                  <a:moveTo>
                    <a:pt x="50800" y="659384"/>
                  </a:moveTo>
                  <a:cubicBezTo>
                    <a:pt x="50800" y="673354"/>
                    <a:pt x="39370" y="684784"/>
                    <a:pt x="25400" y="684784"/>
                  </a:cubicBezTo>
                  <a:cubicBezTo>
                    <a:pt x="11430" y="684784"/>
                    <a:pt x="0" y="673354"/>
                    <a:pt x="0" y="659384"/>
                  </a:cubicBezTo>
                  <a:cubicBezTo>
                    <a:pt x="0" y="645414"/>
                    <a:pt x="11430" y="633984"/>
                    <a:pt x="25400" y="633984"/>
                  </a:cubicBezTo>
                  <a:cubicBezTo>
                    <a:pt x="39370" y="633984"/>
                    <a:pt x="50800" y="645414"/>
                    <a:pt x="50800" y="659384"/>
                  </a:cubicBezTo>
                  <a:cubicBezTo>
                    <a:pt x="50800" y="995553"/>
                    <a:pt x="323215" y="1267968"/>
                    <a:pt x="659384" y="1267968"/>
                  </a:cubicBezTo>
                  <a:cubicBezTo>
                    <a:pt x="995553" y="1267968"/>
                    <a:pt x="1267968" y="995553"/>
                    <a:pt x="1267968" y="659384"/>
                  </a:cubicBezTo>
                  <a:cubicBezTo>
                    <a:pt x="1267968" y="323215"/>
                    <a:pt x="995553" y="50800"/>
                    <a:pt x="659384" y="50800"/>
                  </a:cubicBezTo>
                  <a:lnTo>
                    <a:pt x="659384" y="25400"/>
                  </a:lnTo>
                  <a:lnTo>
                    <a:pt x="659384" y="50800"/>
                  </a:lnTo>
                  <a:cubicBezTo>
                    <a:pt x="323215" y="50800"/>
                    <a:pt x="50800" y="323215"/>
                    <a:pt x="50800" y="659384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30"/>
          <p:cNvGrpSpPr/>
          <p:nvPr/>
        </p:nvGrpSpPr>
        <p:grpSpPr>
          <a:xfrm>
            <a:off x="3320668" y="3460756"/>
            <a:ext cx="390397" cy="292308"/>
            <a:chOff x="0" y="-47625"/>
            <a:chExt cx="1041059" cy="779488"/>
          </a:xfrm>
        </p:grpSpPr>
        <p:sp>
          <p:nvSpPr>
            <p:cNvPr id="932" name="Google Shape;932;p30"/>
            <p:cNvSpPr/>
            <p:nvPr/>
          </p:nvSpPr>
          <p:spPr>
            <a:xfrm>
              <a:off x="0" y="0"/>
              <a:ext cx="1041059" cy="731863"/>
            </a:xfrm>
            <a:custGeom>
              <a:rect b="b" l="l" r="r" t="t"/>
              <a:pathLst>
                <a:path extrusionOk="0" h="731863" w="1041059">
                  <a:moveTo>
                    <a:pt x="0" y="0"/>
                  </a:moveTo>
                  <a:lnTo>
                    <a:pt x="1041059" y="0"/>
                  </a:lnTo>
                  <a:lnTo>
                    <a:pt x="1041059" y="731863"/>
                  </a:lnTo>
                  <a:lnTo>
                    <a:pt x="0" y="731863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0" l="-40197" r="-40197" t="0"/>
              </a:stretch>
            </a:blipFill>
            <a:ln>
              <a:noFill/>
            </a:ln>
          </p:spPr>
        </p:sp>
        <p:sp>
          <p:nvSpPr>
            <p:cNvPr id="933" name="Google Shape;933;p30"/>
            <p:cNvSpPr txBox="1"/>
            <p:nvPr/>
          </p:nvSpPr>
          <p:spPr>
            <a:xfrm>
              <a:off x="0" y="-47625"/>
              <a:ext cx="1041057" cy="779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700"/>
            </a:p>
          </p:txBody>
        </p:sp>
      </p:grpSp>
      <p:grpSp>
        <p:nvGrpSpPr>
          <p:cNvPr id="934" name="Google Shape;934;p30"/>
          <p:cNvGrpSpPr/>
          <p:nvPr/>
        </p:nvGrpSpPr>
        <p:grpSpPr>
          <a:xfrm>
            <a:off x="2548000" y="3921209"/>
            <a:ext cx="1935737" cy="287512"/>
            <a:chOff x="0" y="-38100"/>
            <a:chExt cx="5161966" cy="766699"/>
          </a:xfrm>
        </p:grpSpPr>
        <p:sp>
          <p:nvSpPr>
            <p:cNvPr id="935" name="Google Shape;935;p30"/>
            <p:cNvSpPr/>
            <p:nvPr/>
          </p:nvSpPr>
          <p:spPr>
            <a:xfrm>
              <a:off x="0" y="0"/>
              <a:ext cx="5161960" cy="728597"/>
            </a:xfrm>
            <a:custGeom>
              <a:rect b="b" l="l" r="r" t="t"/>
              <a:pathLst>
                <a:path extrusionOk="0" h="728597" w="5161960">
                  <a:moveTo>
                    <a:pt x="0" y="0"/>
                  </a:moveTo>
                  <a:lnTo>
                    <a:pt x="5161960" y="0"/>
                  </a:lnTo>
                  <a:lnTo>
                    <a:pt x="5161960" y="728597"/>
                  </a:lnTo>
                  <a:lnTo>
                    <a:pt x="0" y="728597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88045" l="0" r="0" t="-88045"/>
              </a:stretch>
            </a:blipFill>
            <a:ln>
              <a:noFill/>
            </a:ln>
          </p:spPr>
        </p:sp>
        <p:sp>
          <p:nvSpPr>
            <p:cNvPr id="936" name="Google Shape;936;p30"/>
            <p:cNvSpPr txBox="1"/>
            <p:nvPr/>
          </p:nvSpPr>
          <p:spPr>
            <a:xfrm>
              <a:off x="0" y="-38100"/>
              <a:ext cx="5161966" cy="7666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Real-Time Data</a:t>
              </a:r>
              <a:endParaRPr sz="700"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Consent &amp; Privacy</a:t>
              </a:r>
              <a:endParaRPr sz="700"/>
            </a:p>
          </p:txBody>
        </p:sp>
      </p:grpSp>
      <p:grpSp>
        <p:nvGrpSpPr>
          <p:cNvPr id="937" name="Google Shape;937;p30"/>
          <p:cNvGrpSpPr/>
          <p:nvPr/>
        </p:nvGrpSpPr>
        <p:grpSpPr>
          <a:xfrm>
            <a:off x="2782567" y="4241788"/>
            <a:ext cx="1466612" cy="232124"/>
            <a:chOff x="0" y="0"/>
            <a:chExt cx="3910965" cy="618998"/>
          </a:xfrm>
        </p:grpSpPr>
        <p:sp>
          <p:nvSpPr>
            <p:cNvPr id="938" name="Google Shape;938;p30"/>
            <p:cNvSpPr/>
            <p:nvPr/>
          </p:nvSpPr>
          <p:spPr>
            <a:xfrm>
              <a:off x="16891" y="16891"/>
              <a:ext cx="3877056" cy="585216"/>
            </a:xfrm>
            <a:custGeom>
              <a:rect b="b" l="l" r="r" t="t"/>
              <a:pathLst>
                <a:path extrusionOk="0" h="585216" w="3877056">
                  <a:moveTo>
                    <a:pt x="0" y="97536"/>
                  </a:moveTo>
                  <a:cubicBezTo>
                    <a:pt x="0" y="43688"/>
                    <a:pt x="45847" y="0"/>
                    <a:pt x="102235" y="0"/>
                  </a:cubicBezTo>
                  <a:lnTo>
                    <a:pt x="3774821" y="0"/>
                  </a:lnTo>
                  <a:cubicBezTo>
                    <a:pt x="3831336" y="0"/>
                    <a:pt x="3877056" y="43688"/>
                    <a:pt x="3877056" y="97536"/>
                  </a:cubicBezTo>
                  <a:lnTo>
                    <a:pt x="3877056" y="487680"/>
                  </a:lnTo>
                  <a:cubicBezTo>
                    <a:pt x="3877056" y="541528"/>
                    <a:pt x="3831209" y="585216"/>
                    <a:pt x="3774821" y="585216"/>
                  </a:cubicBezTo>
                  <a:lnTo>
                    <a:pt x="102362" y="585216"/>
                  </a:lnTo>
                  <a:cubicBezTo>
                    <a:pt x="45847" y="585216"/>
                    <a:pt x="127" y="541528"/>
                    <a:pt x="127" y="487680"/>
                  </a:cubicBezTo>
                  <a:close/>
                </a:path>
              </a:pathLst>
            </a:custGeom>
            <a:solidFill>
              <a:srgbClr val="FEF3C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0"/>
            <p:cNvSpPr/>
            <p:nvPr/>
          </p:nvSpPr>
          <p:spPr>
            <a:xfrm>
              <a:off x="0" y="0"/>
              <a:ext cx="3910965" cy="618998"/>
            </a:xfrm>
            <a:custGeom>
              <a:rect b="b" l="l" r="r" t="t"/>
              <a:pathLst>
                <a:path extrusionOk="0" h="618998" w="3910965">
                  <a:moveTo>
                    <a:pt x="0" y="114427"/>
                  </a:moveTo>
                  <a:cubicBezTo>
                    <a:pt x="0" y="50546"/>
                    <a:pt x="54102" y="0"/>
                    <a:pt x="119253" y="0"/>
                  </a:cubicBezTo>
                  <a:lnTo>
                    <a:pt x="3791712" y="0"/>
                  </a:lnTo>
                  <a:lnTo>
                    <a:pt x="3791712" y="16891"/>
                  </a:lnTo>
                  <a:lnTo>
                    <a:pt x="3791712" y="0"/>
                  </a:lnTo>
                  <a:cubicBezTo>
                    <a:pt x="3856736" y="0"/>
                    <a:pt x="3910965" y="50546"/>
                    <a:pt x="3910965" y="114427"/>
                  </a:cubicBezTo>
                  <a:lnTo>
                    <a:pt x="3894074" y="114427"/>
                  </a:lnTo>
                  <a:lnTo>
                    <a:pt x="3910965" y="114427"/>
                  </a:lnTo>
                  <a:lnTo>
                    <a:pt x="3910965" y="504571"/>
                  </a:lnTo>
                  <a:lnTo>
                    <a:pt x="3894074" y="504571"/>
                  </a:lnTo>
                  <a:lnTo>
                    <a:pt x="3910965" y="504571"/>
                  </a:lnTo>
                  <a:cubicBezTo>
                    <a:pt x="3910965" y="568579"/>
                    <a:pt x="3856863" y="618998"/>
                    <a:pt x="3791712" y="618998"/>
                  </a:cubicBezTo>
                  <a:lnTo>
                    <a:pt x="3791712" y="602107"/>
                  </a:lnTo>
                  <a:lnTo>
                    <a:pt x="3791712" y="618998"/>
                  </a:lnTo>
                  <a:lnTo>
                    <a:pt x="119253" y="618998"/>
                  </a:lnTo>
                  <a:lnTo>
                    <a:pt x="119253" y="602107"/>
                  </a:lnTo>
                  <a:lnTo>
                    <a:pt x="119253" y="618998"/>
                  </a:lnTo>
                  <a:cubicBezTo>
                    <a:pt x="54102" y="619125"/>
                    <a:pt x="0" y="568579"/>
                    <a:pt x="0" y="504571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504571"/>
                  </a:lnTo>
                  <a:lnTo>
                    <a:pt x="16891" y="504571"/>
                  </a:lnTo>
                  <a:lnTo>
                    <a:pt x="33909" y="504571"/>
                  </a:lnTo>
                  <a:cubicBezTo>
                    <a:pt x="33909" y="548386"/>
                    <a:pt x="71374" y="585216"/>
                    <a:pt x="119253" y="585216"/>
                  </a:cubicBezTo>
                  <a:lnTo>
                    <a:pt x="3791712" y="585216"/>
                  </a:lnTo>
                  <a:cubicBezTo>
                    <a:pt x="3839591" y="585216"/>
                    <a:pt x="3877056" y="548386"/>
                    <a:pt x="3877056" y="504571"/>
                  </a:cubicBezTo>
                  <a:lnTo>
                    <a:pt x="3877056" y="114427"/>
                  </a:lnTo>
                  <a:cubicBezTo>
                    <a:pt x="3877056" y="70612"/>
                    <a:pt x="3839591" y="33782"/>
                    <a:pt x="3791712" y="33782"/>
                  </a:cubicBezTo>
                  <a:lnTo>
                    <a:pt x="119253" y="33782"/>
                  </a:lnTo>
                  <a:lnTo>
                    <a:pt x="119253" y="16891"/>
                  </a:lnTo>
                  <a:lnTo>
                    <a:pt x="119253" y="33909"/>
                  </a:lnTo>
                  <a:cubicBezTo>
                    <a:pt x="71374" y="33909"/>
                    <a:pt x="33909" y="70739"/>
                    <a:pt x="33909" y="114554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0" name="Google Shape;940;p30"/>
          <p:cNvGrpSpPr/>
          <p:nvPr/>
        </p:nvGrpSpPr>
        <p:grpSpPr>
          <a:xfrm>
            <a:off x="2831464" y="4245969"/>
            <a:ext cx="1368806" cy="213084"/>
            <a:chOff x="0" y="-28575"/>
            <a:chExt cx="3650149" cy="568223"/>
          </a:xfrm>
        </p:grpSpPr>
        <p:sp>
          <p:nvSpPr>
            <p:cNvPr id="941" name="Google Shape;941;p30"/>
            <p:cNvSpPr/>
            <p:nvPr/>
          </p:nvSpPr>
          <p:spPr>
            <a:xfrm>
              <a:off x="0" y="0"/>
              <a:ext cx="3650149" cy="539643"/>
            </a:xfrm>
            <a:custGeom>
              <a:rect b="b" l="l" r="r" t="t"/>
              <a:pathLst>
                <a:path extrusionOk="0" h="539643" w="3650149">
                  <a:moveTo>
                    <a:pt x="0" y="0"/>
                  </a:moveTo>
                  <a:lnTo>
                    <a:pt x="3650149" y="0"/>
                  </a:lnTo>
                  <a:lnTo>
                    <a:pt x="3650149" y="539643"/>
                  </a:lnTo>
                  <a:lnTo>
                    <a:pt x="0" y="539643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81799" l="0" r="0" t="-81796"/>
              </a:stretch>
            </a:blipFill>
            <a:ln>
              <a:noFill/>
            </a:ln>
          </p:spPr>
        </p:sp>
        <p:sp>
          <p:nvSpPr>
            <p:cNvPr id="942" name="Google Shape;942;p30"/>
            <p:cNvSpPr txBox="1"/>
            <p:nvPr/>
          </p:nvSpPr>
          <p:spPr>
            <a:xfrm>
              <a:off x="0" y="-28575"/>
              <a:ext cx="3650145" cy="568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800" u="none" cap="none" strike="noStrike">
                  <a:solidFill>
                    <a:srgbClr val="B45309"/>
                  </a:solidFill>
                  <a:latin typeface="Calibri"/>
                  <a:ea typeface="Calibri"/>
                  <a:cs typeface="Calibri"/>
                  <a:sym typeface="Calibri"/>
                </a:rPr>
                <a:t>MEDIUM RISK</a:t>
              </a:r>
              <a:endParaRPr sz="700"/>
            </a:p>
          </p:txBody>
        </p:sp>
      </p:grpSp>
      <p:grpSp>
        <p:nvGrpSpPr>
          <p:cNvPr id="943" name="Google Shape;943;p30"/>
          <p:cNvGrpSpPr/>
          <p:nvPr/>
        </p:nvGrpSpPr>
        <p:grpSpPr>
          <a:xfrm>
            <a:off x="2548000" y="4466530"/>
            <a:ext cx="1935737" cy="263514"/>
            <a:chOff x="0" y="-38100"/>
            <a:chExt cx="5161966" cy="702704"/>
          </a:xfrm>
        </p:grpSpPr>
        <p:sp>
          <p:nvSpPr>
            <p:cNvPr id="944" name="Google Shape;944;p30"/>
            <p:cNvSpPr/>
            <p:nvPr/>
          </p:nvSpPr>
          <p:spPr>
            <a:xfrm>
              <a:off x="0" y="0"/>
              <a:ext cx="5161960" cy="664601"/>
            </a:xfrm>
            <a:custGeom>
              <a:rect b="b" l="l" r="r" t="t"/>
              <a:pathLst>
                <a:path extrusionOk="0" h="664601" w="5161960">
                  <a:moveTo>
                    <a:pt x="0" y="0"/>
                  </a:moveTo>
                  <a:lnTo>
                    <a:pt x="5161960" y="0"/>
                  </a:lnTo>
                  <a:lnTo>
                    <a:pt x="5161960" y="664601"/>
                  </a:lnTo>
                  <a:lnTo>
                    <a:pt x="0" y="664601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101341" l="0" r="0" t="-101341"/>
              </a:stretch>
            </a:blipFill>
            <a:ln>
              <a:noFill/>
            </a:ln>
          </p:spPr>
        </p:sp>
        <p:sp>
          <p:nvSpPr>
            <p:cNvPr id="945" name="Google Shape;945;p30"/>
            <p:cNvSpPr txBox="1"/>
            <p:nvPr/>
          </p:nvSpPr>
          <p:spPr>
            <a:xfrm>
              <a:off x="0" y="-38100"/>
              <a:ext cx="5161966" cy="702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DPDP principles </a:t>
              </a:r>
              <a:endParaRPr sz="700"/>
            </a:p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minimal data + sensitive filtering</a:t>
              </a:r>
              <a:endParaRPr sz="700"/>
            </a:p>
          </p:txBody>
        </p:sp>
      </p:grpSp>
      <p:grpSp>
        <p:nvGrpSpPr>
          <p:cNvPr id="946" name="Google Shape;946;p30"/>
          <p:cNvGrpSpPr/>
          <p:nvPr/>
        </p:nvGrpSpPr>
        <p:grpSpPr>
          <a:xfrm>
            <a:off x="4583940" y="3182984"/>
            <a:ext cx="2088356" cy="181595"/>
            <a:chOff x="0" y="0"/>
            <a:chExt cx="5568950" cy="484253"/>
          </a:xfrm>
        </p:grpSpPr>
        <p:sp>
          <p:nvSpPr>
            <p:cNvPr id="947" name="Google Shape;947;p30"/>
            <p:cNvSpPr/>
            <p:nvPr/>
          </p:nvSpPr>
          <p:spPr>
            <a:xfrm>
              <a:off x="16891" y="16891"/>
              <a:ext cx="5535168" cy="450469"/>
            </a:xfrm>
            <a:custGeom>
              <a:rect b="b" l="l" r="r" t="t"/>
              <a:pathLst>
                <a:path extrusionOk="0" h="450469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450469"/>
                  </a:lnTo>
                  <a:lnTo>
                    <a:pt x="0" y="450469"/>
                  </a:lnTo>
                  <a:close/>
                </a:path>
              </a:pathLst>
            </a:custGeom>
            <a:solidFill>
              <a:srgbClr val="374151"/>
            </a:solidFill>
            <a:ln>
              <a:noFill/>
            </a:ln>
          </p:spPr>
        </p:sp>
        <p:sp>
          <p:nvSpPr>
            <p:cNvPr id="948" name="Google Shape;948;p30"/>
            <p:cNvSpPr/>
            <p:nvPr/>
          </p:nvSpPr>
          <p:spPr>
            <a:xfrm>
              <a:off x="0" y="0"/>
              <a:ext cx="5568950" cy="484253"/>
            </a:xfrm>
            <a:custGeom>
              <a:rect b="b" l="l" r="r" t="t"/>
              <a:pathLst>
                <a:path extrusionOk="0" h="484253" w="5568950">
                  <a:moveTo>
                    <a:pt x="16891" y="0"/>
                  </a:moveTo>
                  <a:lnTo>
                    <a:pt x="5552059" y="0"/>
                  </a:lnTo>
                  <a:cubicBezTo>
                    <a:pt x="5561457" y="0"/>
                    <a:pt x="5568950" y="7620"/>
                    <a:pt x="5568950" y="16891"/>
                  </a:cubicBezTo>
                  <a:lnTo>
                    <a:pt x="5568950" y="467360"/>
                  </a:lnTo>
                  <a:cubicBezTo>
                    <a:pt x="5568950" y="476758"/>
                    <a:pt x="5561330" y="484251"/>
                    <a:pt x="5552059" y="484251"/>
                  </a:cubicBezTo>
                  <a:lnTo>
                    <a:pt x="16891" y="484251"/>
                  </a:lnTo>
                  <a:cubicBezTo>
                    <a:pt x="7620" y="484378"/>
                    <a:pt x="0" y="476758"/>
                    <a:pt x="0" y="46736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7360"/>
                  </a:lnTo>
                  <a:lnTo>
                    <a:pt x="16891" y="467360"/>
                  </a:lnTo>
                  <a:lnTo>
                    <a:pt x="16891" y="450469"/>
                  </a:lnTo>
                  <a:lnTo>
                    <a:pt x="5552059" y="450469"/>
                  </a:lnTo>
                  <a:lnTo>
                    <a:pt x="5552059" y="467360"/>
                  </a:lnTo>
                  <a:lnTo>
                    <a:pt x="5535168" y="467360"/>
                  </a:lnTo>
                  <a:lnTo>
                    <a:pt x="5535168" y="16891"/>
                  </a:lnTo>
                  <a:lnTo>
                    <a:pt x="5552059" y="16891"/>
                  </a:lnTo>
                  <a:lnTo>
                    <a:pt x="55520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7415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9" name="Google Shape;949;p30"/>
          <p:cNvGrpSpPr/>
          <p:nvPr/>
        </p:nvGrpSpPr>
        <p:grpSpPr>
          <a:xfrm>
            <a:off x="4580763" y="3330664"/>
            <a:ext cx="2094738" cy="1475184"/>
            <a:chOff x="0" y="0"/>
            <a:chExt cx="5585968" cy="3933825"/>
          </a:xfrm>
        </p:grpSpPr>
        <p:sp>
          <p:nvSpPr>
            <p:cNvPr id="950" name="Google Shape;950;p30"/>
            <p:cNvSpPr/>
            <p:nvPr/>
          </p:nvSpPr>
          <p:spPr>
            <a:xfrm>
              <a:off x="25400" y="25400"/>
              <a:ext cx="5535168" cy="3883025"/>
            </a:xfrm>
            <a:custGeom>
              <a:rect b="b" l="l" r="r" t="t"/>
              <a:pathLst>
                <a:path extrusionOk="0" h="3883025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3883025"/>
                  </a:lnTo>
                  <a:lnTo>
                    <a:pt x="0" y="38830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51" name="Google Shape;951;p30"/>
            <p:cNvSpPr/>
            <p:nvPr/>
          </p:nvSpPr>
          <p:spPr>
            <a:xfrm>
              <a:off x="0" y="0"/>
              <a:ext cx="5585968" cy="3933825"/>
            </a:xfrm>
            <a:custGeom>
              <a:rect b="b" l="l" r="r" t="t"/>
              <a:pathLst>
                <a:path extrusionOk="0" h="3933825" w="5585968">
                  <a:moveTo>
                    <a:pt x="25400" y="0"/>
                  </a:moveTo>
                  <a:lnTo>
                    <a:pt x="5560568" y="0"/>
                  </a:lnTo>
                  <a:cubicBezTo>
                    <a:pt x="5574538" y="0"/>
                    <a:pt x="5585968" y="11430"/>
                    <a:pt x="5585968" y="25400"/>
                  </a:cubicBezTo>
                  <a:lnTo>
                    <a:pt x="5585968" y="3908425"/>
                  </a:lnTo>
                  <a:cubicBezTo>
                    <a:pt x="5585968" y="3922395"/>
                    <a:pt x="5574538" y="3933825"/>
                    <a:pt x="5560568" y="3933825"/>
                  </a:cubicBezTo>
                  <a:lnTo>
                    <a:pt x="25400" y="3933825"/>
                  </a:lnTo>
                  <a:cubicBezTo>
                    <a:pt x="11430" y="3933825"/>
                    <a:pt x="0" y="3922395"/>
                    <a:pt x="0" y="3908425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08425"/>
                  </a:lnTo>
                  <a:lnTo>
                    <a:pt x="25400" y="3908425"/>
                  </a:lnTo>
                  <a:lnTo>
                    <a:pt x="25400" y="3883025"/>
                  </a:lnTo>
                  <a:lnTo>
                    <a:pt x="5560568" y="3883025"/>
                  </a:lnTo>
                  <a:lnTo>
                    <a:pt x="5560568" y="3908425"/>
                  </a:lnTo>
                  <a:lnTo>
                    <a:pt x="5535168" y="3908425"/>
                  </a:lnTo>
                  <a:lnTo>
                    <a:pt x="5535168" y="25400"/>
                  </a:lnTo>
                  <a:lnTo>
                    <a:pt x="5560568" y="25400"/>
                  </a:lnTo>
                  <a:lnTo>
                    <a:pt x="556056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2" name="Google Shape;952;p30"/>
          <p:cNvGrpSpPr/>
          <p:nvPr/>
        </p:nvGrpSpPr>
        <p:grpSpPr>
          <a:xfrm>
            <a:off x="5380863" y="3377608"/>
            <a:ext cx="494538" cy="494538"/>
            <a:chOff x="0" y="0"/>
            <a:chExt cx="1318768" cy="1318768"/>
          </a:xfrm>
        </p:grpSpPr>
        <p:sp>
          <p:nvSpPr>
            <p:cNvPr id="953" name="Google Shape;953;p30"/>
            <p:cNvSpPr/>
            <p:nvPr/>
          </p:nvSpPr>
          <p:spPr>
            <a:xfrm>
              <a:off x="25400" y="25400"/>
              <a:ext cx="1267968" cy="1267968"/>
            </a:xfrm>
            <a:custGeom>
              <a:rect b="b" l="l" r="r" t="t"/>
              <a:pathLst>
                <a:path extrusionOk="0"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065F4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0"/>
            <p:cNvSpPr/>
            <p:nvPr/>
          </p:nvSpPr>
          <p:spPr>
            <a:xfrm>
              <a:off x="0" y="0"/>
              <a:ext cx="1318768" cy="1318768"/>
            </a:xfrm>
            <a:custGeom>
              <a:rect b="b" l="l" r="r" t="t"/>
              <a:pathLst>
                <a:path extrusionOk="0" h="1318768" w="1318768">
                  <a:moveTo>
                    <a:pt x="0" y="659384"/>
                  </a:moveTo>
                  <a:cubicBezTo>
                    <a:pt x="0" y="295275"/>
                    <a:pt x="295275" y="0"/>
                    <a:pt x="659384" y="0"/>
                  </a:cubicBezTo>
                  <a:lnTo>
                    <a:pt x="659384" y="25400"/>
                  </a:lnTo>
                  <a:lnTo>
                    <a:pt x="659384" y="0"/>
                  </a:lnTo>
                  <a:cubicBezTo>
                    <a:pt x="1023493" y="0"/>
                    <a:pt x="1318768" y="295275"/>
                    <a:pt x="1318768" y="659384"/>
                  </a:cubicBezTo>
                  <a:lnTo>
                    <a:pt x="1293368" y="659384"/>
                  </a:lnTo>
                  <a:lnTo>
                    <a:pt x="1318768" y="659384"/>
                  </a:lnTo>
                  <a:cubicBezTo>
                    <a:pt x="1318768" y="1023493"/>
                    <a:pt x="1023493" y="1318768"/>
                    <a:pt x="659384" y="1318768"/>
                  </a:cubicBezTo>
                  <a:lnTo>
                    <a:pt x="659384" y="1293368"/>
                  </a:lnTo>
                  <a:lnTo>
                    <a:pt x="659384" y="1318768"/>
                  </a:lnTo>
                  <a:cubicBezTo>
                    <a:pt x="295275" y="1318768"/>
                    <a:pt x="0" y="1023493"/>
                    <a:pt x="0" y="659384"/>
                  </a:cubicBezTo>
                  <a:lnTo>
                    <a:pt x="25400" y="659384"/>
                  </a:lnTo>
                  <a:lnTo>
                    <a:pt x="50800" y="659384"/>
                  </a:lnTo>
                  <a:lnTo>
                    <a:pt x="25400" y="659384"/>
                  </a:lnTo>
                  <a:lnTo>
                    <a:pt x="0" y="659384"/>
                  </a:lnTo>
                  <a:moveTo>
                    <a:pt x="50800" y="659384"/>
                  </a:moveTo>
                  <a:cubicBezTo>
                    <a:pt x="50800" y="673354"/>
                    <a:pt x="39370" y="684784"/>
                    <a:pt x="25400" y="684784"/>
                  </a:cubicBezTo>
                  <a:cubicBezTo>
                    <a:pt x="11430" y="684784"/>
                    <a:pt x="0" y="673354"/>
                    <a:pt x="0" y="659384"/>
                  </a:cubicBezTo>
                  <a:cubicBezTo>
                    <a:pt x="0" y="645414"/>
                    <a:pt x="11430" y="633984"/>
                    <a:pt x="25400" y="633984"/>
                  </a:cubicBezTo>
                  <a:cubicBezTo>
                    <a:pt x="39370" y="633984"/>
                    <a:pt x="50800" y="645414"/>
                    <a:pt x="50800" y="659384"/>
                  </a:cubicBezTo>
                  <a:cubicBezTo>
                    <a:pt x="50800" y="995553"/>
                    <a:pt x="323215" y="1267968"/>
                    <a:pt x="659384" y="1267968"/>
                  </a:cubicBezTo>
                  <a:cubicBezTo>
                    <a:pt x="995553" y="1267968"/>
                    <a:pt x="1267968" y="995553"/>
                    <a:pt x="1267968" y="659384"/>
                  </a:cubicBezTo>
                  <a:cubicBezTo>
                    <a:pt x="1267968" y="323215"/>
                    <a:pt x="995553" y="50800"/>
                    <a:pt x="659384" y="50800"/>
                  </a:cubicBezTo>
                  <a:lnTo>
                    <a:pt x="659384" y="25400"/>
                  </a:lnTo>
                  <a:lnTo>
                    <a:pt x="659384" y="50800"/>
                  </a:lnTo>
                  <a:cubicBezTo>
                    <a:pt x="323215" y="50800"/>
                    <a:pt x="50800" y="323215"/>
                    <a:pt x="50800" y="659384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5" name="Google Shape;955;p30"/>
          <p:cNvGrpSpPr/>
          <p:nvPr/>
        </p:nvGrpSpPr>
        <p:grpSpPr>
          <a:xfrm>
            <a:off x="5432932" y="3464505"/>
            <a:ext cx="390398" cy="292308"/>
            <a:chOff x="0" y="-47625"/>
            <a:chExt cx="1041060" cy="779488"/>
          </a:xfrm>
        </p:grpSpPr>
        <p:sp>
          <p:nvSpPr>
            <p:cNvPr id="956" name="Google Shape;956;p30"/>
            <p:cNvSpPr/>
            <p:nvPr/>
          </p:nvSpPr>
          <p:spPr>
            <a:xfrm>
              <a:off x="0" y="0"/>
              <a:ext cx="1041060" cy="731863"/>
            </a:xfrm>
            <a:custGeom>
              <a:rect b="b" l="l" r="r" t="t"/>
              <a:pathLst>
                <a:path extrusionOk="0" h="731863" w="1041060">
                  <a:moveTo>
                    <a:pt x="0" y="0"/>
                  </a:moveTo>
                  <a:lnTo>
                    <a:pt x="1041060" y="0"/>
                  </a:lnTo>
                  <a:lnTo>
                    <a:pt x="1041060" y="731863"/>
                  </a:lnTo>
                  <a:lnTo>
                    <a:pt x="0" y="731863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0" l="-40197" r="-40195" t="0"/>
              </a:stretch>
            </a:blipFill>
            <a:ln>
              <a:noFill/>
            </a:ln>
          </p:spPr>
        </p:sp>
        <p:sp>
          <p:nvSpPr>
            <p:cNvPr id="957" name="Google Shape;957;p30"/>
            <p:cNvSpPr txBox="1"/>
            <p:nvPr/>
          </p:nvSpPr>
          <p:spPr>
            <a:xfrm>
              <a:off x="0" y="-47625"/>
              <a:ext cx="1041057" cy="779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700"/>
            </a:p>
          </p:txBody>
        </p:sp>
      </p:grpSp>
      <p:grpSp>
        <p:nvGrpSpPr>
          <p:cNvPr id="958" name="Google Shape;958;p30"/>
          <p:cNvGrpSpPr/>
          <p:nvPr/>
        </p:nvGrpSpPr>
        <p:grpSpPr>
          <a:xfrm>
            <a:off x="4660263" y="3909908"/>
            <a:ext cx="1935737" cy="287512"/>
            <a:chOff x="0" y="-38100"/>
            <a:chExt cx="5161966" cy="766699"/>
          </a:xfrm>
        </p:grpSpPr>
        <p:sp>
          <p:nvSpPr>
            <p:cNvPr id="959" name="Google Shape;959;p30"/>
            <p:cNvSpPr/>
            <p:nvPr/>
          </p:nvSpPr>
          <p:spPr>
            <a:xfrm>
              <a:off x="0" y="0"/>
              <a:ext cx="5161960" cy="728597"/>
            </a:xfrm>
            <a:custGeom>
              <a:rect b="b" l="l" r="r" t="t"/>
              <a:pathLst>
                <a:path extrusionOk="0" h="728597" w="5161960">
                  <a:moveTo>
                    <a:pt x="0" y="0"/>
                  </a:moveTo>
                  <a:lnTo>
                    <a:pt x="5161960" y="0"/>
                  </a:lnTo>
                  <a:lnTo>
                    <a:pt x="5161960" y="728597"/>
                  </a:lnTo>
                  <a:lnTo>
                    <a:pt x="0" y="728597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88045" l="0" r="0" t="-88045"/>
              </a:stretch>
            </a:blipFill>
            <a:ln>
              <a:noFill/>
            </a:ln>
          </p:spPr>
        </p:sp>
        <p:sp>
          <p:nvSpPr>
            <p:cNvPr id="960" name="Google Shape;960;p30"/>
            <p:cNvSpPr txBox="1"/>
            <p:nvPr/>
          </p:nvSpPr>
          <p:spPr>
            <a:xfrm>
              <a:off x="0" y="-38100"/>
              <a:ext cx="5161966" cy="7666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New Users</a:t>
              </a:r>
              <a:endParaRPr sz="700"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No History</a:t>
              </a:r>
              <a:endParaRPr sz="700"/>
            </a:p>
          </p:txBody>
        </p:sp>
      </p:grpSp>
      <p:grpSp>
        <p:nvGrpSpPr>
          <p:cNvPr id="961" name="Google Shape;961;p30"/>
          <p:cNvGrpSpPr/>
          <p:nvPr/>
        </p:nvGrpSpPr>
        <p:grpSpPr>
          <a:xfrm>
            <a:off x="4867213" y="4200763"/>
            <a:ext cx="1466612" cy="232124"/>
            <a:chOff x="0" y="0"/>
            <a:chExt cx="3910965" cy="618998"/>
          </a:xfrm>
        </p:grpSpPr>
        <p:sp>
          <p:nvSpPr>
            <p:cNvPr id="962" name="Google Shape;962;p30"/>
            <p:cNvSpPr/>
            <p:nvPr/>
          </p:nvSpPr>
          <p:spPr>
            <a:xfrm>
              <a:off x="16891" y="16891"/>
              <a:ext cx="3877056" cy="585216"/>
            </a:xfrm>
            <a:custGeom>
              <a:rect b="b" l="l" r="r" t="t"/>
              <a:pathLst>
                <a:path extrusionOk="0" h="585216" w="3877056">
                  <a:moveTo>
                    <a:pt x="0" y="97536"/>
                  </a:moveTo>
                  <a:cubicBezTo>
                    <a:pt x="0" y="43688"/>
                    <a:pt x="45847" y="0"/>
                    <a:pt x="102235" y="0"/>
                  </a:cubicBezTo>
                  <a:lnTo>
                    <a:pt x="3774821" y="0"/>
                  </a:lnTo>
                  <a:cubicBezTo>
                    <a:pt x="3831336" y="0"/>
                    <a:pt x="3877056" y="43688"/>
                    <a:pt x="3877056" y="97536"/>
                  </a:cubicBezTo>
                  <a:lnTo>
                    <a:pt x="3877056" y="487680"/>
                  </a:lnTo>
                  <a:cubicBezTo>
                    <a:pt x="3877056" y="541528"/>
                    <a:pt x="3831209" y="585216"/>
                    <a:pt x="3774821" y="585216"/>
                  </a:cubicBezTo>
                  <a:lnTo>
                    <a:pt x="102362" y="585216"/>
                  </a:lnTo>
                  <a:cubicBezTo>
                    <a:pt x="45847" y="585216"/>
                    <a:pt x="127" y="541528"/>
                    <a:pt x="127" y="487680"/>
                  </a:cubicBezTo>
                  <a:close/>
                </a:path>
              </a:pathLst>
            </a:custGeom>
            <a:solidFill>
              <a:srgbClr val="D1FAE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0"/>
            <p:cNvSpPr/>
            <p:nvPr/>
          </p:nvSpPr>
          <p:spPr>
            <a:xfrm>
              <a:off x="0" y="0"/>
              <a:ext cx="3910965" cy="618998"/>
            </a:xfrm>
            <a:custGeom>
              <a:rect b="b" l="l" r="r" t="t"/>
              <a:pathLst>
                <a:path extrusionOk="0" h="618998" w="3910965">
                  <a:moveTo>
                    <a:pt x="0" y="114427"/>
                  </a:moveTo>
                  <a:cubicBezTo>
                    <a:pt x="0" y="50546"/>
                    <a:pt x="54102" y="0"/>
                    <a:pt x="119253" y="0"/>
                  </a:cubicBezTo>
                  <a:lnTo>
                    <a:pt x="3791712" y="0"/>
                  </a:lnTo>
                  <a:lnTo>
                    <a:pt x="3791712" y="16891"/>
                  </a:lnTo>
                  <a:lnTo>
                    <a:pt x="3791712" y="0"/>
                  </a:lnTo>
                  <a:cubicBezTo>
                    <a:pt x="3856736" y="0"/>
                    <a:pt x="3910965" y="50546"/>
                    <a:pt x="3910965" y="114427"/>
                  </a:cubicBezTo>
                  <a:lnTo>
                    <a:pt x="3894074" y="114427"/>
                  </a:lnTo>
                  <a:lnTo>
                    <a:pt x="3910965" y="114427"/>
                  </a:lnTo>
                  <a:lnTo>
                    <a:pt x="3910965" y="504571"/>
                  </a:lnTo>
                  <a:lnTo>
                    <a:pt x="3894074" y="504571"/>
                  </a:lnTo>
                  <a:lnTo>
                    <a:pt x="3910965" y="504571"/>
                  </a:lnTo>
                  <a:cubicBezTo>
                    <a:pt x="3910965" y="568579"/>
                    <a:pt x="3856863" y="618998"/>
                    <a:pt x="3791712" y="618998"/>
                  </a:cubicBezTo>
                  <a:lnTo>
                    <a:pt x="3791712" y="602107"/>
                  </a:lnTo>
                  <a:lnTo>
                    <a:pt x="3791712" y="618998"/>
                  </a:lnTo>
                  <a:lnTo>
                    <a:pt x="119253" y="618998"/>
                  </a:lnTo>
                  <a:lnTo>
                    <a:pt x="119253" y="602107"/>
                  </a:lnTo>
                  <a:lnTo>
                    <a:pt x="119253" y="618998"/>
                  </a:lnTo>
                  <a:cubicBezTo>
                    <a:pt x="54102" y="619125"/>
                    <a:pt x="0" y="568579"/>
                    <a:pt x="0" y="504571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504571"/>
                  </a:lnTo>
                  <a:lnTo>
                    <a:pt x="16891" y="504571"/>
                  </a:lnTo>
                  <a:lnTo>
                    <a:pt x="33909" y="504571"/>
                  </a:lnTo>
                  <a:cubicBezTo>
                    <a:pt x="33909" y="548386"/>
                    <a:pt x="71374" y="585216"/>
                    <a:pt x="119253" y="585216"/>
                  </a:cubicBezTo>
                  <a:lnTo>
                    <a:pt x="3791712" y="585216"/>
                  </a:lnTo>
                  <a:cubicBezTo>
                    <a:pt x="3839591" y="585216"/>
                    <a:pt x="3877056" y="548386"/>
                    <a:pt x="3877056" y="504571"/>
                  </a:cubicBezTo>
                  <a:lnTo>
                    <a:pt x="3877056" y="114427"/>
                  </a:lnTo>
                  <a:cubicBezTo>
                    <a:pt x="3877056" y="70612"/>
                    <a:pt x="3839591" y="33782"/>
                    <a:pt x="3791712" y="33782"/>
                  </a:cubicBezTo>
                  <a:lnTo>
                    <a:pt x="119253" y="33782"/>
                  </a:lnTo>
                  <a:lnTo>
                    <a:pt x="119253" y="16891"/>
                  </a:lnTo>
                  <a:lnTo>
                    <a:pt x="119253" y="33909"/>
                  </a:lnTo>
                  <a:cubicBezTo>
                    <a:pt x="71374" y="33909"/>
                    <a:pt x="33909" y="70739"/>
                    <a:pt x="33909" y="114554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4" name="Google Shape;964;p30"/>
          <p:cNvGrpSpPr/>
          <p:nvPr/>
        </p:nvGrpSpPr>
        <p:grpSpPr>
          <a:xfrm>
            <a:off x="4916105" y="4204940"/>
            <a:ext cx="1368806" cy="213084"/>
            <a:chOff x="0" y="-28575"/>
            <a:chExt cx="3650149" cy="568223"/>
          </a:xfrm>
        </p:grpSpPr>
        <p:sp>
          <p:nvSpPr>
            <p:cNvPr id="965" name="Google Shape;965;p30"/>
            <p:cNvSpPr/>
            <p:nvPr/>
          </p:nvSpPr>
          <p:spPr>
            <a:xfrm>
              <a:off x="0" y="0"/>
              <a:ext cx="3650149" cy="539643"/>
            </a:xfrm>
            <a:custGeom>
              <a:rect b="b" l="l" r="r" t="t"/>
              <a:pathLst>
                <a:path extrusionOk="0" h="539643" w="3650149">
                  <a:moveTo>
                    <a:pt x="0" y="0"/>
                  </a:moveTo>
                  <a:lnTo>
                    <a:pt x="3650149" y="0"/>
                  </a:lnTo>
                  <a:lnTo>
                    <a:pt x="3650149" y="539643"/>
                  </a:lnTo>
                  <a:lnTo>
                    <a:pt x="0" y="539643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81799" l="0" r="0" t="-81796"/>
              </a:stretch>
            </a:blipFill>
            <a:ln>
              <a:noFill/>
            </a:ln>
          </p:spPr>
        </p:sp>
        <p:sp>
          <p:nvSpPr>
            <p:cNvPr id="966" name="Google Shape;966;p30"/>
            <p:cNvSpPr txBox="1"/>
            <p:nvPr/>
          </p:nvSpPr>
          <p:spPr>
            <a:xfrm>
              <a:off x="0" y="-28575"/>
              <a:ext cx="3650145" cy="568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800" u="none" cap="none" strike="noStrike">
                  <a:solidFill>
                    <a:srgbClr val="065F46"/>
                  </a:solidFill>
                  <a:latin typeface="Calibri"/>
                  <a:ea typeface="Calibri"/>
                  <a:cs typeface="Calibri"/>
                  <a:sym typeface="Calibri"/>
                </a:rPr>
                <a:t>LOW RISK</a:t>
              </a:r>
              <a:endParaRPr sz="700"/>
            </a:p>
          </p:txBody>
        </p:sp>
      </p:grpSp>
      <p:grpSp>
        <p:nvGrpSpPr>
          <p:cNvPr id="967" name="Google Shape;967;p30"/>
          <p:cNvGrpSpPr/>
          <p:nvPr/>
        </p:nvGrpSpPr>
        <p:grpSpPr>
          <a:xfrm>
            <a:off x="4660263" y="4466530"/>
            <a:ext cx="1935737" cy="263514"/>
            <a:chOff x="0" y="-38100"/>
            <a:chExt cx="5161966" cy="702704"/>
          </a:xfrm>
        </p:grpSpPr>
        <p:sp>
          <p:nvSpPr>
            <p:cNvPr id="968" name="Google Shape;968;p30"/>
            <p:cNvSpPr/>
            <p:nvPr/>
          </p:nvSpPr>
          <p:spPr>
            <a:xfrm>
              <a:off x="0" y="0"/>
              <a:ext cx="5161960" cy="664601"/>
            </a:xfrm>
            <a:custGeom>
              <a:rect b="b" l="l" r="r" t="t"/>
              <a:pathLst>
                <a:path extrusionOk="0" h="664601" w="5161960">
                  <a:moveTo>
                    <a:pt x="0" y="0"/>
                  </a:moveTo>
                  <a:lnTo>
                    <a:pt x="5161960" y="0"/>
                  </a:lnTo>
                  <a:lnTo>
                    <a:pt x="5161960" y="664601"/>
                  </a:lnTo>
                  <a:lnTo>
                    <a:pt x="0" y="664601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101341" l="0" r="0" t="-101341"/>
              </a:stretch>
            </a:blipFill>
            <a:ln>
              <a:noFill/>
            </a:ln>
          </p:spPr>
        </p:sp>
        <p:sp>
          <p:nvSpPr>
            <p:cNvPr id="969" name="Google Shape;969;p30"/>
            <p:cNvSpPr txBox="1"/>
            <p:nvPr/>
          </p:nvSpPr>
          <p:spPr>
            <a:xfrm>
              <a:off x="0" y="-38100"/>
              <a:ext cx="5161966" cy="702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70+ rule-based checks for cold-start scenarios</a:t>
              </a:r>
              <a:endParaRPr sz="700"/>
            </a:p>
          </p:txBody>
        </p:sp>
      </p:grpSp>
      <p:grpSp>
        <p:nvGrpSpPr>
          <p:cNvPr id="970" name="Google Shape;970;p30"/>
          <p:cNvGrpSpPr/>
          <p:nvPr/>
        </p:nvGrpSpPr>
        <p:grpSpPr>
          <a:xfrm>
            <a:off x="6696199" y="3182984"/>
            <a:ext cx="2088356" cy="181595"/>
            <a:chOff x="0" y="0"/>
            <a:chExt cx="5568950" cy="484253"/>
          </a:xfrm>
        </p:grpSpPr>
        <p:sp>
          <p:nvSpPr>
            <p:cNvPr id="971" name="Google Shape;971;p30"/>
            <p:cNvSpPr/>
            <p:nvPr/>
          </p:nvSpPr>
          <p:spPr>
            <a:xfrm>
              <a:off x="16891" y="16891"/>
              <a:ext cx="5535168" cy="450469"/>
            </a:xfrm>
            <a:custGeom>
              <a:rect b="b" l="l" r="r" t="t"/>
              <a:pathLst>
                <a:path extrusionOk="0" h="450469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450469"/>
                  </a:lnTo>
                  <a:lnTo>
                    <a:pt x="0" y="450469"/>
                  </a:lnTo>
                  <a:close/>
                </a:path>
              </a:pathLst>
            </a:custGeom>
            <a:solidFill>
              <a:srgbClr val="374151"/>
            </a:solidFill>
            <a:ln>
              <a:noFill/>
            </a:ln>
          </p:spPr>
        </p:sp>
        <p:sp>
          <p:nvSpPr>
            <p:cNvPr id="972" name="Google Shape;972;p30"/>
            <p:cNvSpPr/>
            <p:nvPr/>
          </p:nvSpPr>
          <p:spPr>
            <a:xfrm>
              <a:off x="0" y="0"/>
              <a:ext cx="5568950" cy="484253"/>
            </a:xfrm>
            <a:custGeom>
              <a:rect b="b" l="l" r="r" t="t"/>
              <a:pathLst>
                <a:path extrusionOk="0" h="484253" w="5568950">
                  <a:moveTo>
                    <a:pt x="16891" y="0"/>
                  </a:moveTo>
                  <a:lnTo>
                    <a:pt x="5552059" y="0"/>
                  </a:lnTo>
                  <a:cubicBezTo>
                    <a:pt x="5561457" y="0"/>
                    <a:pt x="5568950" y="7620"/>
                    <a:pt x="5568950" y="16891"/>
                  </a:cubicBezTo>
                  <a:lnTo>
                    <a:pt x="5568950" y="467360"/>
                  </a:lnTo>
                  <a:cubicBezTo>
                    <a:pt x="5568950" y="476758"/>
                    <a:pt x="5561330" y="484251"/>
                    <a:pt x="5552059" y="484251"/>
                  </a:cubicBezTo>
                  <a:lnTo>
                    <a:pt x="16891" y="484251"/>
                  </a:lnTo>
                  <a:cubicBezTo>
                    <a:pt x="7620" y="484378"/>
                    <a:pt x="0" y="476758"/>
                    <a:pt x="0" y="46736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7360"/>
                  </a:lnTo>
                  <a:lnTo>
                    <a:pt x="16891" y="467360"/>
                  </a:lnTo>
                  <a:lnTo>
                    <a:pt x="16891" y="450469"/>
                  </a:lnTo>
                  <a:lnTo>
                    <a:pt x="5552059" y="450469"/>
                  </a:lnTo>
                  <a:lnTo>
                    <a:pt x="5552059" y="467360"/>
                  </a:lnTo>
                  <a:lnTo>
                    <a:pt x="5535168" y="467360"/>
                  </a:lnTo>
                  <a:lnTo>
                    <a:pt x="5535168" y="16891"/>
                  </a:lnTo>
                  <a:lnTo>
                    <a:pt x="5552059" y="16891"/>
                  </a:lnTo>
                  <a:lnTo>
                    <a:pt x="55520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7415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3" name="Google Shape;973;p30"/>
          <p:cNvGrpSpPr/>
          <p:nvPr/>
        </p:nvGrpSpPr>
        <p:grpSpPr>
          <a:xfrm>
            <a:off x="6693027" y="3330664"/>
            <a:ext cx="2094738" cy="1475184"/>
            <a:chOff x="0" y="0"/>
            <a:chExt cx="5585968" cy="3933825"/>
          </a:xfrm>
        </p:grpSpPr>
        <p:sp>
          <p:nvSpPr>
            <p:cNvPr id="974" name="Google Shape;974;p30"/>
            <p:cNvSpPr/>
            <p:nvPr/>
          </p:nvSpPr>
          <p:spPr>
            <a:xfrm>
              <a:off x="25400" y="25400"/>
              <a:ext cx="5535168" cy="3883025"/>
            </a:xfrm>
            <a:custGeom>
              <a:rect b="b" l="l" r="r" t="t"/>
              <a:pathLst>
                <a:path extrusionOk="0" h="3883025" w="5535168">
                  <a:moveTo>
                    <a:pt x="0" y="0"/>
                  </a:moveTo>
                  <a:lnTo>
                    <a:pt x="5535168" y="0"/>
                  </a:lnTo>
                  <a:lnTo>
                    <a:pt x="5535168" y="3883025"/>
                  </a:lnTo>
                  <a:lnTo>
                    <a:pt x="0" y="38830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75" name="Google Shape;975;p30"/>
            <p:cNvSpPr/>
            <p:nvPr/>
          </p:nvSpPr>
          <p:spPr>
            <a:xfrm>
              <a:off x="0" y="0"/>
              <a:ext cx="5585968" cy="3933825"/>
            </a:xfrm>
            <a:custGeom>
              <a:rect b="b" l="l" r="r" t="t"/>
              <a:pathLst>
                <a:path extrusionOk="0" h="3933825" w="5585968">
                  <a:moveTo>
                    <a:pt x="25400" y="0"/>
                  </a:moveTo>
                  <a:lnTo>
                    <a:pt x="5560568" y="0"/>
                  </a:lnTo>
                  <a:cubicBezTo>
                    <a:pt x="5574538" y="0"/>
                    <a:pt x="5585968" y="11430"/>
                    <a:pt x="5585968" y="25400"/>
                  </a:cubicBezTo>
                  <a:lnTo>
                    <a:pt x="5585968" y="3908425"/>
                  </a:lnTo>
                  <a:cubicBezTo>
                    <a:pt x="5585968" y="3922395"/>
                    <a:pt x="5574538" y="3933825"/>
                    <a:pt x="5560568" y="3933825"/>
                  </a:cubicBezTo>
                  <a:lnTo>
                    <a:pt x="25400" y="3933825"/>
                  </a:lnTo>
                  <a:cubicBezTo>
                    <a:pt x="11430" y="3933825"/>
                    <a:pt x="0" y="3922395"/>
                    <a:pt x="0" y="3908425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908425"/>
                  </a:lnTo>
                  <a:lnTo>
                    <a:pt x="25400" y="3908425"/>
                  </a:lnTo>
                  <a:lnTo>
                    <a:pt x="25400" y="3883025"/>
                  </a:lnTo>
                  <a:lnTo>
                    <a:pt x="5560568" y="3883025"/>
                  </a:lnTo>
                  <a:lnTo>
                    <a:pt x="5560568" y="3908425"/>
                  </a:lnTo>
                  <a:lnTo>
                    <a:pt x="5535168" y="3908425"/>
                  </a:lnTo>
                  <a:lnTo>
                    <a:pt x="5535168" y="25400"/>
                  </a:lnTo>
                  <a:lnTo>
                    <a:pt x="5560568" y="25400"/>
                  </a:lnTo>
                  <a:lnTo>
                    <a:pt x="556056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6" name="Google Shape;976;p30"/>
          <p:cNvGrpSpPr/>
          <p:nvPr/>
        </p:nvGrpSpPr>
        <p:grpSpPr>
          <a:xfrm>
            <a:off x="7493127" y="3368574"/>
            <a:ext cx="494538" cy="494538"/>
            <a:chOff x="0" y="0"/>
            <a:chExt cx="1318768" cy="1318768"/>
          </a:xfrm>
        </p:grpSpPr>
        <p:sp>
          <p:nvSpPr>
            <p:cNvPr id="977" name="Google Shape;977;p30"/>
            <p:cNvSpPr/>
            <p:nvPr/>
          </p:nvSpPr>
          <p:spPr>
            <a:xfrm>
              <a:off x="25400" y="25400"/>
              <a:ext cx="1267968" cy="1267968"/>
            </a:xfrm>
            <a:custGeom>
              <a:rect b="b" l="l" r="r" t="t"/>
              <a:pathLst>
                <a:path extrusionOk="0" h="1267968" w="1267968">
                  <a:moveTo>
                    <a:pt x="0" y="633984"/>
                  </a:moveTo>
                  <a:cubicBezTo>
                    <a:pt x="0" y="283845"/>
                    <a:pt x="283845" y="0"/>
                    <a:pt x="633984" y="0"/>
                  </a:cubicBezTo>
                  <a:cubicBezTo>
                    <a:pt x="984123" y="0"/>
                    <a:pt x="1267968" y="283845"/>
                    <a:pt x="1267968" y="633984"/>
                  </a:cubicBezTo>
                  <a:cubicBezTo>
                    <a:pt x="1267968" y="984123"/>
                    <a:pt x="984123" y="1267968"/>
                    <a:pt x="633984" y="1267968"/>
                  </a:cubicBezTo>
                  <a:cubicBezTo>
                    <a:pt x="283845" y="1267968"/>
                    <a:pt x="0" y="984123"/>
                    <a:pt x="0" y="633984"/>
                  </a:cubicBezTo>
                  <a:close/>
                </a:path>
              </a:pathLst>
            </a:custGeom>
            <a:solidFill>
              <a:srgbClr val="065F4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0"/>
            <p:cNvSpPr/>
            <p:nvPr/>
          </p:nvSpPr>
          <p:spPr>
            <a:xfrm>
              <a:off x="0" y="0"/>
              <a:ext cx="1318768" cy="1318768"/>
            </a:xfrm>
            <a:custGeom>
              <a:rect b="b" l="l" r="r" t="t"/>
              <a:pathLst>
                <a:path extrusionOk="0" h="1318768" w="1318768">
                  <a:moveTo>
                    <a:pt x="0" y="659384"/>
                  </a:moveTo>
                  <a:cubicBezTo>
                    <a:pt x="0" y="295275"/>
                    <a:pt x="295275" y="0"/>
                    <a:pt x="659384" y="0"/>
                  </a:cubicBezTo>
                  <a:lnTo>
                    <a:pt x="659384" y="25400"/>
                  </a:lnTo>
                  <a:lnTo>
                    <a:pt x="659384" y="0"/>
                  </a:lnTo>
                  <a:cubicBezTo>
                    <a:pt x="1023493" y="0"/>
                    <a:pt x="1318768" y="295275"/>
                    <a:pt x="1318768" y="659384"/>
                  </a:cubicBezTo>
                  <a:lnTo>
                    <a:pt x="1293368" y="659384"/>
                  </a:lnTo>
                  <a:lnTo>
                    <a:pt x="1318768" y="659384"/>
                  </a:lnTo>
                  <a:cubicBezTo>
                    <a:pt x="1318768" y="1023493"/>
                    <a:pt x="1023493" y="1318768"/>
                    <a:pt x="659384" y="1318768"/>
                  </a:cubicBezTo>
                  <a:lnTo>
                    <a:pt x="659384" y="1293368"/>
                  </a:lnTo>
                  <a:lnTo>
                    <a:pt x="659384" y="1318768"/>
                  </a:lnTo>
                  <a:cubicBezTo>
                    <a:pt x="295275" y="1318768"/>
                    <a:pt x="0" y="1023493"/>
                    <a:pt x="0" y="659384"/>
                  </a:cubicBezTo>
                  <a:lnTo>
                    <a:pt x="25400" y="659384"/>
                  </a:lnTo>
                  <a:lnTo>
                    <a:pt x="50800" y="659384"/>
                  </a:lnTo>
                  <a:lnTo>
                    <a:pt x="25400" y="659384"/>
                  </a:lnTo>
                  <a:lnTo>
                    <a:pt x="0" y="659384"/>
                  </a:lnTo>
                  <a:moveTo>
                    <a:pt x="50800" y="659384"/>
                  </a:moveTo>
                  <a:cubicBezTo>
                    <a:pt x="50800" y="673354"/>
                    <a:pt x="39370" y="684784"/>
                    <a:pt x="25400" y="684784"/>
                  </a:cubicBezTo>
                  <a:cubicBezTo>
                    <a:pt x="11430" y="684784"/>
                    <a:pt x="0" y="673354"/>
                    <a:pt x="0" y="659384"/>
                  </a:cubicBezTo>
                  <a:cubicBezTo>
                    <a:pt x="0" y="645414"/>
                    <a:pt x="11430" y="633984"/>
                    <a:pt x="25400" y="633984"/>
                  </a:cubicBezTo>
                  <a:cubicBezTo>
                    <a:pt x="39370" y="633984"/>
                    <a:pt x="50800" y="645414"/>
                    <a:pt x="50800" y="659384"/>
                  </a:cubicBezTo>
                  <a:cubicBezTo>
                    <a:pt x="50800" y="995553"/>
                    <a:pt x="323215" y="1267968"/>
                    <a:pt x="659384" y="1267968"/>
                  </a:cubicBezTo>
                  <a:cubicBezTo>
                    <a:pt x="995553" y="1267968"/>
                    <a:pt x="1267968" y="995553"/>
                    <a:pt x="1267968" y="659384"/>
                  </a:cubicBezTo>
                  <a:cubicBezTo>
                    <a:pt x="1267968" y="323215"/>
                    <a:pt x="995553" y="50800"/>
                    <a:pt x="659384" y="50800"/>
                  </a:cubicBezTo>
                  <a:lnTo>
                    <a:pt x="659384" y="25400"/>
                  </a:lnTo>
                  <a:lnTo>
                    <a:pt x="659384" y="50800"/>
                  </a:lnTo>
                  <a:cubicBezTo>
                    <a:pt x="323215" y="50800"/>
                    <a:pt x="50800" y="323215"/>
                    <a:pt x="50800" y="659384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9" name="Google Shape;979;p30"/>
          <p:cNvGrpSpPr/>
          <p:nvPr/>
        </p:nvGrpSpPr>
        <p:grpSpPr>
          <a:xfrm>
            <a:off x="7545200" y="3433391"/>
            <a:ext cx="390397" cy="292308"/>
            <a:chOff x="0" y="-47625"/>
            <a:chExt cx="1041059" cy="779488"/>
          </a:xfrm>
        </p:grpSpPr>
        <p:sp>
          <p:nvSpPr>
            <p:cNvPr id="980" name="Google Shape;980;p30"/>
            <p:cNvSpPr/>
            <p:nvPr/>
          </p:nvSpPr>
          <p:spPr>
            <a:xfrm>
              <a:off x="0" y="0"/>
              <a:ext cx="1041059" cy="731863"/>
            </a:xfrm>
            <a:custGeom>
              <a:rect b="b" l="l" r="r" t="t"/>
              <a:pathLst>
                <a:path extrusionOk="0" h="731863" w="1041059">
                  <a:moveTo>
                    <a:pt x="0" y="0"/>
                  </a:moveTo>
                  <a:lnTo>
                    <a:pt x="1041059" y="0"/>
                  </a:lnTo>
                  <a:lnTo>
                    <a:pt x="1041059" y="731863"/>
                  </a:lnTo>
                  <a:lnTo>
                    <a:pt x="0" y="731863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0" l="-40197" r="-40197" t="0"/>
              </a:stretch>
            </a:blipFill>
            <a:ln>
              <a:noFill/>
            </a:ln>
          </p:spPr>
        </p:sp>
        <p:sp>
          <p:nvSpPr>
            <p:cNvPr id="981" name="Google Shape;981;p30"/>
            <p:cNvSpPr txBox="1"/>
            <p:nvPr/>
          </p:nvSpPr>
          <p:spPr>
            <a:xfrm>
              <a:off x="0" y="-47625"/>
              <a:ext cx="1041057" cy="779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700"/>
            </a:p>
          </p:txBody>
        </p:sp>
      </p:grpSp>
      <p:grpSp>
        <p:nvGrpSpPr>
          <p:cNvPr id="982" name="Google Shape;982;p30"/>
          <p:cNvGrpSpPr/>
          <p:nvPr/>
        </p:nvGrpSpPr>
        <p:grpSpPr>
          <a:xfrm>
            <a:off x="6772527" y="3917352"/>
            <a:ext cx="1935737" cy="287512"/>
            <a:chOff x="0" y="-38100"/>
            <a:chExt cx="5161966" cy="766699"/>
          </a:xfrm>
        </p:grpSpPr>
        <p:sp>
          <p:nvSpPr>
            <p:cNvPr id="983" name="Google Shape;983;p30"/>
            <p:cNvSpPr/>
            <p:nvPr/>
          </p:nvSpPr>
          <p:spPr>
            <a:xfrm>
              <a:off x="0" y="0"/>
              <a:ext cx="5161960" cy="728597"/>
            </a:xfrm>
            <a:custGeom>
              <a:rect b="b" l="l" r="r" t="t"/>
              <a:pathLst>
                <a:path extrusionOk="0" h="728597" w="5161960">
                  <a:moveTo>
                    <a:pt x="0" y="0"/>
                  </a:moveTo>
                  <a:lnTo>
                    <a:pt x="5161960" y="0"/>
                  </a:lnTo>
                  <a:lnTo>
                    <a:pt x="5161960" y="728597"/>
                  </a:lnTo>
                  <a:lnTo>
                    <a:pt x="0" y="728597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88045" l="0" r="0" t="-88045"/>
              </a:stretch>
            </a:blipFill>
            <a:ln>
              <a:noFill/>
            </a:ln>
          </p:spPr>
        </p:sp>
        <p:sp>
          <p:nvSpPr>
            <p:cNvPr id="984" name="Google Shape;984;p30"/>
            <p:cNvSpPr txBox="1"/>
            <p:nvPr/>
          </p:nvSpPr>
          <p:spPr>
            <a:xfrm>
              <a:off x="0" y="-38100"/>
              <a:ext cx="5161966" cy="7666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Model Accuracy</a:t>
              </a:r>
              <a:endParaRPr sz="700"/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Over Time</a:t>
              </a:r>
              <a:endParaRPr sz="700"/>
            </a:p>
          </p:txBody>
        </p:sp>
      </p:grpSp>
      <p:grpSp>
        <p:nvGrpSpPr>
          <p:cNvPr id="985" name="Google Shape;985;p30"/>
          <p:cNvGrpSpPr/>
          <p:nvPr/>
        </p:nvGrpSpPr>
        <p:grpSpPr>
          <a:xfrm>
            <a:off x="7007099" y="4200763"/>
            <a:ext cx="1466612" cy="232124"/>
            <a:chOff x="0" y="0"/>
            <a:chExt cx="3910965" cy="618998"/>
          </a:xfrm>
        </p:grpSpPr>
        <p:sp>
          <p:nvSpPr>
            <p:cNvPr id="986" name="Google Shape;986;p30"/>
            <p:cNvSpPr/>
            <p:nvPr/>
          </p:nvSpPr>
          <p:spPr>
            <a:xfrm>
              <a:off x="16891" y="16891"/>
              <a:ext cx="3877056" cy="585216"/>
            </a:xfrm>
            <a:custGeom>
              <a:rect b="b" l="l" r="r" t="t"/>
              <a:pathLst>
                <a:path extrusionOk="0" h="585216" w="3877056">
                  <a:moveTo>
                    <a:pt x="0" y="97536"/>
                  </a:moveTo>
                  <a:cubicBezTo>
                    <a:pt x="0" y="43688"/>
                    <a:pt x="45847" y="0"/>
                    <a:pt x="102235" y="0"/>
                  </a:cubicBezTo>
                  <a:lnTo>
                    <a:pt x="3774821" y="0"/>
                  </a:lnTo>
                  <a:cubicBezTo>
                    <a:pt x="3831336" y="0"/>
                    <a:pt x="3877056" y="43688"/>
                    <a:pt x="3877056" y="97536"/>
                  </a:cubicBezTo>
                  <a:lnTo>
                    <a:pt x="3877056" y="487680"/>
                  </a:lnTo>
                  <a:cubicBezTo>
                    <a:pt x="3877056" y="541528"/>
                    <a:pt x="3831209" y="585216"/>
                    <a:pt x="3774821" y="585216"/>
                  </a:cubicBezTo>
                  <a:lnTo>
                    <a:pt x="102362" y="585216"/>
                  </a:lnTo>
                  <a:cubicBezTo>
                    <a:pt x="45847" y="585216"/>
                    <a:pt x="127" y="541528"/>
                    <a:pt x="127" y="487680"/>
                  </a:cubicBezTo>
                  <a:close/>
                </a:path>
              </a:pathLst>
            </a:custGeom>
            <a:solidFill>
              <a:srgbClr val="D1FAE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0"/>
            <p:cNvSpPr/>
            <p:nvPr/>
          </p:nvSpPr>
          <p:spPr>
            <a:xfrm>
              <a:off x="0" y="0"/>
              <a:ext cx="3910965" cy="618998"/>
            </a:xfrm>
            <a:custGeom>
              <a:rect b="b" l="l" r="r" t="t"/>
              <a:pathLst>
                <a:path extrusionOk="0" h="618998" w="3910965">
                  <a:moveTo>
                    <a:pt x="0" y="114427"/>
                  </a:moveTo>
                  <a:cubicBezTo>
                    <a:pt x="0" y="50546"/>
                    <a:pt x="54102" y="0"/>
                    <a:pt x="119253" y="0"/>
                  </a:cubicBezTo>
                  <a:lnTo>
                    <a:pt x="3791712" y="0"/>
                  </a:lnTo>
                  <a:lnTo>
                    <a:pt x="3791712" y="16891"/>
                  </a:lnTo>
                  <a:lnTo>
                    <a:pt x="3791712" y="0"/>
                  </a:lnTo>
                  <a:cubicBezTo>
                    <a:pt x="3856736" y="0"/>
                    <a:pt x="3910965" y="50546"/>
                    <a:pt x="3910965" y="114427"/>
                  </a:cubicBezTo>
                  <a:lnTo>
                    <a:pt x="3894074" y="114427"/>
                  </a:lnTo>
                  <a:lnTo>
                    <a:pt x="3910965" y="114427"/>
                  </a:lnTo>
                  <a:lnTo>
                    <a:pt x="3910965" y="504571"/>
                  </a:lnTo>
                  <a:lnTo>
                    <a:pt x="3894074" y="504571"/>
                  </a:lnTo>
                  <a:lnTo>
                    <a:pt x="3910965" y="504571"/>
                  </a:lnTo>
                  <a:cubicBezTo>
                    <a:pt x="3910965" y="568579"/>
                    <a:pt x="3856863" y="618998"/>
                    <a:pt x="3791712" y="618998"/>
                  </a:cubicBezTo>
                  <a:lnTo>
                    <a:pt x="3791712" y="602107"/>
                  </a:lnTo>
                  <a:lnTo>
                    <a:pt x="3791712" y="618998"/>
                  </a:lnTo>
                  <a:lnTo>
                    <a:pt x="119253" y="618998"/>
                  </a:lnTo>
                  <a:lnTo>
                    <a:pt x="119253" y="602107"/>
                  </a:lnTo>
                  <a:lnTo>
                    <a:pt x="119253" y="618998"/>
                  </a:lnTo>
                  <a:cubicBezTo>
                    <a:pt x="54102" y="619125"/>
                    <a:pt x="0" y="568579"/>
                    <a:pt x="0" y="504571"/>
                  </a:cubicBezTo>
                  <a:lnTo>
                    <a:pt x="0" y="114427"/>
                  </a:lnTo>
                  <a:lnTo>
                    <a:pt x="16891" y="114427"/>
                  </a:lnTo>
                  <a:lnTo>
                    <a:pt x="0" y="114427"/>
                  </a:lnTo>
                  <a:moveTo>
                    <a:pt x="33909" y="114427"/>
                  </a:moveTo>
                  <a:lnTo>
                    <a:pt x="33909" y="504571"/>
                  </a:lnTo>
                  <a:lnTo>
                    <a:pt x="16891" y="504571"/>
                  </a:lnTo>
                  <a:lnTo>
                    <a:pt x="33909" y="504571"/>
                  </a:lnTo>
                  <a:cubicBezTo>
                    <a:pt x="33909" y="548386"/>
                    <a:pt x="71374" y="585216"/>
                    <a:pt x="119253" y="585216"/>
                  </a:cubicBezTo>
                  <a:lnTo>
                    <a:pt x="3791712" y="585216"/>
                  </a:lnTo>
                  <a:cubicBezTo>
                    <a:pt x="3839591" y="585216"/>
                    <a:pt x="3877056" y="548386"/>
                    <a:pt x="3877056" y="504571"/>
                  </a:cubicBezTo>
                  <a:lnTo>
                    <a:pt x="3877056" y="114427"/>
                  </a:lnTo>
                  <a:cubicBezTo>
                    <a:pt x="3877056" y="70612"/>
                    <a:pt x="3839591" y="33782"/>
                    <a:pt x="3791712" y="33782"/>
                  </a:cubicBezTo>
                  <a:lnTo>
                    <a:pt x="119253" y="33782"/>
                  </a:lnTo>
                  <a:lnTo>
                    <a:pt x="119253" y="16891"/>
                  </a:lnTo>
                  <a:lnTo>
                    <a:pt x="119253" y="33909"/>
                  </a:lnTo>
                  <a:cubicBezTo>
                    <a:pt x="71374" y="33909"/>
                    <a:pt x="33909" y="70739"/>
                    <a:pt x="33909" y="114554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8" name="Google Shape;988;p30"/>
          <p:cNvGrpSpPr/>
          <p:nvPr/>
        </p:nvGrpSpPr>
        <p:grpSpPr>
          <a:xfrm>
            <a:off x="7055991" y="4204940"/>
            <a:ext cx="1368806" cy="213084"/>
            <a:chOff x="0" y="-28575"/>
            <a:chExt cx="3650149" cy="568223"/>
          </a:xfrm>
        </p:grpSpPr>
        <p:sp>
          <p:nvSpPr>
            <p:cNvPr id="989" name="Google Shape;989;p30"/>
            <p:cNvSpPr/>
            <p:nvPr/>
          </p:nvSpPr>
          <p:spPr>
            <a:xfrm>
              <a:off x="0" y="0"/>
              <a:ext cx="3650149" cy="539643"/>
            </a:xfrm>
            <a:custGeom>
              <a:rect b="b" l="l" r="r" t="t"/>
              <a:pathLst>
                <a:path extrusionOk="0" h="539643" w="3650149">
                  <a:moveTo>
                    <a:pt x="0" y="0"/>
                  </a:moveTo>
                  <a:lnTo>
                    <a:pt x="3650149" y="0"/>
                  </a:lnTo>
                  <a:lnTo>
                    <a:pt x="3650149" y="539643"/>
                  </a:lnTo>
                  <a:lnTo>
                    <a:pt x="0" y="539643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81799" l="0" r="0" t="-81796"/>
              </a:stretch>
            </a:blipFill>
            <a:ln>
              <a:noFill/>
            </a:ln>
          </p:spPr>
        </p:sp>
        <p:sp>
          <p:nvSpPr>
            <p:cNvPr id="990" name="Google Shape;990;p30"/>
            <p:cNvSpPr txBox="1"/>
            <p:nvPr/>
          </p:nvSpPr>
          <p:spPr>
            <a:xfrm>
              <a:off x="0" y="-28575"/>
              <a:ext cx="3650145" cy="5682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800" u="none" cap="none" strike="noStrike">
                  <a:solidFill>
                    <a:srgbClr val="065F46"/>
                  </a:solidFill>
                  <a:latin typeface="Calibri"/>
                  <a:ea typeface="Calibri"/>
                  <a:cs typeface="Calibri"/>
                  <a:sym typeface="Calibri"/>
                </a:rPr>
                <a:t>LOW RISK</a:t>
              </a:r>
              <a:endParaRPr sz="700"/>
            </a:p>
          </p:txBody>
        </p:sp>
      </p:grpSp>
      <p:grpSp>
        <p:nvGrpSpPr>
          <p:cNvPr id="991" name="Google Shape;991;p30"/>
          <p:cNvGrpSpPr/>
          <p:nvPr/>
        </p:nvGrpSpPr>
        <p:grpSpPr>
          <a:xfrm>
            <a:off x="6772527" y="4466530"/>
            <a:ext cx="1935737" cy="263514"/>
            <a:chOff x="0" y="-38100"/>
            <a:chExt cx="5161966" cy="702704"/>
          </a:xfrm>
        </p:grpSpPr>
        <p:sp>
          <p:nvSpPr>
            <p:cNvPr id="992" name="Google Shape;992;p30"/>
            <p:cNvSpPr/>
            <p:nvPr/>
          </p:nvSpPr>
          <p:spPr>
            <a:xfrm>
              <a:off x="0" y="0"/>
              <a:ext cx="5161961" cy="664601"/>
            </a:xfrm>
            <a:custGeom>
              <a:rect b="b" l="l" r="r" t="t"/>
              <a:pathLst>
                <a:path extrusionOk="0" h="664601" w="5161961">
                  <a:moveTo>
                    <a:pt x="0" y="0"/>
                  </a:moveTo>
                  <a:lnTo>
                    <a:pt x="5161961" y="0"/>
                  </a:lnTo>
                  <a:lnTo>
                    <a:pt x="5161961" y="664601"/>
                  </a:lnTo>
                  <a:lnTo>
                    <a:pt x="0" y="664601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101341" l="0" r="0" t="-101341"/>
              </a:stretch>
            </a:blipFill>
            <a:ln>
              <a:noFill/>
            </a:ln>
          </p:spPr>
        </p:sp>
        <p:sp>
          <p:nvSpPr>
            <p:cNvPr id="993" name="Google Shape;993;p30"/>
            <p:cNvSpPr txBox="1"/>
            <p:nvPr/>
          </p:nvSpPr>
          <p:spPr>
            <a:xfrm>
              <a:off x="0" y="-38100"/>
              <a:ext cx="5161966" cy="702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30-day retraining cycle </a:t>
              </a:r>
              <a:endParaRPr sz="700"/>
            </a:p>
            <a:p>
              <a:pPr indent="0" lvl="0" marL="0" marR="0" rtl="0" algn="ctr">
                <a:lnSpc>
                  <a:spcPct val="1199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900" u="none" cap="none" strike="noStrike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with investigator feedback</a:t>
              </a:r>
              <a:endParaRPr sz="700"/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4"/>
        </a:solidFill>
      </p:bgPr>
    </p:bg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31"/>
          <p:cNvSpPr/>
          <p:nvPr/>
        </p:nvSpPr>
        <p:spPr>
          <a:xfrm>
            <a:off x="14" y="14"/>
            <a:ext cx="9144000" cy="848582"/>
          </a:xfrm>
          <a:custGeom>
            <a:rect b="b" l="l" r="r" t="t"/>
            <a:pathLst>
              <a:path extrusionOk="0" h="2262886" w="24384001">
                <a:moveTo>
                  <a:pt x="0" y="0"/>
                </a:moveTo>
                <a:lnTo>
                  <a:pt x="24384001" y="0"/>
                </a:lnTo>
                <a:lnTo>
                  <a:pt x="24384001" y="2262886"/>
                </a:lnTo>
                <a:lnTo>
                  <a:pt x="0" y="22628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99" name="Google Shape;999;p31"/>
          <p:cNvSpPr/>
          <p:nvPr/>
        </p:nvSpPr>
        <p:spPr>
          <a:xfrm>
            <a:off x="5484943" y="294465"/>
            <a:ext cx="2511219" cy="374571"/>
          </a:xfrm>
          <a:custGeom>
            <a:rect b="b" l="l" r="r" t="t"/>
            <a:pathLst>
              <a:path extrusionOk="0" h="998855" w="6696583">
                <a:moveTo>
                  <a:pt x="0" y="0"/>
                </a:moveTo>
                <a:lnTo>
                  <a:pt x="6696583" y="0"/>
                </a:lnTo>
                <a:lnTo>
                  <a:pt x="6696583" y="998855"/>
                </a:lnTo>
                <a:lnTo>
                  <a:pt x="0" y="99885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44" l="-563" r="-562" t="-851"/>
            </a:stretch>
          </a:blipFill>
          <a:ln>
            <a:noFill/>
          </a:ln>
        </p:spPr>
      </p:sp>
      <p:sp>
        <p:nvSpPr>
          <p:cNvPr id="1000" name="Google Shape;1000;p31"/>
          <p:cNvSpPr/>
          <p:nvPr/>
        </p:nvSpPr>
        <p:spPr>
          <a:xfrm>
            <a:off x="1581674" y="261861"/>
            <a:ext cx="1345264" cy="439769"/>
          </a:xfrm>
          <a:custGeom>
            <a:rect b="b" l="l" r="r" t="t"/>
            <a:pathLst>
              <a:path extrusionOk="0" h="1172718" w="3587369">
                <a:moveTo>
                  <a:pt x="0" y="0"/>
                </a:moveTo>
                <a:lnTo>
                  <a:pt x="3587369" y="0"/>
                </a:lnTo>
                <a:lnTo>
                  <a:pt x="3587369" y="1172718"/>
                </a:lnTo>
                <a:lnTo>
                  <a:pt x="0" y="1172718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24" l="-723" r="-720" t="-725"/>
            </a:stretch>
          </a:blipFill>
          <a:ln>
            <a:noFill/>
          </a:ln>
        </p:spPr>
      </p:sp>
      <p:sp>
        <p:nvSpPr>
          <p:cNvPr id="1001" name="Google Shape;1001;p31"/>
          <p:cNvSpPr/>
          <p:nvPr/>
        </p:nvSpPr>
        <p:spPr>
          <a:xfrm>
            <a:off x="200754" y="140613"/>
            <a:ext cx="1222915" cy="611457"/>
          </a:xfrm>
          <a:custGeom>
            <a:rect b="b" l="l" r="r" t="t"/>
            <a:pathLst>
              <a:path extrusionOk="0" h="1630553" w="3261106">
                <a:moveTo>
                  <a:pt x="0" y="0"/>
                </a:moveTo>
                <a:lnTo>
                  <a:pt x="3261106" y="0"/>
                </a:lnTo>
                <a:lnTo>
                  <a:pt x="3261106" y="1630553"/>
                </a:lnTo>
                <a:lnTo>
                  <a:pt x="0" y="1630553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518" l="-520" r="-520" t="-521"/>
            </a:stretch>
          </a:blipFill>
          <a:ln>
            <a:noFill/>
          </a:ln>
        </p:spPr>
      </p:sp>
      <p:sp>
        <p:nvSpPr>
          <p:cNvPr id="1002" name="Google Shape;1002;p31"/>
          <p:cNvSpPr/>
          <p:nvPr/>
        </p:nvSpPr>
        <p:spPr>
          <a:xfrm>
            <a:off x="3466801" y="84882"/>
            <a:ext cx="1392087" cy="710316"/>
          </a:xfrm>
          <a:custGeom>
            <a:rect b="b" l="l" r="r" t="t"/>
            <a:pathLst>
              <a:path extrusionOk="0" h="2053463" w="4024406">
                <a:moveTo>
                  <a:pt x="0" y="0"/>
                </a:moveTo>
                <a:lnTo>
                  <a:pt x="4024406" y="0"/>
                </a:lnTo>
                <a:lnTo>
                  <a:pt x="4024406" y="2053463"/>
                </a:lnTo>
                <a:lnTo>
                  <a:pt x="0" y="2053463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48292" l="-182" r="-182" t="-48408"/>
            </a:stretch>
          </a:blipFill>
          <a:ln>
            <a:noFill/>
          </a:ln>
        </p:spPr>
      </p:sp>
      <p:sp>
        <p:nvSpPr>
          <p:cNvPr id="1003" name="Google Shape;1003;p31"/>
          <p:cNvSpPr/>
          <p:nvPr/>
        </p:nvSpPr>
        <p:spPr>
          <a:xfrm>
            <a:off x="8369617" y="235625"/>
            <a:ext cx="520065" cy="516445"/>
          </a:xfrm>
          <a:custGeom>
            <a:rect b="b" l="l" r="r" t="t"/>
            <a:pathLst>
              <a:path extrusionOk="0" h="1377188" w="1386840">
                <a:moveTo>
                  <a:pt x="0" y="0"/>
                </a:moveTo>
                <a:lnTo>
                  <a:pt x="1386840" y="0"/>
                </a:lnTo>
                <a:lnTo>
                  <a:pt x="1386840" y="1377188"/>
                </a:lnTo>
                <a:lnTo>
                  <a:pt x="0" y="1377188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966" l="-613" r="-613" t="-970"/>
            </a:stretch>
          </a:blipFill>
          <a:ln>
            <a:noFill/>
          </a:ln>
        </p:spPr>
      </p:sp>
      <p:grpSp>
        <p:nvGrpSpPr>
          <p:cNvPr id="1004" name="Google Shape;1004;p31"/>
          <p:cNvGrpSpPr/>
          <p:nvPr/>
        </p:nvGrpSpPr>
        <p:grpSpPr>
          <a:xfrm>
            <a:off x="1509308" y="5117659"/>
            <a:ext cx="1560833" cy="200894"/>
            <a:chOff x="0" y="-57150"/>
            <a:chExt cx="4162222" cy="535717"/>
          </a:xfrm>
        </p:grpSpPr>
        <p:sp>
          <p:nvSpPr>
            <p:cNvPr id="1005" name="Google Shape;1005;p31"/>
            <p:cNvSpPr/>
            <p:nvPr/>
          </p:nvSpPr>
          <p:spPr>
            <a:xfrm>
              <a:off x="0" y="0"/>
              <a:ext cx="4162216" cy="478567"/>
            </a:xfrm>
            <a:custGeom>
              <a:rect b="b" l="l" r="r" t="t"/>
              <a:pathLst>
                <a:path extrusionOk="0" h="478567" w="4162216">
                  <a:moveTo>
                    <a:pt x="0" y="0"/>
                  </a:moveTo>
                  <a:lnTo>
                    <a:pt x="4162216" y="0"/>
                  </a:lnTo>
                  <a:lnTo>
                    <a:pt x="4162216" y="478567"/>
                  </a:lnTo>
                  <a:lnTo>
                    <a:pt x="0" y="478567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b="-119469" l="0" r="0" t="-119469"/>
              </a:stretch>
            </a:blipFill>
            <a:ln>
              <a:noFill/>
            </a:ln>
          </p:spPr>
        </p:sp>
        <p:sp>
          <p:nvSpPr>
            <p:cNvPr id="1006" name="Google Shape;1006;p31"/>
            <p:cNvSpPr txBox="1"/>
            <p:nvPr/>
          </p:nvSpPr>
          <p:spPr>
            <a:xfrm>
              <a:off x="0" y="-57150"/>
              <a:ext cx="4162222" cy="5357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GB" sz="13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&lt;200ms</a:t>
              </a:r>
              <a:endParaRPr sz="700"/>
            </a:p>
          </p:txBody>
        </p:sp>
      </p:grpSp>
      <p:sp>
        <p:nvSpPr>
          <p:cNvPr id="1007" name="Google Shape;1007;p31"/>
          <p:cNvSpPr/>
          <p:nvPr/>
        </p:nvSpPr>
        <p:spPr>
          <a:xfrm>
            <a:off x="-3176" y="851763"/>
            <a:ext cx="9150349" cy="4334765"/>
          </a:xfrm>
          <a:custGeom>
            <a:rect b="b" l="l" r="r" t="t"/>
            <a:pathLst>
              <a:path extrusionOk="0" h="8669529" w="18300697">
                <a:moveTo>
                  <a:pt x="0" y="0"/>
                </a:moveTo>
                <a:lnTo>
                  <a:pt x="18300697" y="0"/>
                </a:lnTo>
                <a:lnTo>
                  <a:pt x="18300697" y="8669530"/>
                </a:lnTo>
                <a:lnTo>
                  <a:pt x="0" y="8669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-17156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4"/>
        </a:solidFill>
      </p:bgPr>
    </p:bg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32"/>
          <p:cNvSpPr/>
          <p:nvPr/>
        </p:nvSpPr>
        <p:spPr>
          <a:xfrm>
            <a:off x="0" y="-72333"/>
            <a:ext cx="9144000" cy="920920"/>
          </a:xfrm>
          <a:custGeom>
            <a:rect b="b" l="l" r="r" t="t"/>
            <a:pathLst>
              <a:path extrusionOk="0" h="1841840" w="18288000">
                <a:moveTo>
                  <a:pt x="0" y="0"/>
                </a:moveTo>
                <a:lnTo>
                  <a:pt x="18288000" y="0"/>
                </a:lnTo>
                <a:lnTo>
                  <a:pt x="18288000" y="1841840"/>
                </a:lnTo>
                <a:lnTo>
                  <a:pt x="0" y="1841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3" name="Google Shape;1013;p32"/>
          <p:cNvSpPr/>
          <p:nvPr/>
        </p:nvSpPr>
        <p:spPr>
          <a:xfrm>
            <a:off x="3538698" y="64362"/>
            <a:ext cx="1334450" cy="763935"/>
          </a:xfrm>
          <a:custGeom>
            <a:rect b="b" l="l" r="r" t="t"/>
            <a:pathLst>
              <a:path extrusionOk="0" h="2053463" w="3587013">
                <a:moveTo>
                  <a:pt x="0" y="0"/>
                </a:moveTo>
                <a:lnTo>
                  <a:pt x="3587013" y="0"/>
                </a:lnTo>
                <a:lnTo>
                  <a:pt x="3587013" y="2053463"/>
                </a:lnTo>
                <a:lnTo>
                  <a:pt x="0" y="2053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7342" l="0" r="0" t="-37340"/>
            </a:stretch>
          </a:blipFill>
          <a:ln>
            <a:noFill/>
          </a:ln>
        </p:spPr>
      </p:sp>
      <p:sp>
        <p:nvSpPr>
          <p:cNvPr descr="A red blue and white logo  Description automatically generated" id="1014" name="Google Shape;1014;p32"/>
          <p:cNvSpPr/>
          <p:nvPr/>
        </p:nvSpPr>
        <p:spPr>
          <a:xfrm>
            <a:off x="5484923" y="294451"/>
            <a:ext cx="2511219" cy="374571"/>
          </a:xfrm>
          <a:custGeom>
            <a:rect b="b" l="l" r="r" t="t"/>
            <a:pathLst>
              <a:path extrusionOk="0" h="998855" w="6696583">
                <a:moveTo>
                  <a:pt x="0" y="0"/>
                </a:moveTo>
                <a:lnTo>
                  <a:pt x="6696583" y="0"/>
                </a:lnTo>
                <a:lnTo>
                  <a:pt x="6696583" y="998855"/>
                </a:lnTo>
                <a:lnTo>
                  <a:pt x="0" y="998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0" l="0" r="0" t="-282"/>
            </a:stretch>
          </a:blipFill>
          <a:ln>
            <a:noFill/>
          </a:ln>
        </p:spPr>
      </p:sp>
      <p:sp>
        <p:nvSpPr>
          <p:cNvPr id="1015" name="Google Shape;1015;p32"/>
          <p:cNvSpPr/>
          <p:nvPr/>
        </p:nvSpPr>
        <p:spPr>
          <a:xfrm>
            <a:off x="1581655" y="261847"/>
            <a:ext cx="1345259" cy="439798"/>
          </a:xfrm>
          <a:custGeom>
            <a:rect b="b" l="l" r="r" t="t"/>
            <a:pathLst>
              <a:path extrusionOk="0" h="879596" w="2690517">
                <a:moveTo>
                  <a:pt x="0" y="0"/>
                </a:moveTo>
                <a:lnTo>
                  <a:pt x="2690517" y="0"/>
                </a:lnTo>
                <a:lnTo>
                  <a:pt x="2690517" y="879596"/>
                </a:lnTo>
                <a:lnTo>
                  <a:pt x="0" y="8795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58" l="0" r="0" t="-259"/>
            </a:stretch>
          </a:blipFill>
          <a:ln>
            <a:noFill/>
          </a:ln>
        </p:spPr>
      </p:sp>
      <p:sp>
        <p:nvSpPr>
          <p:cNvPr id="1016" name="Google Shape;1016;p32"/>
          <p:cNvSpPr/>
          <p:nvPr/>
        </p:nvSpPr>
        <p:spPr>
          <a:xfrm>
            <a:off x="200739" y="140598"/>
            <a:ext cx="1222963" cy="611457"/>
          </a:xfrm>
          <a:custGeom>
            <a:rect b="b" l="l" r="r" t="t"/>
            <a:pathLst>
              <a:path extrusionOk="0" h="1630553" w="3261233">
                <a:moveTo>
                  <a:pt x="0" y="0"/>
                </a:moveTo>
                <a:lnTo>
                  <a:pt x="3261233" y="0"/>
                </a:lnTo>
                <a:lnTo>
                  <a:pt x="3261233" y="1630553"/>
                </a:lnTo>
                <a:lnTo>
                  <a:pt x="0" y="1630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2" l="0" r="1" t="0"/>
            </a:stretch>
          </a:blipFill>
          <a:ln>
            <a:noFill/>
          </a:ln>
        </p:spPr>
      </p:sp>
      <p:sp>
        <p:nvSpPr>
          <p:cNvPr id="1017" name="Google Shape;1017;p32"/>
          <p:cNvSpPr/>
          <p:nvPr/>
        </p:nvSpPr>
        <p:spPr>
          <a:xfrm>
            <a:off x="8369603" y="235610"/>
            <a:ext cx="520113" cy="516446"/>
          </a:xfrm>
          <a:custGeom>
            <a:rect b="b" l="l" r="r" t="t"/>
            <a:pathLst>
              <a:path extrusionOk="0" h="1377188" w="1386967">
                <a:moveTo>
                  <a:pt x="0" y="0"/>
                </a:moveTo>
                <a:lnTo>
                  <a:pt x="1386967" y="0"/>
                </a:lnTo>
                <a:lnTo>
                  <a:pt x="1386967" y="1377188"/>
                </a:lnTo>
                <a:lnTo>
                  <a:pt x="0" y="1377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354" l="0" r="3" t="-352"/>
            </a:stretch>
          </a:blipFill>
          <a:ln>
            <a:noFill/>
          </a:ln>
        </p:spPr>
      </p:sp>
      <p:sp>
        <p:nvSpPr>
          <p:cNvPr id="1018" name="Google Shape;1018;p32"/>
          <p:cNvSpPr/>
          <p:nvPr/>
        </p:nvSpPr>
        <p:spPr>
          <a:xfrm>
            <a:off x="0" y="848587"/>
            <a:ext cx="9144000" cy="4314179"/>
          </a:xfrm>
          <a:custGeom>
            <a:rect b="b" l="l" r="r" t="t"/>
            <a:pathLst>
              <a:path extrusionOk="0" h="8628358" w="18288000">
                <a:moveTo>
                  <a:pt x="0" y="0"/>
                </a:moveTo>
                <a:lnTo>
                  <a:pt x="18288000" y="0"/>
                </a:lnTo>
                <a:lnTo>
                  <a:pt x="18288000" y="8628358"/>
                </a:lnTo>
                <a:lnTo>
                  <a:pt x="0" y="8628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-19224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4"/>
        </a:solidFill>
      </p:bgPr>
    </p:bg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33"/>
          <p:cNvSpPr txBox="1"/>
          <p:nvPr/>
        </p:nvSpPr>
        <p:spPr>
          <a:xfrm>
            <a:off x="326075" y="1563295"/>
            <a:ext cx="8491851" cy="3646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One-page summary PDF: </a:t>
            </a:r>
            <a:r>
              <a:rPr b="1" i="0" lang="en-GB" sz="1100" u="none" cap="none" strike="noStrike">
                <a:solidFill>
                  <a:srgbClr val="1565C0"/>
                </a:solidFill>
                <a:latin typeface="Montserrat"/>
                <a:ea typeface="Montserrat"/>
                <a:cs typeface="Montserrat"/>
                <a:sym typeface="Montserrat"/>
              </a:rPr>
              <a:t>https://drive.google.com/file/d/1bZRwidHAtManqokLAnIr4I55p5bti7jY/view</a:t>
            </a:r>
            <a:endParaRPr sz="700"/>
          </a:p>
          <a:p>
            <a:pPr indent="0" lvl="0" marL="0" marR="0" rtl="0" algn="l">
              <a:lnSpc>
                <a:spcPct val="18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[1] Lin, J. et al. (2024). FraudGT: A Simple, Effective, and Efficient Graph Transformer for Financial Fraud Detection. ACM ICAIF 2024, pp. 292–300.</a:t>
            </a:r>
            <a:endParaRPr sz="700"/>
          </a:p>
          <a:p>
            <a:pPr indent="0" lvl="0" marL="0" marR="0" rtl="0" algn="l">
              <a:lnSpc>
                <a:spcPct val="18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[2] Lopez-Rojas, E.A. &amp; Axelsson, S. (2014). BankSim: A Bank Payment Simulation for Fraud Detection Research. ECMS 2014. </a:t>
            </a:r>
            <a:endParaRPr sz="700"/>
          </a:p>
          <a:p>
            <a:pPr indent="0" lvl="0" marL="0" marR="0" rtl="0" algn="l">
              <a:lnSpc>
                <a:spcPct val="18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[3] Kosowski, A. et al. (2025). The Dragon Hatchling: The Missing Link Between the Transformer and Models of the Brain. arXiv preprint. </a:t>
            </a:r>
            <a:endParaRPr sz="700"/>
          </a:p>
          <a:p>
            <a:pPr indent="0" lvl="0" marL="0" marR="0" rtl="0" algn="l">
              <a:lnSpc>
                <a:spcPct val="18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[4] IBM AML Anti-Money Laundering Dataset (AML-HI-Large): 2.1M nodes, ~180M transactions. IBM Research, 2023. </a:t>
            </a:r>
            <a:endParaRPr sz="700"/>
          </a:p>
          <a:p>
            <a:pPr indent="0" lvl="0" marL="0" marR="0" rtl="0" algn="l">
              <a:lnSpc>
                <a:spcPct val="18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[5] RBI (2023). Framework for Real-time Fraud Risk Monitoring (FRM). </a:t>
            </a:r>
            <a:endParaRPr sz="700"/>
          </a:p>
          <a:p>
            <a:pPr indent="0" lvl="0" marL="0" marR="0" rtl="0" algn="l">
              <a:lnSpc>
                <a:spcPct val="18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[6] MeitY (2023). Digital Personal Data Protection Act 2023.</a:t>
            </a:r>
            <a:endParaRPr sz="700"/>
          </a:p>
          <a:p>
            <a:pPr indent="0" lvl="0" marL="0" marR="0" rtl="0" algn="l">
              <a:lnSpc>
                <a:spcPct val="18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[7] Account Aggregator Framework, RBI / Sahamati, 2016 (amended 2021).</a:t>
            </a:r>
            <a:endParaRPr sz="700"/>
          </a:p>
          <a:p>
            <a:pPr indent="0" lvl="0" marL="0" marR="0" rtl="0" algn="l">
              <a:lnSpc>
                <a:spcPct val="18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14300" lvl="2" marL="330200" marR="0" rtl="0" algn="l">
              <a:lnSpc>
                <a:spcPct val="18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4" name="Google Shape;1024;p33"/>
          <p:cNvSpPr/>
          <p:nvPr/>
        </p:nvSpPr>
        <p:spPr>
          <a:xfrm>
            <a:off x="0" y="-72333"/>
            <a:ext cx="9144000" cy="920920"/>
          </a:xfrm>
          <a:custGeom>
            <a:rect b="b" l="l" r="r" t="t"/>
            <a:pathLst>
              <a:path extrusionOk="0" h="1841840" w="18288000">
                <a:moveTo>
                  <a:pt x="0" y="0"/>
                </a:moveTo>
                <a:lnTo>
                  <a:pt x="18288000" y="0"/>
                </a:lnTo>
                <a:lnTo>
                  <a:pt x="18288000" y="1841840"/>
                </a:lnTo>
                <a:lnTo>
                  <a:pt x="0" y="18418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5" name="Google Shape;1025;p33"/>
          <p:cNvSpPr/>
          <p:nvPr/>
        </p:nvSpPr>
        <p:spPr>
          <a:xfrm>
            <a:off x="3623761" y="61303"/>
            <a:ext cx="1265734" cy="692359"/>
          </a:xfrm>
          <a:custGeom>
            <a:rect b="b" l="l" r="r" t="t"/>
            <a:pathLst>
              <a:path extrusionOk="0" h="2053463" w="3754032">
                <a:moveTo>
                  <a:pt x="0" y="0"/>
                </a:moveTo>
                <a:lnTo>
                  <a:pt x="3754032" y="0"/>
                </a:lnTo>
                <a:lnTo>
                  <a:pt x="3754032" y="2053463"/>
                </a:lnTo>
                <a:lnTo>
                  <a:pt x="0" y="2053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1408" l="0" r="0" t="-41408"/>
            </a:stretch>
          </a:blipFill>
          <a:ln>
            <a:noFill/>
          </a:ln>
        </p:spPr>
      </p:sp>
      <p:sp>
        <p:nvSpPr>
          <p:cNvPr descr="A red blue and white logo  Description automatically generated" id="1026" name="Google Shape;1026;p33"/>
          <p:cNvSpPr/>
          <p:nvPr/>
        </p:nvSpPr>
        <p:spPr>
          <a:xfrm>
            <a:off x="5484923" y="294451"/>
            <a:ext cx="2511219" cy="374571"/>
          </a:xfrm>
          <a:custGeom>
            <a:rect b="b" l="l" r="r" t="t"/>
            <a:pathLst>
              <a:path extrusionOk="0" h="998855" w="6696583">
                <a:moveTo>
                  <a:pt x="0" y="0"/>
                </a:moveTo>
                <a:lnTo>
                  <a:pt x="6696583" y="0"/>
                </a:lnTo>
                <a:lnTo>
                  <a:pt x="6696583" y="998855"/>
                </a:lnTo>
                <a:lnTo>
                  <a:pt x="0" y="998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80" l="0" r="0" t="-282"/>
            </a:stretch>
          </a:blipFill>
          <a:ln>
            <a:noFill/>
          </a:ln>
        </p:spPr>
      </p:sp>
      <p:sp>
        <p:nvSpPr>
          <p:cNvPr id="1027" name="Google Shape;1027;p33"/>
          <p:cNvSpPr/>
          <p:nvPr/>
        </p:nvSpPr>
        <p:spPr>
          <a:xfrm>
            <a:off x="1581655" y="261847"/>
            <a:ext cx="1345259" cy="439798"/>
          </a:xfrm>
          <a:custGeom>
            <a:rect b="b" l="l" r="r" t="t"/>
            <a:pathLst>
              <a:path extrusionOk="0" h="879596" w="2690517">
                <a:moveTo>
                  <a:pt x="0" y="0"/>
                </a:moveTo>
                <a:lnTo>
                  <a:pt x="2690517" y="0"/>
                </a:lnTo>
                <a:lnTo>
                  <a:pt x="2690517" y="879596"/>
                </a:lnTo>
                <a:lnTo>
                  <a:pt x="0" y="8795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58" l="0" r="0" t="-259"/>
            </a:stretch>
          </a:blipFill>
          <a:ln>
            <a:noFill/>
          </a:ln>
        </p:spPr>
      </p:sp>
      <p:sp>
        <p:nvSpPr>
          <p:cNvPr id="1028" name="Google Shape;1028;p33"/>
          <p:cNvSpPr/>
          <p:nvPr/>
        </p:nvSpPr>
        <p:spPr>
          <a:xfrm>
            <a:off x="200739" y="140598"/>
            <a:ext cx="1222963" cy="611457"/>
          </a:xfrm>
          <a:custGeom>
            <a:rect b="b" l="l" r="r" t="t"/>
            <a:pathLst>
              <a:path extrusionOk="0" h="1630553" w="3261233">
                <a:moveTo>
                  <a:pt x="0" y="0"/>
                </a:moveTo>
                <a:lnTo>
                  <a:pt x="3261233" y="0"/>
                </a:lnTo>
                <a:lnTo>
                  <a:pt x="3261233" y="1630553"/>
                </a:lnTo>
                <a:lnTo>
                  <a:pt x="0" y="1630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2" l="0" r="1" t="0"/>
            </a:stretch>
          </a:blipFill>
          <a:ln>
            <a:noFill/>
          </a:ln>
        </p:spPr>
      </p:sp>
      <p:sp>
        <p:nvSpPr>
          <p:cNvPr id="1029" name="Google Shape;1029;p33"/>
          <p:cNvSpPr txBox="1"/>
          <p:nvPr/>
        </p:nvSpPr>
        <p:spPr>
          <a:xfrm>
            <a:off x="1966193" y="987033"/>
            <a:ext cx="5211614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700" u="sng" cap="none" strike="noStrike">
                <a:solidFill>
                  <a:srgbClr val="4472C4"/>
                </a:solidFill>
                <a:latin typeface="Montserrat"/>
                <a:ea typeface="Montserrat"/>
                <a:cs typeface="Montserrat"/>
                <a:sym typeface="Montserrat"/>
              </a:rPr>
              <a:t>RESEARCH &amp; REFERENCES</a:t>
            </a:r>
            <a:endParaRPr sz="700"/>
          </a:p>
        </p:txBody>
      </p:sp>
      <p:sp>
        <p:nvSpPr>
          <p:cNvPr id="1030" name="Google Shape;1030;p33"/>
          <p:cNvSpPr/>
          <p:nvPr/>
        </p:nvSpPr>
        <p:spPr>
          <a:xfrm>
            <a:off x="8369603" y="235610"/>
            <a:ext cx="520113" cy="516446"/>
          </a:xfrm>
          <a:custGeom>
            <a:rect b="b" l="l" r="r" t="t"/>
            <a:pathLst>
              <a:path extrusionOk="0" h="1377188" w="1386967">
                <a:moveTo>
                  <a:pt x="0" y="0"/>
                </a:moveTo>
                <a:lnTo>
                  <a:pt x="1386967" y="0"/>
                </a:lnTo>
                <a:lnTo>
                  <a:pt x="1386967" y="1377188"/>
                </a:lnTo>
                <a:lnTo>
                  <a:pt x="0" y="1377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354" l="0" r="3" t="-352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